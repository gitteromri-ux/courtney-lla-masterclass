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entrepreneur.com/leadership/this-is-the-8-trillion-opportunity-vcs-and-founders-cant/502671"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themarker.com/labels/educatio/2026-02-01/ty-article-labels/0000019b-ff11-d39f-a5bf-ffb521690000" TargetMode="External"/><Relationship Id="rId2" Type="http://schemas.openxmlformats.org/officeDocument/2006/relationships/hyperlink" Target="https://www.yahoo.com/lifestyle/56-old-recruiter-sets-aside-160243368.html" TargetMode="External"/><Relationship Id="rId3" Type="http://schemas.openxmlformats.org/officeDocument/2006/relationships/hyperlink" Target="https://novoslabs.com/blog/novos-customer-stories/julie-gibson-clark-longevity-journey/" TargetMode="External"/><Relationship Id="rId4" Type="http://schemas.openxmlformats.org/officeDocument/2006/relationships/hyperlink" Target="https://www.foxnews.com/health/three-women-share-secrets-better-health-longevity" TargetMode="Externa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pressonify.ai/blog/press-release-distribution-pricing-comparison-2026" TargetMode="External"/><Relationship Id="rId2" Type="http://schemas.openxmlformats.org/officeDocument/2006/relationships/hyperlink" Target="https://www.buzzstream.com/blog/haro-alternatives/"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pressonify.ai/blog/press-release-distribution-pricing-comparison-2026"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themarker.com/labels/educatio/2026-02-01/ty-article-labels/0000019b-ff11-d39f-a5bf-ffb521690000" TargetMode="External"/><Relationship Id="rId2" Type="http://schemas.openxmlformats.org/officeDocument/2006/relationships/hyperlink" Target="https://www.globenewswire.com/news-release/2020/10/14/2108072/0/en/eTeacher-Group-strengthens-partnership-with-Nuvei-with-launch-of-Langaroo-com.html"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08A2E"/>
          </a:solidFill>
          <a:ln/>
        </p:spPr>
      </p:sp>
      <p:sp>
        <p:nvSpPr>
          <p:cNvPr id="3" name="Text 1"/>
          <p:cNvSpPr/>
          <p:nvPr/>
        </p:nvSpPr>
        <p:spPr>
          <a:xfrm>
            <a:off x="640080" y="1371600"/>
            <a:ext cx="10911535" cy="365760"/>
          </a:xfrm>
          <a:prstGeom prst="rect">
            <a:avLst/>
          </a:prstGeom>
          <a:noFill/>
          <a:ln/>
        </p:spPr>
        <p:txBody>
          <a:bodyPr wrap="square" rtlCol="0" anchor="ctr"/>
          <a:lstStyle/>
          <a:p>
            <a:pPr indent="0" marL="0">
              <a:buNone/>
            </a:pPr>
            <a:r>
              <a:rPr lang="en-US" sz="1400" b="1" spc="300" kern="0" dirty="0">
                <a:solidFill>
                  <a:srgbClr val="C08A2E"/>
                </a:solidFill>
                <a:latin typeface="Calibri" pitchFamily="34" charset="0"/>
                <a:ea typeface="Calibri" pitchFamily="34" charset="-122"/>
                <a:cs typeface="Calibri" pitchFamily="34" charset="-120"/>
              </a:rPr>
              <a:t>ETEACHER GROUP  ·  LONGEVITY LIFE ACADEMY</a:t>
            </a:r>
            <a:endParaRPr lang="en-US" sz="1400" dirty="0"/>
          </a:p>
        </p:txBody>
      </p:sp>
      <p:sp>
        <p:nvSpPr>
          <p:cNvPr id="4" name="Text 2"/>
          <p:cNvSpPr/>
          <p:nvPr/>
        </p:nvSpPr>
        <p:spPr>
          <a:xfrm>
            <a:off x="640080" y="1874520"/>
            <a:ext cx="10911535" cy="1463040"/>
          </a:xfrm>
          <a:prstGeom prst="rect">
            <a:avLst/>
          </a:prstGeom>
          <a:noFill/>
          <a:ln/>
        </p:spPr>
        <p:txBody>
          <a:bodyPr wrap="square"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eTeacher Launches Longevity Life Academy</a:t>
            </a:r>
            <a:endParaRPr lang="en-US" sz="4600" dirty="0"/>
          </a:p>
        </p:txBody>
      </p:sp>
      <p:sp>
        <p:nvSpPr>
          <p:cNvPr id="5" name="Text 3"/>
          <p:cNvSpPr/>
          <p:nvPr/>
        </p:nvSpPr>
        <p:spPr>
          <a:xfrm>
            <a:off x="640080" y="3611880"/>
            <a:ext cx="9875520" cy="1097280"/>
          </a:xfrm>
          <a:prstGeom prst="rect">
            <a:avLst/>
          </a:prstGeom>
          <a:noFill/>
          <a:ln/>
        </p:spPr>
        <p:txBody>
          <a:bodyPr wrap="square" rtlCol="0" anchor="ctr"/>
          <a:lstStyle/>
          <a:p>
            <a:pPr indent="0" marL="0">
              <a:lnSpc>
                <a:spcPct val="115000"/>
              </a:lnSpc>
              <a:buNone/>
            </a:pPr>
            <a:r>
              <a:rPr lang="en-US" sz="1700" dirty="0">
                <a:solidFill>
                  <a:srgbClr val="C9D3DD"/>
                </a:solidFill>
                <a:latin typeface="Calibri" pitchFamily="34" charset="0"/>
                <a:ea typeface="Calibri" pitchFamily="34" charset="-122"/>
                <a:cs typeface="Calibri" pitchFamily="34" charset="-120"/>
              </a:rPr>
              <a:t>The PR launch campaign for Israel's leading EdTech group — four chapters, 17 stories, one clear message: accessible, science-backed longevity education is here.</a:t>
            </a:r>
            <a:endParaRPr lang="en-US" sz="1700" dirty="0"/>
          </a:p>
        </p:txBody>
      </p:sp>
      <p:sp>
        <p:nvSpPr>
          <p:cNvPr id="6" name="Text 4"/>
          <p:cNvSpPr/>
          <p:nvPr/>
        </p:nvSpPr>
        <p:spPr>
          <a:xfrm>
            <a:off x="640080" y="5029200"/>
            <a:ext cx="91440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Prepared for: </a:t>
            </a:r>
            <a:pPr indent="0" marL="0">
              <a:buNone/>
            </a:pPr>
            <a:r>
              <a:rPr lang="en-US" sz="1300" dirty="0">
                <a:solidFill>
                  <a:srgbClr val="C9D3DD"/>
                </a:solidFill>
                <a:latin typeface="Calibri" pitchFamily="34" charset="0"/>
                <a:ea typeface="Calibri" pitchFamily="34" charset="-122"/>
                <a:cs typeface="Calibri" pitchFamily="34" charset="-120"/>
              </a:rPr>
              <a:t>Harel Tayeb, CEO, eTeacher Group</a:t>
            </a:r>
            <a:endParaRPr lang="en-US" sz="1300" dirty="0"/>
          </a:p>
        </p:txBody>
      </p:sp>
      <p:sp>
        <p:nvSpPr>
          <p:cNvPr id="7" name="Text 5"/>
          <p:cNvSpPr/>
          <p:nvPr/>
        </p:nvSpPr>
        <p:spPr>
          <a:xfrm>
            <a:off x="640080" y="5943600"/>
            <a:ext cx="10911535" cy="365760"/>
          </a:xfrm>
          <a:prstGeom prst="rect">
            <a:avLst/>
          </a:prstGeom>
          <a:noFill/>
          <a:ln/>
        </p:spPr>
        <p:txBody>
          <a:bodyPr wrap="square" rtlCol="0" anchor="ctr"/>
          <a:lstStyle/>
          <a:p>
            <a:pPr indent="0" marL="0">
              <a:buNone/>
            </a:pPr>
            <a:r>
              <a:rPr lang="en-US" sz="1100" i="1" dirty="0">
                <a:solidFill>
                  <a:srgbClr val="9AA4AF"/>
                </a:solidFill>
                <a:latin typeface="Calibri" pitchFamily="34" charset="0"/>
                <a:ea typeface="Calibri" pitchFamily="34" charset="-122"/>
                <a:cs typeface="Calibri" pitchFamily="34" charset="-120"/>
              </a:rPr>
              <a:t>Every quote in this deck is either verbatim from published sources or written in the speaker's documented voice and flagged for your approval.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300" kern="0" dirty="0">
                <a:solidFill>
                  <a:srgbClr val="C08A2E"/>
                </a:solidFill>
                <a:latin typeface="Calibri" pitchFamily="34" charset="0"/>
                <a:ea typeface="Calibri" pitchFamily="34" charset="-122"/>
                <a:cs typeface="Calibri" pitchFamily="34" charset="-120"/>
              </a:rPr>
              <a:t>THE STRATEGY</a:t>
            </a:r>
            <a:endParaRPr lang="en-US" sz="1200" dirty="0"/>
          </a:p>
        </p:txBody>
      </p:sp>
      <p:sp>
        <p:nvSpPr>
          <p:cNvPr id="3" name="Text 1"/>
          <p:cNvSpPr/>
          <p:nvPr/>
        </p:nvSpPr>
        <p:spPr>
          <a:xfrm>
            <a:off x="640080" y="749808"/>
            <a:ext cx="10911535" cy="822960"/>
          </a:xfrm>
          <a:prstGeom prst="rect">
            <a:avLst/>
          </a:prstGeom>
          <a:noFill/>
          <a:ln/>
        </p:spPr>
        <p:txBody>
          <a:bodyPr wrap="square" rtlCol="0" anchor="ctr"/>
          <a:lstStyle/>
          <a:p>
            <a:pPr indent="0" marL="0">
              <a:lnSpc>
                <a:spcPct val="100000"/>
              </a:lnSpc>
              <a:buNone/>
            </a:pPr>
            <a:r>
              <a:rPr lang="en-US" sz="2600" b="1" dirty="0">
                <a:solidFill>
                  <a:srgbClr val="0C2A43"/>
                </a:solidFill>
                <a:latin typeface="Cambria" pitchFamily="34" charset="0"/>
                <a:ea typeface="Cambria" pitchFamily="34" charset="-122"/>
                <a:cs typeface="Cambria" pitchFamily="34" charset="-120"/>
              </a:rPr>
              <a:t>Why we release in waves, not all at once</a:t>
            </a:r>
            <a:endParaRPr lang="en-US" sz="2600" dirty="0"/>
          </a:p>
        </p:txBody>
      </p:sp>
      <p:sp>
        <p:nvSpPr>
          <p:cNvPr id="4" name="Text 2"/>
          <p:cNvSpPr/>
          <p:nvPr/>
        </p:nvSpPr>
        <p:spPr>
          <a:xfrm>
            <a:off x="640080" y="1600200"/>
            <a:ext cx="10911535" cy="731520"/>
          </a:xfrm>
          <a:prstGeom prst="rect">
            <a:avLst/>
          </a:prstGeom>
          <a:noFill/>
          <a:ln/>
        </p:spPr>
        <p:txBody>
          <a:bodyPr wrap="square" rtlCol="0" anchor="ctr"/>
          <a:lstStyle/>
          <a:p>
            <a:pPr indent="0" marL="0">
              <a:lnSpc>
                <a:spcPct val="120000"/>
              </a:lnSpc>
              <a:buNone/>
            </a:pPr>
            <a:r>
              <a:rPr lang="en-US" sz="1400" dirty="0">
                <a:solidFill>
                  <a:srgbClr val="1A1F26"/>
                </a:solidFill>
                <a:latin typeface="Calibri" pitchFamily="34" charset="0"/>
                <a:ea typeface="Calibri" pitchFamily="34" charset="-122"/>
                <a:cs typeface="Calibri" pitchFamily="34" charset="-120"/>
              </a:rPr>
              <a:t>A single press release creates a spike. A sequenced campaign creates a narrative — each wave references the last, compounding search results, journalist familiarity, and public perception until eTeacher owns the category conversation.</a:t>
            </a:r>
            <a:endParaRPr lang="en-US" sz="1400" dirty="0"/>
          </a:p>
        </p:txBody>
      </p:sp>
      <p:sp>
        <p:nvSpPr>
          <p:cNvPr id="5" name="Shape 3"/>
          <p:cNvSpPr/>
          <p:nvPr/>
        </p:nvSpPr>
        <p:spPr>
          <a:xfrm>
            <a:off x="640080" y="2514600"/>
            <a:ext cx="2036003" cy="2468880"/>
          </a:xfrm>
          <a:prstGeom prst="roundRect">
            <a:avLst>
              <a:gd name="adj" fmla="val 3593"/>
            </a:avLst>
          </a:prstGeom>
          <a:solidFill>
            <a:srgbClr val="FFFFFF"/>
          </a:solidFill>
          <a:ln w="12700">
            <a:solidFill>
              <a:srgbClr val="D9DDE2"/>
            </a:solidFill>
            <a:prstDash val="solid"/>
          </a:ln>
        </p:spPr>
      </p:sp>
      <p:sp>
        <p:nvSpPr>
          <p:cNvPr id="6" name="Shape 4"/>
          <p:cNvSpPr/>
          <p:nvPr/>
        </p:nvSpPr>
        <p:spPr>
          <a:xfrm>
            <a:off x="640080" y="2514600"/>
            <a:ext cx="2036003" cy="457200"/>
          </a:xfrm>
          <a:prstGeom prst="roundRect">
            <a:avLst>
              <a:gd name="adj" fmla="val 16000"/>
            </a:avLst>
          </a:prstGeom>
          <a:solidFill>
            <a:srgbClr val="0C2A43"/>
          </a:solidFill>
          <a:ln/>
        </p:spPr>
      </p:sp>
      <p:sp>
        <p:nvSpPr>
          <p:cNvPr id="7" name="Text 5"/>
          <p:cNvSpPr/>
          <p:nvPr/>
        </p:nvSpPr>
        <p:spPr>
          <a:xfrm>
            <a:off x="640080" y="2514600"/>
            <a:ext cx="2036003" cy="457200"/>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WAVE 1</a:t>
            </a:r>
            <a:endParaRPr lang="en-US" sz="1300" dirty="0"/>
          </a:p>
        </p:txBody>
      </p:sp>
      <p:sp>
        <p:nvSpPr>
          <p:cNvPr id="8" name="Text 6"/>
          <p:cNvSpPr/>
          <p:nvPr/>
        </p:nvSpPr>
        <p:spPr>
          <a:xfrm>
            <a:off x="777240" y="3108960"/>
            <a:ext cx="1761683" cy="365760"/>
          </a:xfrm>
          <a:prstGeom prst="rect">
            <a:avLst/>
          </a:prstGeom>
          <a:noFill/>
          <a:ln/>
        </p:spPr>
        <p:txBody>
          <a:bodyPr wrap="square" rtlCol="0" anchor="ctr"/>
          <a:lstStyle/>
          <a:p>
            <a:pPr algn="ctr" indent="0" marL="0">
              <a:buNone/>
            </a:pPr>
            <a:r>
              <a:rPr lang="en-US" sz="1500" b="1" dirty="0">
                <a:solidFill>
                  <a:srgbClr val="0C2A43"/>
                </a:solidFill>
                <a:latin typeface="Cambria" pitchFamily="34" charset="0"/>
                <a:ea typeface="Cambria" pitchFamily="34" charset="-122"/>
                <a:cs typeface="Cambria" pitchFamily="34" charset="-120"/>
              </a:rPr>
              <a:t>Market Entry</a:t>
            </a:r>
            <a:endParaRPr lang="en-US" sz="1500" dirty="0"/>
          </a:p>
        </p:txBody>
      </p:sp>
      <p:sp>
        <p:nvSpPr>
          <p:cNvPr id="9" name="Text 7"/>
          <p:cNvSpPr/>
          <p:nvPr/>
        </p:nvSpPr>
        <p:spPr>
          <a:xfrm>
            <a:off x="777240" y="3520440"/>
            <a:ext cx="1761683" cy="914400"/>
          </a:xfrm>
          <a:prstGeom prst="rect">
            <a:avLst/>
          </a:prstGeom>
          <a:noFill/>
          <a:ln/>
        </p:spPr>
        <p:txBody>
          <a:bodyPr wrap="square" rtlCol="0" anchor="ctr"/>
          <a:lstStyle/>
          <a:p>
            <a:pPr algn="ctr" indent="0" marL="0">
              <a:lnSpc>
                <a:spcPct val="110000"/>
              </a:lnSpc>
              <a:buNone/>
            </a:pPr>
            <a:r>
              <a:rPr lang="en-US" sz="1200" dirty="0">
                <a:solidFill>
                  <a:srgbClr val="1A1F26"/>
                </a:solidFill>
                <a:latin typeface="Calibri" pitchFamily="34" charset="0"/>
                <a:ea typeface="Calibri" pitchFamily="34" charset="-122"/>
                <a:cs typeface="Calibri" pitchFamily="34" charset="-120"/>
              </a:rPr>
              <a:t>eTeacher enters the $8T longevity market</a:t>
            </a:r>
            <a:endParaRPr lang="en-US" sz="1200" dirty="0"/>
          </a:p>
        </p:txBody>
      </p:sp>
      <p:sp>
        <p:nvSpPr>
          <p:cNvPr id="10" name="Text 8"/>
          <p:cNvSpPr/>
          <p:nvPr/>
        </p:nvSpPr>
        <p:spPr>
          <a:xfrm>
            <a:off x="777240" y="4526280"/>
            <a:ext cx="1761683" cy="320040"/>
          </a:xfrm>
          <a:prstGeom prst="rect">
            <a:avLst/>
          </a:prstGeom>
          <a:noFill/>
          <a:ln/>
        </p:spPr>
        <p:txBody>
          <a:bodyPr wrap="square" rtlCol="0" anchor="ctr"/>
          <a:lstStyle/>
          <a:p>
            <a:pPr algn="ctr" indent="0" marL="0">
              <a:buNone/>
            </a:pPr>
            <a:r>
              <a:rPr lang="en-US" sz="1200" b="1" dirty="0">
                <a:solidFill>
                  <a:srgbClr val="5C6672"/>
                </a:solidFill>
                <a:latin typeface="Calibri" pitchFamily="34" charset="0"/>
                <a:ea typeface="Calibri" pitchFamily="34" charset="-122"/>
                <a:cs typeface="Calibri" pitchFamily="34" charset="-120"/>
              </a:rPr>
              <a:t>6 articles</a:t>
            </a:r>
            <a:endParaRPr lang="en-US" sz="1200" dirty="0"/>
          </a:p>
        </p:txBody>
      </p:sp>
      <p:sp>
        <p:nvSpPr>
          <p:cNvPr id="11" name="Shape 9"/>
          <p:cNvSpPr/>
          <p:nvPr/>
        </p:nvSpPr>
        <p:spPr>
          <a:xfrm>
            <a:off x="2858963" y="2514600"/>
            <a:ext cx="2036003" cy="2468880"/>
          </a:xfrm>
          <a:prstGeom prst="roundRect">
            <a:avLst>
              <a:gd name="adj" fmla="val 3593"/>
            </a:avLst>
          </a:prstGeom>
          <a:solidFill>
            <a:srgbClr val="FFFFFF"/>
          </a:solidFill>
          <a:ln w="12700">
            <a:solidFill>
              <a:srgbClr val="D9DDE2"/>
            </a:solidFill>
            <a:prstDash val="solid"/>
          </a:ln>
        </p:spPr>
      </p:sp>
      <p:sp>
        <p:nvSpPr>
          <p:cNvPr id="12" name="Shape 10"/>
          <p:cNvSpPr/>
          <p:nvPr/>
        </p:nvSpPr>
        <p:spPr>
          <a:xfrm>
            <a:off x="2858963" y="2514600"/>
            <a:ext cx="2036003" cy="457200"/>
          </a:xfrm>
          <a:prstGeom prst="roundRect">
            <a:avLst>
              <a:gd name="adj" fmla="val 16000"/>
            </a:avLst>
          </a:prstGeom>
          <a:solidFill>
            <a:srgbClr val="12395C"/>
          </a:solidFill>
          <a:ln/>
        </p:spPr>
      </p:sp>
      <p:sp>
        <p:nvSpPr>
          <p:cNvPr id="13" name="Text 11"/>
          <p:cNvSpPr/>
          <p:nvPr/>
        </p:nvSpPr>
        <p:spPr>
          <a:xfrm>
            <a:off x="2858963" y="2514600"/>
            <a:ext cx="2036003" cy="457200"/>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WAVE 2</a:t>
            </a:r>
            <a:endParaRPr lang="en-US" sz="1300" dirty="0"/>
          </a:p>
        </p:txBody>
      </p:sp>
      <p:sp>
        <p:nvSpPr>
          <p:cNvPr id="14" name="Text 12"/>
          <p:cNvSpPr/>
          <p:nvPr/>
        </p:nvSpPr>
        <p:spPr>
          <a:xfrm>
            <a:off x="2996123" y="3108960"/>
            <a:ext cx="1761683" cy="365760"/>
          </a:xfrm>
          <a:prstGeom prst="rect">
            <a:avLst/>
          </a:prstGeom>
          <a:noFill/>
          <a:ln/>
        </p:spPr>
        <p:txBody>
          <a:bodyPr wrap="square" rtlCol="0" anchor="ctr"/>
          <a:lstStyle/>
          <a:p>
            <a:pPr algn="ctr" indent="0" marL="0">
              <a:buNone/>
            </a:pPr>
            <a:r>
              <a:rPr lang="en-US" sz="1500" b="1" dirty="0">
                <a:solidFill>
                  <a:srgbClr val="12395C"/>
                </a:solidFill>
                <a:latin typeface="Cambria" pitchFamily="34" charset="0"/>
                <a:ea typeface="Cambria" pitchFamily="34" charset="-122"/>
                <a:cs typeface="Cambria" pitchFamily="34" charset="-120"/>
              </a:rPr>
              <a:t>Star Power</a:t>
            </a:r>
            <a:endParaRPr lang="en-US" sz="1500" dirty="0"/>
          </a:p>
        </p:txBody>
      </p:sp>
      <p:sp>
        <p:nvSpPr>
          <p:cNvPr id="15" name="Text 13"/>
          <p:cNvSpPr/>
          <p:nvPr/>
        </p:nvSpPr>
        <p:spPr>
          <a:xfrm>
            <a:off x="2996123" y="3520440"/>
            <a:ext cx="1761683" cy="914400"/>
          </a:xfrm>
          <a:prstGeom prst="rect">
            <a:avLst/>
          </a:prstGeom>
          <a:noFill/>
          <a:ln/>
        </p:spPr>
        <p:txBody>
          <a:bodyPr wrap="square" rtlCol="0" anchor="ctr"/>
          <a:lstStyle/>
          <a:p>
            <a:pPr algn="ctr" indent="0" marL="0">
              <a:lnSpc>
                <a:spcPct val="110000"/>
              </a:lnSpc>
              <a:buNone/>
            </a:pPr>
            <a:r>
              <a:rPr lang="en-US" sz="1200" dirty="0">
                <a:solidFill>
                  <a:srgbClr val="1A1F26"/>
                </a:solidFill>
                <a:latin typeface="Calibri" pitchFamily="34" charset="0"/>
                <a:ea typeface="Calibri" pitchFamily="34" charset="-122"/>
                <a:cs typeface="Calibri" pitchFamily="34" charset="-120"/>
              </a:rPr>
              <a:t>Julie Gibson Clark joins the faculty</a:t>
            </a:r>
            <a:endParaRPr lang="en-US" sz="1200" dirty="0"/>
          </a:p>
        </p:txBody>
      </p:sp>
      <p:sp>
        <p:nvSpPr>
          <p:cNvPr id="16" name="Text 14"/>
          <p:cNvSpPr/>
          <p:nvPr/>
        </p:nvSpPr>
        <p:spPr>
          <a:xfrm>
            <a:off x="2996123" y="4526280"/>
            <a:ext cx="1761683" cy="320040"/>
          </a:xfrm>
          <a:prstGeom prst="rect">
            <a:avLst/>
          </a:prstGeom>
          <a:noFill/>
          <a:ln/>
        </p:spPr>
        <p:txBody>
          <a:bodyPr wrap="square" rtlCol="0" anchor="ctr"/>
          <a:lstStyle/>
          <a:p>
            <a:pPr algn="ctr" indent="0" marL="0">
              <a:buNone/>
            </a:pPr>
            <a:r>
              <a:rPr lang="en-US" sz="1200" b="1" dirty="0">
                <a:solidFill>
                  <a:srgbClr val="5C6672"/>
                </a:solidFill>
                <a:latin typeface="Calibri" pitchFamily="34" charset="0"/>
                <a:ea typeface="Calibri" pitchFamily="34" charset="-122"/>
                <a:cs typeface="Calibri" pitchFamily="34" charset="-120"/>
              </a:rPr>
              <a:t>7 articles</a:t>
            </a:r>
            <a:endParaRPr lang="en-US" sz="1200" dirty="0"/>
          </a:p>
        </p:txBody>
      </p:sp>
      <p:sp>
        <p:nvSpPr>
          <p:cNvPr id="17" name="Shape 15"/>
          <p:cNvSpPr/>
          <p:nvPr/>
        </p:nvSpPr>
        <p:spPr>
          <a:xfrm>
            <a:off x="5077846" y="2514600"/>
            <a:ext cx="2036003" cy="2468880"/>
          </a:xfrm>
          <a:prstGeom prst="roundRect">
            <a:avLst>
              <a:gd name="adj" fmla="val 3593"/>
            </a:avLst>
          </a:prstGeom>
          <a:solidFill>
            <a:srgbClr val="FFFFFF"/>
          </a:solidFill>
          <a:ln w="12700">
            <a:solidFill>
              <a:srgbClr val="D9DDE2"/>
            </a:solidFill>
            <a:prstDash val="solid"/>
          </a:ln>
        </p:spPr>
      </p:sp>
      <p:sp>
        <p:nvSpPr>
          <p:cNvPr id="18" name="Shape 16"/>
          <p:cNvSpPr/>
          <p:nvPr/>
        </p:nvSpPr>
        <p:spPr>
          <a:xfrm>
            <a:off x="5077846" y="2514600"/>
            <a:ext cx="2036003" cy="457200"/>
          </a:xfrm>
          <a:prstGeom prst="roundRect">
            <a:avLst>
              <a:gd name="adj" fmla="val 16000"/>
            </a:avLst>
          </a:prstGeom>
          <a:solidFill>
            <a:srgbClr val="C08A2E"/>
          </a:solidFill>
          <a:ln/>
        </p:spPr>
      </p:sp>
      <p:sp>
        <p:nvSpPr>
          <p:cNvPr id="19" name="Text 17"/>
          <p:cNvSpPr/>
          <p:nvPr/>
        </p:nvSpPr>
        <p:spPr>
          <a:xfrm>
            <a:off x="5077846" y="2514600"/>
            <a:ext cx="2036003" cy="457200"/>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WAVE 3</a:t>
            </a:r>
            <a:endParaRPr lang="en-US" sz="1300" dirty="0"/>
          </a:p>
        </p:txBody>
      </p:sp>
      <p:sp>
        <p:nvSpPr>
          <p:cNvPr id="20" name="Text 18"/>
          <p:cNvSpPr/>
          <p:nvPr/>
        </p:nvSpPr>
        <p:spPr>
          <a:xfrm>
            <a:off x="5215006" y="3108960"/>
            <a:ext cx="1761683" cy="365760"/>
          </a:xfrm>
          <a:prstGeom prst="rect">
            <a:avLst/>
          </a:prstGeom>
          <a:noFill/>
          <a:ln/>
        </p:spPr>
        <p:txBody>
          <a:bodyPr wrap="square" rtlCol="0" anchor="ctr"/>
          <a:lstStyle/>
          <a:p>
            <a:pPr algn="ctr" indent="0" marL="0">
              <a:buNone/>
            </a:pPr>
            <a:r>
              <a:rPr lang="en-US" sz="1500" b="1" dirty="0">
                <a:solidFill>
                  <a:srgbClr val="8A5A0F"/>
                </a:solidFill>
                <a:latin typeface="Cambria" pitchFamily="34" charset="0"/>
                <a:ea typeface="Cambria" pitchFamily="34" charset="-122"/>
                <a:cs typeface="Cambria" pitchFamily="34" charset="-120"/>
              </a:rPr>
              <a:t>Product</a:t>
            </a:r>
            <a:endParaRPr lang="en-US" sz="1500" dirty="0"/>
          </a:p>
        </p:txBody>
      </p:sp>
      <p:sp>
        <p:nvSpPr>
          <p:cNvPr id="21" name="Text 19"/>
          <p:cNvSpPr/>
          <p:nvPr/>
        </p:nvSpPr>
        <p:spPr>
          <a:xfrm>
            <a:off x="5215006" y="3520440"/>
            <a:ext cx="1761683" cy="914400"/>
          </a:xfrm>
          <a:prstGeom prst="rect">
            <a:avLst/>
          </a:prstGeom>
          <a:noFill/>
          <a:ln/>
        </p:spPr>
        <p:txBody>
          <a:bodyPr wrap="square" rtlCol="0" anchor="ctr"/>
          <a:lstStyle/>
          <a:p>
            <a:pPr algn="ctr" indent="0" marL="0">
              <a:lnSpc>
                <a:spcPct val="110000"/>
              </a:lnSpc>
              <a:buNone/>
            </a:pPr>
            <a:r>
              <a:rPr lang="en-US" sz="1200" dirty="0">
                <a:solidFill>
                  <a:srgbClr val="1A1F26"/>
                </a:solidFill>
                <a:latin typeface="Calibri" pitchFamily="34" charset="0"/>
                <a:ea typeface="Calibri" pitchFamily="34" charset="-122"/>
                <a:cs typeface="Calibri" pitchFamily="34" charset="-120"/>
              </a:rPr>
              <a:t>The Longevity Hub app launches</a:t>
            </a:r>
            <a:endParaRPr lang="en-US" sz="1200" dirty="0"/>
          </a:p>
        </p:txBody>
      </p:sp>
      <p:sp>
        <p:nvSpPr>
          <p:cNvPr id="22" name="Text 20"/>
          <p:cNvSpPr/>
          <p:nvPr/>
        </p:nvSpPr>
        <p:spPr>
          <a:xfrm>
            <a:off x="5215006" y="4526280"/>
            <a:ext cx="1761683" cy="320040"/>
          </a:xfrm>
          <a:prstGeom prst="rect">
            <a:avLst/>
          </a:prstGeom>
          <a:noFill/>
          <a:ln/>
        </p:spPr>
        <p:txBody>
          <a:bodyPr wrap="square" rtlCol="0" anchor="ctr"/>
          <a:lstStyle/>
          <a:p>
            <a:pPr algn="ctr" indent="0" marL="0">
              <a:buNone/>
            </a:pPr>
            <a:r>
              <a:rPr lang="en-US" sz="1200" b="1" dirty="0">
                <a:solidFill>
                  <a:srgbClr val="5C6672"/>
                </a:solidFill>
                <a:latin typeface="Calibri" pitchFamily="34" charset="0"/>
                <a:ea typeface="Calibri" pitchFamily="34" charset="-122"/>
                <a:cs typeface="Calibri" pitchFamily="34" charset="-120"/>
              </a:rPr>
              <a:t>2 articles</a:t>
            </a:r>
            <a:endParaRPr lang="en-US" sz="1200" dirty="0"/>
          </a:p>
        </p:txBody>
      </p:sp>
      <p:sp>
        <p:nvSpPr>
          <p:cNvPr id="23" name="Shape 21"/>
          <p:cNvSpPr/>
          <p:nvPr/>
        </p:nvSpPr>
        <p:spPr>
          <a:xfrm>
            <a:off x="7296729" y="2514600"/>
            <a:ext cx="2036003" cy="2468880"/>
          </a:xfrm>
          <a:prstGeom prst="roundRect">
            <a:avLst>
              <a:gd name="adj" fmla="val 3593"/>
            </a:avLst>
          </a:prstGeom>
          <a:solidFill>
            <a:srgbClr val="FFFFFF"/>
          </a:solidFill>
          <a:ln w="12700">
            <a:solidFill>
              <a:srgbClr val="D9DDE2"/>
            </a:solidFill>
            <a:prstDash val="solid"/>
          </a:ln>
        </p:spPr>
      </p:sp>
      <p:sp>
        <p:nvSpPr>
          <p:cNvPr id="24" name="Shape 22"/>
          <p:cNvSpPr/>
          <p:nvPr/>
        </p:nvSpPr>
        <p:spPr>
          <a:xfrm>
            <a:off x="7296729" y="2514600"/>
            <a:ext cx="2036003" cy="457200"/>
          </a:xfrm>
          <a:prstGeom prst="roundRect">
            <a:avLst>
              <a:gd name="adj" fmla="val 16000"/>
            </a:avLst>
          </a:prstGeom>
          <a:solidFill>
            <a:srgbClr val="6E4A12"/>
          </a:solidFill>
          <a:ln/>
        </p:spPr>
      </p:sp>
      <p:sp>
        <p:nvSpPr>
          <p:cNvPr id="25" name="Text 23"/>
          <p:cNvSpPr/>
          <p:nvPr/>
        </p:nvSpPr>
        <p:spPr>
          <a:xfrm>
            <a:off x="7296729" y="2514600"/>
            <a:ext cx="2036003" cy="457200"/>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WAVE 4</a:t>
            </a:r>
            <a:endParaRPr lang="en-US" sz="1300" dirty="0"/>
          </a:p>
        </p:txBody>
      </p:sp>
      <p:sp>
        <p:nvSpPr>
          <p:cNvPr id="26" name="Text 24"/>
          <p:cNvSpPr/>
          <p:nvPr/>
        </p:nvSpPr>
        <p:spPr>
          <a:xfrm>
            <a:off x="7433889" y="3108960"/>
            <a:ext cx="1761683" cy="365760"/>
          </a:xfrm>
          <a:prstGeom prst="rect">
            <a:avLst/>
          </a:prstGeom>
          <a:noFill/>
          <a:ln/>
        </p:spPr>
        <p:txBody>
          <a:bodyPr wrap="square" rtlCol="0" anchor="ctr"/>
          <a:lstStyle/>
          <a:p>
            <a:pPr algn="ctr" indent="0" marL="0">
              <a:buNone/>
            </a:pPr>
            <a:r>
              <a:rPr lang="en-US" sz="1500" b="1" dirty="0">
                <a:solidFill>
                  <a:srgbClr val="6E4A12"/>
                </a:solidFill>
                <a:latin typeface="Cambria" pitchFamily="34" charset="0"/>
                <a:ea typeface="Cambria" pitchFamily="34" charset="-122"/>
                <a:cs typeface="Cambria" pitchFamily="34" charset="-120"/>
              </a:rPr>
              <a:t>Expansion</a:t>
            </a:r>
            <a:endParaRPr lang="en-US" sz="1500" dirty="0"/>
          </a:p>
        </p:txBody>
      </p:sp>
      <p:sp>
        <p:nvSpPr>
          <p:cNvPr id="27" name="Text 25"/>
          <p:cNvSpPr/>
          <p:nvPr/>
        </p:nvSpPr>
        <p:spPr>
          <a:xfrm>
            <a:off x="7433889" y="3520440"/>
            <a:ext cx="1761683" cy="914400"/>
          </a:xfrm>
          <a:prstGeom prst="rect">
            <a:avLst/>
          </a:prstGeom>
          <a:noFill/>
          <a:ln/>
        </p:spPr>
        <p:txBody>
          <a:bodyPr wrap="square" rtlCol="0" anchor="ctr"/>
          <a:lstStyle/>
          <a:p>
            <a:pPr algn="ctr" indent="0" marL="0">
              <a:lnSpc>
                <a:spcPct val="110000"/>
              </a:lnSpc>
              <a:buNone/>
            </a:pPr>
            <a:r>
              <a:rPr lang="en-US" sz="1200" dirty="0">
                <a:solidFill>
                  <a:srgbClr val="1A1F26"/>
                </a:solidFill>
                <a:latin typeface="Calibri" pitchFamily="34" charset="0"/>
                <a:ea typeface="Calibri" pitchFamily="34" charset="-122"/>
                <a:cs typeface="Calibri" pitchFamily="34" charset="-120"/>
              </a:rPr>
              <a:t>Six new longevity courses</a:t>
            </a:r>
            <a:endParaRPr lang="en-US" sz="1200" dirty="0"/>
          </a:p>
        </p:txBody>
      </p:sp>
      <p:sp>
        <p:nvSpPr>
          <p:cNvPr id="28" name="Text 26"/>
          <p:cNvSpPr/>
          <p:nvPr/>
        </p:nvSpPr>
        <p:spPr>
          <a:xfrm>
            <a:off x="7433889" y="4526280"/>
            <a:ext cx="1761683" cy="320040"/>
          </a:xfrm>
          <a:prstGeom prst="rect">
            <a:avLst/>
          </a:prstGeom>
          <a:noFill/>
          <a:ln/>
        </p:spPr>
        <p:txBody>
          <a:bodyPr wrap="square" rtlCol="0" anchor="ctr"/>
          <a:lstStyle/>
          <a:p>
            <a:pPr algn="ctr" indent="0" marL="0">
              <a:buNone/>
            </a:pPr>
            <a:r>
              <a:rPr lang="en-US" sz="1200" b="1" dirty="0">
                <a:solidFill>
                  <a:srgbClr val="5C6672"/>
                </a:solidFill>
                <a:latin typeface="Calibri" pitchFamily="34" charset="0"/>
                <a:ea typeface="Calibri" pitchFamily="34" charset="-122"/>
                <a:cs typeface="Calibri" pitchFamily="34" charset="-120"/>
              </a:rPr>
              <a:t>2 articles</a:t>
            </a:r>
            <a:endParaRPr lang="en-US" sz="1200" dirty="0"/>
          </a:p>
        </p:txBody>
      </p:sp>
      <p:sp>
        <p:nvSpPr>
          <p:cNvPr id="29" name="Shape 27"/>
          <p:cNvSpPr/>
          <p:nvPr/>
        </p:nvSpPr>
        <p:spPr>
          <a:xfrm>
            <a:off x="9515612" y="2514600"/>
            <a:ext cx="2036003" cy="2468880"/>
          </a:xfrm>
          <a:prstGeom prst="roundRect">
            <a:avLst>
              <a:gd name="adj" fmla="val 3593"/>
            </a:avLst>
          </a:prstGeom>
          <a:solidFill>
            <a:srgbClr val="FFFFFF"/>
          </a:solidFill>
          <a:ln w="12700">
            <a:solidFill>
              <a:srgbClr val="D9DDE2"/>
            </a:solidFill>
            <a:prstDash val="solid"/>
          </a:ln>
        </p:spPr>
      </p:sp>
      <p:sp>
        <p:nvSpPr>
          <p:cNvPr id="30" name="Shape 28"/>
          <p:cNvSpPr/>
          <p:nvPr/>
        </p:nvSpPr>
        <p:spPr>
          <a:xfrm>
            <a:off x="9515612" y="2514600"/>
            <a:ext cx="2036003" cy="457200"/>
          </a:xfrm>
          <a:prstGeom prst="roundRect">
            <a:avLst>
              <a:gd name="adj" fmla="val 16000"/>
            </a:avLst>
          </a:prstGeom>
          <a:solidFill>
            <a:srgbClr val="7A2E1A"/>
          </a:solidFill>
          <a:ln/>
        </p:spPr>
      </p:sp>
      <p:sp>
        <p:nvSpPr>
          <p:cNvPr id="31" name="Text 29"/>
          <p:cNvSpPr/>
          <p:nvPr/>
        </p:nvSpPr>
        <p:spPr>
          <a:xfrm>
            <a:off x="9515612" y="2514600"/>
            <a:ext cx="2036003" cy="457200"/>
          </a:xfrm>
          <a:prstGeom prst="rect">
            <a:avLst/>
          </a:prstGeom>
          <a:noFill/>
          <a:ln/>
        </p:spPr>
        <p:txBody>
          <a:bodyPr wrap="square"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WAVE 5</a:t>
            </a:r>
            <a:endParaRPr lang="en-US" sz="1300" dirty="0"/>
          </a:p>
        </p:txBody>
      </p:sp>
      <p:sp>
        <p:nvSpPr>
          <p:cNvPr id="32" name="Text 30"/>
          <p:cNvSpPr/>
          <p:nvPr/>
        </p:nvSpPr>
        <p:spPr>
          <a:xfrm>
            <a:off x="9652772" y="3108960"/>
            <a:ext cx="1761683" cy="365760"/>
          </a:xfrm>
          <a:prstGeom prst="rect">
            <a:avLst/>
          </a:prstGeom>
          <a:noFill/>
          <a:ln/>
        </p:spPr>
        <p:txBody>
          <a:bodyPr wrap="square" rtlCol="0" anchor="ctr"/>
          <a:lstStyle/>
          <a:p>
            <a:pPr algn="ctr" indent="0" marL="0">
              <a:buNone/>
            </a:pPr>
            <a:r>
              <a:rPr lang="en-US" sz="1500" b="1" dirty="0">
                <a:solidFill>
                  <a:srgbClr val="7A2E1A"/>
                </a:solidFill>
                <a:latin typeface="Cambria" pitchFamily="34" charset="0"/>
                <a:ea typeface="Cambria" pitchFamily="34" charset="-122"/>
                <a:cs typeface="Cambria" pitchFamily="34" charset="-120"/>
              </a:rPr>
              <a:t>The Reset</a:t>
            </a:r>
            <a:endParaRPr lang="en-US" sz="1500" dirty="0"/>
          </a:p>
        </p:txBody>
      </p:sp>
      <p:sp>
        <p:nvSpPr>
          <p:cNvPr id="33" name="Text 31"/>
          <p:cNvSpPr/>
          <p:nvPr/>
        </p:nvSpPr>
        <p:spPr>
          <a:xfrm>
            <a:off x="9652772" y="3520440"/>
            <a:ext cx="1761683" cy="914400"/>
          </a:xfrm>
          <a:prstGeom prst="rect">
            <a:avLst/>
          </a:prstGeom>
          <a:noFill/>
          <a:ln/>
        </p:spPr>
        <p:txBody>
          <a:bodyPr wrap="square" rtlCol="0" anchor="ctr"/>
          <a:lstStyle/>
          <a:p>
            <a:pPr algn="ctr" indent="0" marL="0">
              <a:lnSpc>
                <a:spcPct val="110000"/>
              </a:lnSpc>
              <a:buNone/>
            </a:pPr>
            <a:r>
              <a:rPr lang="en-US" sz="1200" dirty="0">
                <a:solidFill>
                  <a:srgbClr val="1A1F26"/>
                </a:solidFill>
                <a:latin typeface="Calibri" pitchFamily="34" charset="0"/>
                <a:ea typeface="Calibri" pitchFamily="34" charset="-122"/>
                <a:cs typeface="Calibri" pitchFamily="34" charset="-120"/>
              </a:rPr>
              <a:t>Consistency over cost — the affordability message</a:t>
            </a:r>
            <a:endParaRPr lang="en-US" sz="1200" dirty="0"/>
          </a:p>
        </p:txBody>
      </p:sp>
      <p:sp>
        <p:nvSpPr>
          <p:cNvPr id="34" name="Text 32"/>
          <p:cNvSpPr/>
          <p:nvPr/>
        </p:nvSpPr>
        <p:spPr>
          <a:xfrm>
            <a:off x="9652772" y="4526280"/>
            <a:ext cx="1761683" cy="320040"/>
          </a:xfrm>
          <a:prstGeom prst="rect">
            <a:avLst/>
          </a:prstGeom>
          <a:noFill/>
          <a:ln/>
        </p:spPr>
        <p:txBody>
          <a:bodyPr wrap="square" rtlCol="0" anchor="ctr"/>
          <a:lstStyle/>
          <a:p>
            <a:pPr algn="ctr" indent="0" marL="0">
              <a:buNone/>
            </a:pPr>
            <a:r>
              <a:rPr lang="en-US" sz="1200" b="1" dirty="0">
                <a:solidFill>
                  <a:srgbClr val="5C6672"/>
                </a:solidFill>
                <a:latin typeface="Calibri" pitchFamily="34" charset="0"/>
                <a:ea typeface="Calibri" pitchFamily="34" charset="-122"/>
                <a:cs typeface="Calibri" pitchFamily="34" charset="-120"/>
              </a:rPr>
              <a:t>5 articles</a:t>
            </a:r>
            <a:endParaRPr lang="en-US" sz="1200" dirty="0"/>
          </a:p>
        </p:txBody>
      </p:sp>
      <p:sp>
        <p:nvSpPr>
          <p:cNvPr id="35" name="Shape 33"/>
          <p:cNvSpPr/>
          <p:nvPr/>
        </p:nvSpPr>
        <p:spPr>
          <a:xfrm>
            <a:off x="640080" y="5257800"/>
            <a:ext cx="10911535" cy="822960"/>
          </a:xfrm>
          <a:prstGeom prst="rect">
            <a:avLst/>
          </a:prstGeom>
          <a:solidFill>
            <a:srgbClr val="F2E9D8"/>
          </a:solidFill>
          <a:ln/>
        </p:spPr>
      </p:sp>
      <p:sp>
        <p:nvSpPr>
          <p:cNvPr id="36" name="Text 34"/>
          <p:cNvSpPr/>
          <p:nvPr/>
        </p:nvSpPr>
        <p:spPr>
          <a:xfrm>
            <a:off x="868680" y="5257800"/>
            <a:ext cx="10454335" cy="822960"/>
          </a:xfrm>
          <a:prstGeom prst="rect">
            <a:avLst/>
          </a:prstGeom>
          <a:noFill/>
          <a:ln/>
        </p:spPr>
        <p:txBody>
          <a:bodyPr wrap="square" rtlCol="0" anchor="ctr"/>
          <a:lstStyle/>
          <a:p>
            <a:pPr indent="0" marL="0">
              <a:lnSpc>
                <a:spcPct val="115000"/>
              </a:lnSpc>
              <a:buNone/>
            </a:pPr>
            <a:r>
              <a:rPr lang="en-US" sz="1300" b="1" dirty="0">
                <a:solidFill>
                  <a:srgbClr val="0C2A43"/>
                </a:solidFill>
                <a:latin typeface="Calibri" pitchFamily="34" charset="0"/>
                <a:ea typeface="Calibri" pitchFamily="34" charset="-122"/>
                <a:cs typeface="Calibri" pitchFamily="34" charset="-120"/>
              </a:rPr>
              <a:t>Cumulative impact:  </a:t>
            </a:r>
            <a:pPr indent="0" marL="0">
              <a:lnSpc>
                <a:spcPct val="115000"/>
              </a:lnSpc>
              <a:buNone/>
            </a:pPr>
            <a:r>
              <a:rPr lang="en-US" sz="1300" dirty="0">
                <a:solidFill>
                  <a:srgbClr val="1A1F26"/>
                </a:solidFill>
                <a:latin typeface="Calibri" pitchFamily="34" charset="0"/>
                <a:ea typeface="Calibri" pitchFamily="34" charset="-122"/>
                <a:cs typeface="Calibri" pitchFamily="34" charset="-120"/>
              </a:rPr>
              <a:t>By Wave 5, a journalist searching “eTeacher longevity” finds a market-entry story, a celebrity signing, a product launch, a curriculum expansion, and a timely, respectful take on longevity's biggest story — a company with momentum, not a one-off announcement.</a:t>
            </a:r>
            <a:endParaRPr lang="en-US" sz="1300" dirty="0"/>
          </a:p>
        </p:txBody>
      </p:sp>
      <p:sp>
        <p:nvSpPr>
          <p:cNvPr id="37" name="Text 35"/>
          <p:cNvSpPr/>
          <p:nvPr/>
        </p:nvSpPr>
        <p:spPr>
          <a:xfrm>
            <a:off x="640080" y="6473952"/>
            <a:ext cx="10911535" cy="274320"/>
          </a:xfrm>
          <a:prstGeom prst="rect">
            <a:avLst/>
          </a:prstGeom>
          <a:noFill/>
          <a:ln/>
        </p:spPr>
        <p:txBody>
          <a:bodyPr wrap="square" rtlCol="0" anchor="ctr"/>
          <a:lstStyle/>
          <a:p>
            <a:pPr algn="l" indent="0" marL="0">
              <a:buNone/>
            </a:pPr>
            <a:r>
              <a:rPr lang="en-US" sz="800" dirty="0">
                <a:solidFill>
                  <a:srgbClr val="5C6672"/>
                </a:solidFill>
                <a:latin typeface="Calibri" pitchFamily="34" charset="0"/>
                <a:ea typeface="Calibri" pitchFamily="34" charset="-122"/>
                <a:cs typeface="Calibri" pitchFamily="34" charset="-120"/>
              </a:rPr>
              <a:t>Source: </a:t>
            </a:r>
            <a:pPr algn="l" indent="0" marL="0">
              <a:buNone/>
            </a:pPr>
            <a:r>
              <a:rPr lang="en-US" sz="800" u="sng" dirty="0">
                <a:solidFill>
                  <a:srgbClr val="5C667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UBS Longevity Report (via Entrepreneur)</a:t>
            </a:r>
            <a:endParaRPr lang="en-US" sz="800" dirty="0"/>
          </a:p>
        </p:txBody>
      </p:sp>
      <p:sp>
        <p:nvSpPr>
          <p:cNvPr id="38" name="Text 36"/>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300" kern="0" dirty="0">
                <a:solidFill>
                  <a:srgbClr val="C08A2E"/>
                </a:solidFill>
                <a:latin typeface="Calibri" pitchFamily="34" charset="0"/>
                <a:ea typeface="Calibri" pitchFamily="34" charset="-122"/>
                <a:cs typeface="Calibri" pitchFamily="34" charset="-120"/>
              </a:rPr>
              <a:t>AUTHENTICITY</a:t>
            </a:r>
            <a:endParaRPr lang="en-US" sz="1200" dirty="0"/>
          </a:p>
        </p:txBody>
      </p:sp>
      <p:sp>
        <p:nvSpPr>
          <p:cNvPr id="3" name="Text 1"/>
          <p:cNvSpPr/>
          <p:nvPr/>
        </p:nvSpPr>
        <p:spPr>
          <a:xfrm>
            <a:off x="640080" y="749808"/>
            <a:ext cx="10911535" cy="822960"/>
          </a:xfrm>
          <a:prstGeom prst="rect">
            <a:avLst/>
          </a:prstGeom>
          <a:noFill/>
          <a:ln/>
        </p:spPr>
        <p:txBody>
          <a:bodyPr wrap="square" rtlCol="0" anchor="ctr"/>
          <a:lstStyle/>
          <a:p>
            <a:pPr indent="0" marL="0">
              <a:lnSpc>
                <a:spcPct val="100000"/>
              </a:lnSpc>
              <a:buNone/>
            </a:pPr>
            <a:r>
              <a:rPr lang="en-US" sz="2600" b="1" dirty="0">
                <a:solidFill>
                  <a:srgbClr val="0C2A43"/>
                </a:solidFill>
                <a:latin typeface="Cambria" pitchFamily="34" charset="0"/>
                <a:ea typeface="Cambria" pitchFamily="34" charset="-122"/>
                <a:cs typeface="Cambria" pitchFamily="34" charset="-120"/>
              </a:rPr>
              <a:t>Every quote sounds like the person saying it</a:t>
            </a:r>
            <a:endParaRPr lang="en-US" sz="2600" dirty="0"/>
          </a:p>
        </p:txBody>
      </p:sp>
      <p:sp>
        <p:nvSpPr>
          <p:cNvPr id="4" name="Text 2"/>
          <p:cNvSpPr/>
          <p:nvPr/>
        </p:nvSpPr>
        <p:spPr>
          <a:xfrm>
            <a:off x="640080" y="1554480"/>
            <a:ext cx="10911535" cy="548640"/>
          </a:xfrm>
          <a:prstGeom prst="rect">
            <a:avLst/>
          </a:prstGeom>
          <a:noFill/>
          <a:ln/>
        </p:spPr>
        <p:txBody>
          <a:bodyPr wrap="square" rtlCol="0" anchor="ctr"/>
          <a:lstStyle/>
          <a:p>
            <a:pPr indent="0" marL="0">
              <a:lnSpc>
                <a:spcPct val="115000"/>
              </a:lnSpc>
              <a:buNone/>
            </a:pPr>
            <a:r>
              <a:rPr lang="en-US" sz="1400" dirty="0">
                <a:solidFill>
                  <a:srgbClr val="1A1F26"/>
                </a:solidFill>
                <a:latin typeface="Calibri" pitchFamily="34" charset="0"/>
                <a:ea typeface="Calibri" pitchFamily="34" charset="-122"/>
                <a:cs typeface="Calibri" pitchFamily="34" charset="-120"/>
              </a:rPr>
              <a:t>Your CEO will read this word for word. So every Harel Tayeb quote is anchored to his real, published language — and every Julie Gibson Clark quote to hers.</a:t>
            </a:r>
            <a:endParaRPr lang="en-US" sz="1400" dirty="0"/>
          </a:p>
        </p:txBody>
      </p:sp>
      <p:sp>
        <p:nvSpPr>
          <p:cNvPr id="5" name="Shape 3"/>
          <p:cNvSpPr/>
          <p:nvPr/>
        </p:nvSpPr>
        <p:spPr>
          <a:xfrm>
            <a:off x="640080" y="2286000"/>
            <a:ext cx="5303520" cy="3383280"/>
          </a:xfrm>
          <a:prstGeom prst="roundRect">
            <a:avLst>
              <a:gd name="adj" fmla="val 1622"/>
            </a:avLst>
          </a:prstGeom>
          <a:solidFill>
            <a:srgbClr val="FFFFFF"/>
          </a:solidFill>
          <a:ln w="12700">
            <a:solidFill>
              <a:srgbClr val="D9DDE2"/>
            </a:solidFill>
            <a:prstDash val="solid"/>
          </a:ln>
        </p:spPr>
      </p:sp>
      <p:sp>
        <p:nvSpPr>
          <p:cNvPr id="6" name="Shape 4"/>
          <p:cNvSpPr/>
          <p:nvPr/>
        </p:nvSpPr>
        <p:spPr>
          <a:xfrm>
            <a:off x="640080" y="2286000"/>
            <a:ext cx="82296" cy="3383280"/>
          </a:xfrm>
          <a:prstGeom prst="rect">
            <a:avLst/>
          </a:prstGeom>
          <a:solidFill>
            <a:srgbClr val="0C2A43"/>
          </a:solidFill>
          <a:ln/>
        </p:spPr>
      </p:sp>
      <p:sp>
        <p:nvSpPr>
          <p:cNvPr id="7" name="Text 5"/>
          <p:cNvSpPr/>
          <p:nvPr/>
        </p:nvSpPr>
        <p:spPr>
          <a:xfrm>
            <a:off x="914400" y="2468880"/>
            <a:ext cx="4846320" cy="274320"/>
          </a:xfrm>
          <a:prstGeom prst="rect">
            <a:avLst/>
          </a:prstGeom>
          <a:noFill/>
          <a:ln/>
        </p:spPr>
        <p:txBody>
          <a:bodyPr wrap="square" rtlCol="0" anchor="ctr"/>
          <a:lstStyle/>
          <a:p>
            <a:pPr indent="0" marL="0">
              <a:buNone/>
            </a:pPr>
            <a:r>
              <a:rPr lang="en-US" sz="1200" b="1" dirty="0">
                <a:solidFill>
                  <a:srgbClr val="0C2A43"/>
                </a:solidFill>
                <a:latin typeface="Calibri" pitchFamily="34" charset="0"/>
                <a:ea typeface="Calibri" pitchFamily="34" charset="-122"/>
                <a:cs typeface="Calibri" pitchFamily="34" charset="-120"/>
              </a:rPr>
              <a:t>HAREL TAYEB — real published language</a:t>
            </a:r>
            <a:endParaRPr lang="en-US" sz="1200" dirty="0"/>
          </a:p>
        </p:txBody>
      </p:sp>
      <p:sp>
        <p:nvSpPr>
          <p:cNvPr id="8" name="Text 6"/>
          <p:cNvSpPr/>
          <p:nvPr/>
        </p:nvSpPr>
        <p:spPr>
          <a:xfrm>
            <a:off x="914400" y="2788920"/>
            <a:ext cx="4846320" cy="2743200"/>
          </a:xfrm>
          <a:prstGeom prst="rect">
            <a:avLst/>
          </a:prstGeom>
          <a:noFill/>
          <a:ln/>
        </p:spPr>
        <p:txBody>
          <a:bodyPr wrap="square" rtlCol="0" anchor="t"/>
          <a:lstStyle/>
          <a:p>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“The world of education was stuck for hundreds of years, but in the age of artificial intelligence it is undergoing a dramatic transformation.”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“eTeacher offers a gym for the brain… keeping motivation and learning high.”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“My vision is to turn eTeacher into the Wiz of the education world.”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“…keep the mind active and vital in a world where technology may cause cognitive atrophy.”</a:t>
            </a:r>
            <a:endParaRPr lang="en-US" sz="1200" dirty="0"/>
          </a:p>
        </p:txBody>
      </p:sp>
      <p:sp>
        <p:nvSpPr>
          <p:cNvPr id="9" name="Shape 7"/>
          <p:cNvSpPr/>
          <p:nvPr/>
        </p:nvSpPr>
        <p:spPr>
          <a:xfrm>
            <a:off x="6217920" y="2286000"/>
            <a:ext cx="5303520" cy="3383280"/>
          </a:xfrm>
          <a:prstGeom prst="roundRect">
            <a:avLst>
              <a:gd name="adj" fmla="val 1622"/>
            </a:avLst>
          </a:prstGeom>
          <a:solidFill>
            <a:srgbClr val="FFFFFF"/>
          </a:solidFill>
          <a:ln w="12700">
            <a:solidFill>
              <a:srgbClr val="D9DDE2"/>
            </a:solidFill>
            <a:prstDash val="solid"/>
          </a:ln>
        </p:spPr>
      </p:sp>
      <p:sp>
        <p:nvSpPr>
          <p:cNvPr id="10" name="Shape 8"/>
          <p:cNvSpPr/>
          <p:nvPr/>
        </p:nvSpPr>
        <p:spPr>
          <a:xfrm>
            <a:off x="6217920" y="2286000"/>
            <a:ext cx="82296" cy="3383280"/>
          </a:xfrm>
          <a:prstGeom prst="rect">
            <a:avLst/>
          </a:prstGeom>
          <a:solidFill>
            <a:srgbClr val="C08A2E"/>
          </a:solidFill>
          <a:ln/>
        </p:spPr>
      </p:sp>
      <p:sp>
        <p:nvSpPr>
          <p:cNvPr id="11" name="Text 9"/>
          <p:cNvSpPr/>
          <p:nvPr/>
        </p:nvSpPr>
        <p:spPr>
          <a:xfrm>
            <a:off x="6492240" y="2468880"/>
            <a:ext cx="4846320" cy="274320"/>
          </a:xfrm>
          <a:prstGeom prst="rect">
            <a:avLst/>
          </a:prstGeom>
          <a:noFill/>
          <a:ln/>
        </p:spPr>
        <p:txBody>
          <a:bodyPr wrap="square" rtlCol="0" anchor="ctr"/>
          <a:lstStyle/>
          <a:p>
            <a:pPr indent="0" marL="0">
              <a:buNone/>
            </a:pPr>
            <a:r>
              <a:rPr lang="en-US" sz="1200" b="1" dirty="0">
                <a:solidFill>
                  <a:srgbClr val="6E4A12"/>
                </a:solidFill>
                <a:latin typeface="Calibri" pitchFamily="34" charset="0"/>
                <a:ea typeface="Calibri" pitchFamily="34" charset="-122"/>
                <a:cs typeface="Calibri" pitchFamily="34" charset="-120"/>
              </a:rPr>
              <a:t>JULIE GIBSON CLARK — real published language</a:t>
            </a:r>
            <a:endParaRPr lang="en-US" sz="1200" dirty="0"/>
          </a:p>
        </p:txBody>
      </p:sp>
      <p:sp>
        <p:nvSpPr>
          <p:cNvPr id="12" name="Text 10"/>
          <p:cNvSpPr/>
          <p:nvPr/>
        </p:nvSpPr>
        <p:spPr>
          <a:xfrm>
            <a:off x="6492240" y="2788920"/>
            <a:ext cx="4846320" cy="2743200"/>
          </a:xfrm>
          <a:prstGeom prst="rect">
            <a:avLst/>
          </a:prstGeom>
          <a:noFill/>
          <a:ln/>
        </p:spPr>
        <p:txBody>
          <a:bodyPr wrap="square" rtlCol="0" anchor="t"/>
          <a:lstStyle/>
          <a:p>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“I want to be here for my son… I just want to have that energy forever!”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“I'm going to introduce one new habit and practice it until it becomes as routine as brushing my teeth.”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“It's not the years in your life, but the life in your years.”
</a:t>
            </a:r>
            <a:pPr indent="0" marL="0">
              <a:lnSpc>
                <a:spcPct val="115000"/>
              </a:lnSpc>
              <a:buNone/>
            </a:pPr>
            <a:r>
              <a:rPr lang="en-US" sz="1200" i="1" dirty="0">
                <a:solidFill>
                  <a:srgbClr val="1A1F26"/>
                </a:solidFill>
                <a:latin typeface="Calibri" pitchFamily="34" charset="0"/>
                <a:ea typeface="Calibri" pitchFamily="34" charset="-122"/>
                <a:cs typeface="Calibri" pitchFamily="34" charset="-120"/>
              </a:rPr>
              <a:t>“It really comes down to sleep, food, movement, and connection.”</a:t>
            </a:r>
            <a:endParaRPr lang="en-US" sz="1200" dirty="0"/>
          </a:p>
        </p:txBody>
      </p:sp>
      <p:sp>
        <p:nvSpPr>
          <p:cNvPr id="13" name="Text 11"/>
          <p:cNvSpPr/>
          <p:nvPr/>
        </p:nvSpPr>
        <p:spPr>
          <a:xfrm>
            <a:off x="640080" y="6473952"/>
            <a:ext cx="10911535" cy="274320"/>
          </a:xfrm>
          <a:prstGeom prst="rect">
            <a:avLst/>
          </a:prstGeom>
          <a:noFill/>
          <a:ln/>
        </p:spPr>
        <p:txBody>
          <a:bodyPr wrap="square" rtlCol="0" anchor="ctr"/>
          <a:lstStyle/>
          <a:p>
            <a:pPr algn="l" indent="0" marL="0">
              <a:buNone/>
            </a:pPr>
            <a:r>
              <a:rPr lang="en-US" sz="800" dirty="0">
                <a:solidFill>
                  <a:srgbClr val="5C6672"/>
                </a:solidFill>
                <a:latin typeface="Calibri" pitchFamily="34" charset="0"/>
                <a:ea typeface="Calibri" pitchFamily="34" charset="-122"/>
                <a:cs typeface="Calibri" pitchFamily="34" charset="-120"/>
              </a:rPr>
              <a:t>Source: </a:t>
            </a:r>
            <a:pPr algn="l" indent="0" marL="0">
              <a:buNone/>
            </a:pPr>
            <a:r>
              <a:rPr lang="en-US" sz="800" u="sng" dirty="0">
                <a:solidFill>
                  <a:srgbClr val="5C667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TheMarker</a:t>
            </a:r>
            <a:pPr algn="l" indent="0" marL="0">
              <a:buNone/>
            </a:pPr>
            <a:r>
              <a:rPr lang="en-US" sz="800" dirty="0">
                <a:solidFill>
                  <a:srgbClr val="9AA4AF"/>
                </a:solidFill>
                <a:latin typeface="Calibri" pitchFamily="34" charset="0"/>
                <a:ea typeface="Calibri" pitchFamily="34" charset="-122"/>
                <a:cs typeface="Calibri" pitchFamily="34" charset="-120"/>
              </a:rPr>
              <a:t>  ·  </a:t>
            </a:r>
            <a:pPr algn="l" indent="0" marL="0">
              <a:buNone/>
            </a:pPr>
            <a:r>
              <a:rPr lang="en-US" sz="800" u="sng" dirty="0">
                <a:solidFill>
                  <a:srgbClr val="5C667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Yahoo Life</a:t>
            </a:r>
            <a:pPr algn="l" indent="0" marL="0">
              <a:buNone/>
            </a:pPr>
            <a:r>
              <a:rPr lang="en-US" sz="800" dirty="0">
                <a:solidFill>
                  <a:srgbClr val="9AA4AF"/>
                </a:solidFill>
                <a:latin typeface="Calibri" pitchFamily="34" charset="0"/>
                <a:ea typeface="Calibri" pitchFamily="34" charset="-122"/>
                <a:cs typeface="Calibri" pitchFamily="34" charset="-120"/>
              </a:rPr>
              <a:t>  ·  </a:t>
            </a:r>
            <a:pPr algn="l" indent="0" marL="0">
              <a:buNone/>
            </a:pPr>
            <a:r>
              <a:rPr lang="en-US" sz="800" u="sng" dirty="0">
                <a:solidFill>
                  <a:srgbClr val="5C667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NOVOS</a:t>
            </a:r>
            <a:pPr algn="l" indent="0" marL="0">
              <a:buNone/>
            </a:pPr>
            <a:r>
              <a:rPr lang="en-US" sz="800" dirty="0">
                <a:solidFill>
                  <a:srgbClr val="9AA4AF"/>
                </a:solidFill>
                <a:latin typeface="Calibri" pitchFamily="34" charset="0"/>
                <a:ea typeface="Calibri" pitchFamily="34" charset="-122"/>
                <a:cs typeface="Calibri" pitchFamily="34" charset="-120"/>
              </a:rPr>
              <a:t>  ·  </a:t>
            </a:r>
            <a:pPr algn="l" indent="0" marL="0">
              <a:buNone/>
            </a:pPr>
            <a:r>
              <a:rPr lang="en-US" sz="800" u="sng" dirty="0">
                <a:solidFill>
                  <a:srgbClr val="5C667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Fox News</a:t>
            </a:r>
            <a:endParaRPr lang="en-US" sz="80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08A2E"/>
          </a:solidFill>
          <a:ln/>
        </p:spPr>
      </p:sp>
      <p:sp>
        <p:nvSpPr>
          <p:cNvPr id="3" name="Text 1"/>
          <p:cNvSpPr/>
          <p:nvPr/>
        </p:nvSpPr>
        <p:spPr>
          <a:xfrm>
            <a:off x="640080" y="475488"/>
            <a:ext cx="10911535" cy="365760"/>
          </a:xfrm>
          <a:prstGeom prst="rect">
            <a:avLst/>
          </a:prstGeom>
          <a:noFill/>
          <a:ln/>
        </p:spPr>
        <p:txBody>
          <a:bodyPr wrap="square" rtlCol="0" anchor="ctr"/>
          <a:lstStyle/>
          <a:p>
            <a:pPr indent="0" marL="0">
              <a:buNone/>
            </a:pPr>
            <a:r>
              <a:rPr lang="en-US" sz="1500" b="1" spc="300" kern="0" dirty="0">
                <a:solidFill>
                  <a:srgbClr val="C08A2E"/>
                </a:solidFill>
                <a:latin typeface="Calibri" pitchFamily="34" charset="0"/>
                <a:ea typeface="Calibri" pitchFamily="34" charset="-122"/>
                <a:cs typeface="Calibri" pitchFamily="34" charset="-120"/>
              </a:rPr>
              <a:t>THE PLAN ON ONE PAGE</a:t>
            </a:r>
            <a:endParaRPr lang="en-US" sz="1500" dirty="0"/>
          </a:p>
        </p:txBody>
      </p:sp>
      <p:sp>
        <p:nvSpPr>
          <p:cNvPr id="4" name="Text 2"/>
          <p:cNvSpPr/>
          <p:nvPr/>
        </p:nvSpPr>
        <p:spPr>
          <a:xfrm>
            <a:off x="640080" y="896112"/>
            <a:ext cx="10911535"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 are actually going to do</a:t>
            </a:r>
            <a:endParaRPr lang="en-US" sz="3000" dirty="0"/>
          </a:p>
        </p:txBody>
      </p:sp>
      <p:sp>
        <p:nvSpPr>
          <p:cNvPr id="5" name="Shape 3"/>
          <p:cNvSpPr/>
          <p:nvPr/>
        </p:nvSpPr>
        <p:spPr>
          <a:xfrm>
            <a:off x="640080" y="1700784"/>
            <a:ext cx="10911535" cy="731520"/>
          </a:xfrm>
          <a:prstGeom prst="roundRect">
            <a:avLst>
              <a:gd name="adj" fmla="val 7500"/>
            </a:avLst>
          </a:prstGeom>
          <a:solidFill>
            <a:srgbClr val="12395C"/>
          </a:solidFill>
          <a:ln w="12700">
            <a:solidFill>
              <a:srgbClr val="27506F"/>
            </a:solidFill>
            <a:prstDash val="solid"/>
          </a:ln>
        </p:spPr>
      </p:sp>
      <p:sp>
        <p:nvSpPr>
          <p:cNvPr id="6" name="Text 4"/>
          <p:cNvSpPr/>
          <p:nvPr/>
        </p:nvSpPr>
        <p:spPr>
          <a:xfrm>
            <a:off x="914400" y="1700784"/>
            <a:ext cx="10362895" cy="731520"/>
          </a:xfrm>
          <a:prstGeom prst="rect">
            <a:avLst/>
          </a:prstGeom>
          <a:noFill/>
          <a:ln/>
        </p:spPr>
        <p:txBody>
          <a:bodyPr wrap="square" rtlCol="0" anchor="ctr"/>
          <a:lstStyle/>
          <a:p>
            <a:pPr indent="0" marL="0">
              <a:lnSpc>
                <a:spcPct val="108000"/>
              </a:lnSpc>
              <a:buNone/>
            </a:pPr>
            <a:r>
              <a:rPr lang="en-US" sz="1550" b="1" dirty="0">
                <a:solidFill>
                  <a:srgbClr val="C08A2E"/>
                </a:solidFill>
                <a:latin typeface="Calibri" pitchFamily="34" charset="0"/>
                <a:ea typeface="Calibri" pitchFamily="34" charset="-122"/>
                <a:cs typeface="Calibri" pitchFamily="34" charset="-120"/>
              </a:rPr>
              <a:t>THE GOAL:   </a:t>
            </a:r>
            <a:pPr indent="0" marL="0">
              <a:lnSpc>
                <a:spcPct val="108000"/>
              </a:lnSpc>
              <a:buNone/>
            </a:pPr>
            <a:r>
              <a:rPr lang="en-US" sz="1550" dirty="0">
                <a:solidFill>
                  <a:srgbClr val="DCE3EA"/>
                </a:solidFill>
                <a:latin typeface="Calibri" pitchFamily="34" charset="0"/>
                <a:ea typeface="Calibri" pitchFamily="34" charset="-122"/>
                <a:cs typeface="Calibri" pitchFamily="34" charset="-120"/>
              </a:rPr>
              <a:t>Get Longevity Life Academy real press — 1 guaranteed wire story per wave + 3–6 earned stories over 4 waves, run by one person for under $700.</a:t>
            </a:r>
            <a:endParaRPr lang="en-US" sz="1550" dirty="0"/>
          </a:p>
        </p:txBody>
      </p:sp>
      <p:sp>
        <p:nvSpPr>
          <p:cNvPr id="7" name="Shape 5"/>
          <p:cNvSpPr/>
          <p:nvPr/>
        </p:nvSpPr>
        <p:spPr>
          <a:xfrm>
            <a:off x="640080" y="2697480"/>
            <a:ext cx="1999427" cy="3246120"/>
          </a:xfrm>
          <a:prstGeom prst="roundRect">
            <a:avLst>
              <a:gd name="adj" fmla="val 2744"/>
            </a:avLst>
          </a:prstGeom>
          <a:solidFill>
            <a:srgbClr val="12395C"/>
          </a:solidFill>
          <a:ln w="12700">
            <a:solidFill>
              <a:srgbClr val="27506F"/>
            </a:solidFill>
            <a:prstDash val="solid"/>
          </a:ln>
        </p:spPr>
      </p:sp>
      <p:sp>
        <p:nvSpPr>
          <p:cNvPr id="8" name="Shape 6"/>
          <p:cNvSpPr/>
          <p:nvPr/>
        </p:nvSpPr>
        <p:spPr>
          <a:xfrm>
            <a:off x="640080" y="2697480"/>
            <a:ext cx="1999427" cy="54864"/>
          </a:xfrm>
          <a:prstGeom prst="rect">
            <a:avLst/>
          </a:prstGeom>
          <a:solidFill>
            <a:srgbClr val="C08A2E"/>
          </a:solidFill>
          <a:ln/>
        </p:spPr>
      </p:sp>
      <p:sp>
        <p:nvSpPr>
          <p:cNvPr id="9" name="Text 7"/>
          <p:cNvSpPr/>
          <p:nvPr/>
        </p:nvSpPr>
        <p:spPr>
          <a:xfrm>
            <a:off x="786384" y="2916936"/>
            <a:ext cx="1706819" cy="27432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WHERE</a:t>
            </a:r>
            <a:endParaRPr lang="en-US" sz="1300" dirty="0"/>
          </a:p>
        </p:txBody>
      </p:sp>
      <p:sp>
        <p:nvSpPr>
          <p:cNvPr id="10" name="Text 8"/>
          <p:cNvSpPr/>
          <p:nvPr/>
        </p:nvSpPr>
        <p:spPr>
          <a:xfrm>
            <a:off x="786384" y="3246120"/>
            <a:ext cx="1706819" cy="822960"/>
          </a:xfrm>
          <a:prstGeom prst="rect">
            <a:avLst/>
          </a:prstGeom>
          <a:noFill/>
          <a:ln/>
        </p:spPr>
        <p:txBody>
          <a:bodyPr wrap="square" rtlCol="0" anchor="t"/>
          <a:lstStyle/>
          <a:p>
            <a:pPr indent="0" marL="0">
              <a:lnSpc>
                <a:spcPct val="100000"/>
              </a:lnSpc>
              <a:buNone/>
            </a:pPr>
            <a:r>
              <a:rPr lang="en-US" sz="1900" b="1" dirty="0">
                <a:solidFill>
                  <a:srgbClr val="FFFFFF"/>
                </a:solidFill>
                <a:latin typeface="Cambria" pitchFamily="34" charset="0"/>
                <a:ea typeface="Cambria" pitchFamily="34" charset="-122"/>
                <a:cs typeface="Cambria" pitchFamily="34" charset="-120"/>
              </a:rPr>
              <a:t>US + Israel</a:t>
            </a:r>
            <a:endParaRPr lang="en-US" sz="1900" dirty="0"/>
          </a:p>
        </p:txBody>
      </p:sp>
      <p:sp>
        <p:nvSpPr>
          <p:cNvPr id="11" name="Text 9"/>
          <p:cNvSpPr/>
          <p:nvPr/>
        </p:nvSpPr>
        <p:spPr>
          <a:xfrm>
            <a:off x="786384" y="4114800"/>
            <a:ext cx="1706819" cy="1691640"/>
          </a:xfrm>
          <a:prstGeom prst="rect">
            <a:avLst/>
          </a:prstGeom>
          <a:noFill/>
          <a:ln/>
        </p:spPr>
        <p:txBody>
          <a:bodyPr wrap="square" rtlCol="0" anchor="t"/>
          <a:lstStyle/>
          <a:p>
            <a:pPr indent="0" marL="0">
              <a:lnSpc>
                <a:spcPct val="120000"/>
              </a:lnSpc>
              <a:buNone/>
            </a:pPr>
            <a:r>
              <a:rPr lang="en-US" sz="1250" dirty="0">
                <a:solidFill>
                  <a:srgbClr val="C9D3DD"/>
                </a:solidFill>
                <a:latin typeface="Calibri" pitchFamily="34" charset="0"/>
                <a:ea typeface="Calibri" pitchFamily="34" charset="-122"/>
                <a:cs typeface="Calibri" pitchFamily="34" charset="-120"/>
              </a:rPr>
              <a:t>Two fronts: US health &amp; consumer press, Israeli business press.</a:t>
            </a:r>
            <a:endParaRPr lang="en-US" sz="1250" dirty="0"/>
          </a:p>
        </p:txBody>
      </p:sp>
      <p:sp>
        <p:nvSpPr>
          <p:cNvPr id="12" name="Shape 10"/>
          <p:cNvSpPr/>
          <p:nvPr/>
        </p:nvSpPr>
        <p:spPr>
          <a:xfrm>
            <a:off x="2868107" y="2697480"/>
            <a:ext cx="1999427" cy="3246120"/>
          </a:xfrm>
          <a:prstGeom prst="roundRect">
            <a:avLst>
              <a:gd name="adj" fmla="val 2744"/>
            </a:avLst>
          </a:prstGeom>
          <a:solidFill>
            <a:srgbClr val="12395C"/>
          </a:solidFill>
          <a:ln w="12700">
            <a:solidFill>
              <a:srgbClr val="27506F"/>
            </a:solidFill>
            <a:prstDash val="solid"/>
          </a:ln>
        </p:spPr>
      </p:sp>
      <p:sp>
        <p:nvSpPr>
          <p:cNvPr id="13" name="Shape 11"/>
          <p:cNvSpPr/>
          <p:nvPr/>
        </p:nvSpPr>
        <p:spPr>
          <a:xfrm>
            <a:off x="2868107" y="2697480"/>
            <a:ext cx="1999427" cy="54864"/>
          </a:xfrm>
          <a:prstGeom prst="rect">
            <a:avLst/>
          </a:prstGeom>
          <a:solidFill>
            <a:srgbClr val="C08A2E"/>
          </a:solidFill>
          <a:ln/>
        </p:spPr>
      </p:sp>
      <p:sp>
        <p:nvSpPr>
          <p:cNvPr id="14" name="Text 12"/>
          <p:cNvSpPr/>
          <p:nvPr/>
        </p:nvSpPr>
        <p:spPr>
          <a:xfrm>
            <a:off x="3014411" y="2916936"/>
            <a:ext cx="1706819" cy="27432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HOW</a:t>
            </a:r>
            <a:endParaRPr lang="en-US" sz="1300" dirty="0"/>
          </a:p>
        </p:txBody>
      </p:sp>
      <p:sp>
        <p:nvSpPr>
          <p:cNvPr id="15" name="Text 13"/>
          <p:cNvSpPr/>
          <p:nvPr/>
        </p:nvSpPr>
        <p:spPr>
          <a:xfrm>
            <a:off x="3014411" y="3246120"/>
            <a:ext cx="1706819" cy="822960"/>
          </a:xfrm>
          <a:prstGeom prst="rect">
            <a:avLst/>
          </a:prstGeom>
          <a:noFill/>
          <a:ln/>
        </p:spPr>
        <p:txBody>
          <a:bodyPr wrap="square" rtlCol="0" anchor="t"/>
          <a:lstStyle/>
          <a:p>
            <a:pPr indent="0" marL="0">
              <a:lnSpc>
                <a:spcPct val="100000"/>
              </a:lnSpc>
              <a:buNone/>
            </a:pPr>
            <a:r>
              <a:rPr lang="en-US" sz="1900" b="1" dirty="0">
                <a:solidFill>
                  <a:srgbClr val="FFFFFF"/>
                </a:solidFill>
                <a:latin typeface="Cambria" pitchFamily="34" charset="0"/>
                <a:ea typeface="Cambria" pitchFamily="34" charset="-122"/>
                <a:cs typeface="Cambria" pitchFamily="34" charset="-120"/>
              </a:rPr>
              <a:t>Free + paid</a:t>
            </a:r>
            <a:endParaRPr lang="en-US" sz="1900" dirty="0"/>
          </a:p>
        </p:txBody>
      </p:sp>
      <p:sp>
        <p:nvSpPr>
          <p:cNvPr id="16" name="Text 14"/>
          <p:cNvSpPr/>
          <p:nvPr/>
        </p:nvSpPr>
        <p:spPr>
          <a:xfrm>
            <a:off x="3014411" y="4114800"/>
            <a:ext cx="1706819" cy="1691640"/>
          </a:xfrm>
          <a:prstGeom prst="rect">
            <a:avLst/>
          </a:prstGeom>
          <a:noFill/>
          <a:ln/>
        </p:spPr>
        <p:txBody>
          <a:bodyPr wrap="square" rtlCol="0" anchor="t"/>
          <a:lstStyle/>
          <a:p>
            <a:pPr indent="0" marL="0">
              <a:lnSpc>
                <a:spcPct val="120000"/>
              </a:lnSpc>
              <a:buNone/>
            </a:pPr>
            <a:r>
              <a:rPr lang="en-US" sz="1250" dirty="0">
                <a:solidFill>
                  <a:srgbClr val="C9D3DD"/>
                </a:solidFill>
                <a:latin typeface="Calibri" pitchFamily="34" charset="0"/>
                <a:ea typeface="Calibri" pitchFamily="34" charset="-122"/>
                <a:cs typeface="Calibri" pitchFamily="34" charset="-120"/>
              </a:rPr>
              <a:t>Pitch reporters (free) and buy a guaranteed news-wire slot (paid).</a:t>
            </a:r>
            <a:endParaRPr lang="en-US" sz="1250" dirty="0"/>
          </a:p>
        </p:txBody>
      </p:sp>
      <p:sp>
        <p:nvSpPr>
          <p:cNvPr id="17" name="Shape 15"/>
          <p:cNvSpPr/>
          <p:nvPr/>
        </p:nvSpPr>
        <p:spPr>
          <a:xfrm>
            <a:off x="5096134" y="2697480"/>
            <a:ext cx="1999427" cy="3246120"/>
          </a:xfrm>
          <a:prstGeom prst="roundRect">
            <a:avLst>
              <a:gd name="adj" fmla="val 2744"/>
            </a:avLst>
          </a:prstGeom>
          <a:solidFill>
            <a:srgbClr val="12395C"/>
          </a:solidFill>
          <a:ln w="12700">
            <a:solidFill>
              <a:srgbClr val="27506F"/>
            </a:solidFill>
            <a:prstDash val="solid"/>
          </a:ln>
        </p:spPr>
      </p:sp>
      <p:sp>
        <p:nvSpPr>
          <p:cNvPr id="18" name="Shape 16"/>
          <p:cNvSpPr/>
          <p:nvPr/>
        </p:nvSpPr>
        <p:spPr>
          <a:xfrm>
            <a:off x="5096134" y="2697480"/>
            <a:ext cx="1999427" cy="54864"/>
          </a:xfrm>
          <a:prstGeom prst="rect">
            <a:avLst/>
          </a:prstGeom>
          <a:solidFill>
            <a:srgbClr val="C08A2E"/>
          </a:solidFill>
          <a:ln/>
        </p:spPr>
      </p:sp>
      <p:sp>
        <p:nvSpPr>
          <p:cNvPr id="19" name="Text 17"/>
          <p:cNvSpPr/>
          <p:nvPr/>
        </p:nvSpPr>
        <p:spPr>
          <a:xfrm>
            <a:off x="5242438" y="2916936"/>
            <a:ext cx="1706819" cy="27432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COST</a:t>
            </a:r>
            <a:endParaRPr lang="en-US" sz="1300" dirty="0"/>
          </a:p>
        </p:txBody>
      </p:sp>
      <p:sp>
        <p:nvSpPr>
          <p:cNvPr id="20" name="Text 18"/>
          <p:cNvSpPr/>
          <p:nvPr/>
        </p:nvSpPr>
        <p:spPr>
          <a:xfrm>
            <a:off x="5242438" y="3246120"/>
            <a:ext cx="1706819" cy="822960"/>
          </a:xfrm>
          <a:prstGeom prst="rect">
            <a:avLst/>
          </a:prstGeom>
          <a:noFill/>
          <a:ln/>
        </p:spPr>
        <p:txBody>
          <a:bodyPr wrap="square" rtlCol="0" anchor="t"/>
          <a:lstStyle/>
          <a:p>
            <a:pPr indent="0" marL="0">
              <a:lnSpc>
                <a:spcPct val="100000"/>
              </a:lnSpc>
              <a:buNone/>
            </a:pPr>
            <a:r>
              <a:rPr lang="en-US" sz="1900" b="1" dirty="0">
                <a:solidFill>
                  <a:srgbClr val="FFFFFF"/>
                </a:solidFill>
                <a:latin typeface="Cambria" pitchFamily="34" charset="0"/>
                <a:ea typeface="Cambria" pitchFamily="34" charset="-122"/>
                <a:cs typeface="Cambria" pitchFamily="34" charset="-120"/>
              </a:rPr>
              <a:t>Under $700</a:t>
            </a:r>
            <a:endParaRPr lang="en-US" sz="1900" dirty="0"/>
          </a:p>
        </p:txBody>
      </p:sp>
      <p:sp>
        <p:nvSpPr>
          <p:cNvPr id="21" name="Text 19"/>
          <p:cNvSpPr/>
          <p:nvPr/>
        </p:nvSpPr>
        <p:spPr>
          <a:xfrm>
            <a:off x="5242438" y="4114800"/>
            <a:ext cx="1706819" cy="1691640"/>
          </a:xfrm>
          <a:prstGeom prst="rect">
            <a:avLst/>
          </a:prstGeom>
          <a:noFill/>
          <a:ln/>
        </p:spPr>
        <p:txBody>
          <a:bodyPr wrap="square" rtlCol="0" anchor="t"/>
          <a:lstStyle/>
          <a:p>
            <a:pPr indent="0" marL="0">
              <a:lnSpc>
                <a:spcPct val="120000"/>
              </a:lnSpc>
              <a:buNone/>
            </a:pPr>
            <a:r>
              <a:rPr lang="en-US" sz="1250" dirty="0">
                <a:solidFill>
                  <a:srgbClr val="C9D3DD"/>
                </a:solidFill>
                <a:latin typeface="Calibri" pitchFamily="34" charset="0"/>
                <a:ea typeface="Calibri" pitchFamily="34" charset="-122"/>
                <a:cs typeface="Calibri" pitchFamily="34" charset="-120"/>
              </a:rPr>
              <a:t>Lean plan for all 4 waves. Premium option runs $3.5–5K if wanted.</a:t>
            </a:r>
            <a:endParaRPr lang="en-US" sz="1250" dirty="0"/>
          </a:p>
        </p:txBody>
      </p:sp>
      <p:sp>
        <p:nvSpPr>
          <p:cNvPr id="22" name="Shape 20"/>
          <p:cNvSpPr/>
          <p:nvPr/>
        </p:nvSpPr>
        <p:spPr>
          <a:xfrm>
            <a:off x="7324161" y="2697480"/>
            <a:ext cx="1999427" cy="3246120"/>
          </a:xfrm>
          <a:prstGeom prst="roundRect">
            <a:avLst>
              <a:gd name="adj" fmla="val 2744"/>
            </a:avLst>
          </a:prstGeom>
          <a:solidFill>
            <a:srgbClr val="12395C"/>
          </a:solidFill>
          <a:ln w="12700">
            <a:solidFill>
              <a:srgbClr val="27506F"/>
            </a:solidFill>
            <a:prstDash val="solid"/>
          </a:ln>
        </p:spPr>
      </p:sp>
      <p:sp>
        <p:nvSpPr>
          <p:cNvPr id="23" name="Shape 21"/>
          <p:cNvSpPr/>
          <p:nvPr/>
        </p:nvSpPr>
        <p:spPr>
          <a:xfrm>
            <a:off x="7324161" y="2697480"/>
            <a:ext cx="1999427" cy="54864"/>
          </a:xfrm>
          <a:prstGeom prst="rect">
            <a:avLst/>
          </a:prstGeom>
          <a:solidFill>
            <a:srgbClr val="C08A2E"/>
          </a:solidFill>
          <a:ln/>
        </p:spPr>
      </p:sp>
      <p:sp>
        <p:nvSpPr>
          <p:cNvPr id="24" name="Text 22"/>
          <p:cNvSpPr/>
          <p:nvPr/>
        </p:nvSpPr>
        <p:spPr>
          <a:xfrm>
            <a:off x="7470465" y="2916936"/>
            <a:ext cx="1706819" cy="27432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ODDS</a:t>
            </a:r>
            <a:endParaRPr lang="en-US" sz="1300" dirty="0"/>
          </a:p>
        </p:txBody>
      </p:sp>
      <p:sp>
        <p:nvSpPr>
          <p:cNvPr id="25" name="Text 23"/>
          <p:cNvSpPr/>
          <p:nvPr/>
        </p:nvSpPr>
        <p:spPr>
          <a:xfrm>
            <a:off x="7470465" y="3246120"/>
            <a:ext cx="1706819" cy="822960"/>
          </a:xfrm>
          <a:prstGeom prst="rect">
            <a:avLst/>
          </a:prstGeom>
          <a:noFill/>
          <a:ln/>
        </p:spPr>
        <p:txBody>
          <a:bodyPr wrap="square" rtlCol="0" anchor="t"/>
          <a:lstStyle/>
          <a:p>
            <a:pPr indent="0" marL="0">
              <a:lnSpc>
                <a:spcPct val="100000"/>
              </a:lnSpc>
              <a:buNone/>
            </a:pPr>
            <a:r>
              <a:rPr lang="en-US" sz="1900" b="1" dirty="0">
                <a:solidFill>
                  <a:srgbClr val="FFFFFF"/>
                </a:solidFill>
                <a:latin typeface="Cambria" pitchFamily="34" charset="0"/>
                <a:ea typeface="Cambria" pitchFamily="34" charset="-122"/>
                <a:cs typeface="Cambria" pitchFamily="34" charset="-120"/>
              </a:rPr>
              <a:t>1 wire + 3–6 earned</a:t>
            </a:r>
            <a:endParaRPr lang="en-US" sz="1900" dirty="0"/>
          </a:p>
        </p:txBody>
      </p:sp>
      <p:sp>
        <p:nvSpPr>
          <p:cNvPr id="26" name="Text 24"/>
          <p:cNvSpPr/>
          <p:nvPr/>
        </p:nvSpPr>
        <p:spPr>
          <a:xfrm>
            <a:off x="7470465" y="4114800"/>
            <a:ext cx="1706819" cy="1691640"/>
          </a:xfrm>
          <a:prstGeom prst="rect">
            <a:avLst/>
          </a:prstGeom>
          <a:noFill/>
          <a:ln/>
        </p:spPr>
        <p:txBody>
          <a:bodyPr wrap="square" rtlCol="0" anchor="t"/>
          <a:lstStyle/>
          <a:p>
            <a:pPr indent="0" marL="0">
              <a:lnSpc>
                <a:spcPct val="120000"/>
              </a:lnSpc>
              <a:buNone/>
            </a:pPr>
            <a:r>
              <a:rPr lang="en-US" sz="1250" dirty="0">
                <a:solidFill>
                  <a:srgbClr val="C9D3DD"/>
                </a:solidFill>
                <a:latin typeface="Calibri" pitchFamily="34" charset="0"/>
                <a:ea typeface="Calibri" pitchFamily="34" charset="-122"/>
                <a:cs typeface="Calibri" pitchFamily="34" charset="-120"/>
              </a:rPr>
              <a:t>Wire pickup is guaranteed; 3–6 earned stories are likely.</a:t>
            </a:r>
            <a:endParaRPr lang="en-US" sz="1250" dirty="0"/>
          </a:p>
        </p:txBody>
      </p:sp>
      <p:sp>
        <p:nvSpPr>
          <p:cNvPr id="27" name="Shape 25"/>
          <p:cNvSpPr/>
          <p:nvPr/>
        </p:nvSpPr>
        <p:spPr>
          <a:xfrm>
            <a:off x="9552188" y="2697480"/>
            <a:ext cx="1999427" cy="3246120"/>
          </a:xfrm>
          <a:prstGeom prst="roundRect">
            <a:avLst>
              <a:gd name="adj" fmla="val 2744"/>
            </a:avLst>
          </a:prstGeom>
          <a:solidFill>
            <a:srgbClr val="12395C"/>
          </a:solidFill>
          <a:ln w="12700">
            <a:solidFill>
              <a:srgbClr val="27506F"/>
            </a:solidFill>
            <a:prstDash val="solid"/>
          </a:ln>
        </p:spPr>
      </p:sp>
      <p:sp>
        <p:nvSpPr>
          <p:cNvPr id="28" name="Shape 26"/>
          <p:cNvSpPr/>
          <p:nvPr/>
        </p:nvSpPr>
        <p:spPr>
          <a:xfrm>
            <a:off x="9552188" y="2697480"/>
            <a:ext cx="1999427" cy="54864"/>
          </a:xfrm>
          <a:prstGeom prst="rect">
            <a:avLst/>
          </a:prstGeom>
          <a:solidFill>
            <a:srgbClr val="C08A2E"/>
          </a:solidFill>
          <a:ln/>
        </p:spPr>
      </p:sp>
      <p:sp>
        <p:nvSpPr>
          <p:cNvPr id="29" name="Text 27"/>
          <p:cNvSpPr/>
          <p:nvPr/>
        </p:nvSpPr>
        <p:spPr>
          <a:xfrm>
            <a:off x="9698492" y="2916936"/>
            <a:ext cx="1706819" cy="27432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WHEN</a:t>
            </a:r>
            <a:endParaRPr lang="en-US" sz="1300" dirty="0"/>
          </a:p>
        </p:txBody>
      </p:sp>
      <p:sp>
        <p:nvSpPr>
          <p:cNvPr id="30" name="Text 28"/>
          <p:cNvSpPr/>
          <p:nvPr/>
        </p:nvSpPr>
        <p:spPr>
          <a:xfrm>
            <a:off x="9698492" y="3246120"/>
            <a:ext cx="1706819" cy="822960"/>
          </a:xfrm>
          <a:prstGeom prst="rect">
            <a:avLst/>
          </a:prstGeom>
          <a:noFill/>
          <a:ln/>
        </p:spPr>
        <p:txBody>
          <a:bodyPr wrap="square" rtlCol="0" anchor="t"/>
          <a:lstStyle/>
          <a:p>
            <a:pPr indent="0" marL="0">
              <a:lnSpc>
                <a:spcPct val="100000"/>
              </a:lnSpc>
              <a:buNone/>
            </a:pPr>
            <a:r>
              <a:rPr lang="en-US" sz="1900" b="1" dirty="0">
                <a:solidFill>
                  <a:srgbClr val="FFFFFF"/>
                </a:solidFill>
                <a:latin typeface="Cambria" pitchFamily="34" charset="0"/>
                <a:ea typeface="Cambria" pitchFamily="34" charset="-122"/>
                <a:cs typeface="Cambria" pitchFamily="34" charset="-120"/>
              </a:rPr>
              <a:t>4 waves, 8 weeks</a:t>
            </a:r>
            <a:endParaRPr lang="en-US" sz="1900" dirty="0"/>
          </a:p>
        </p:txBody>
      </p:sp>
      <p:sp>
        <p:nvSpPr>
          <p:cNvPr id="31" name="Text 29"/>
          <p:cNvSpPr/>
          <p:nvPr/>
        </p:nvSpPr>
        <p:spPr>
          <a:xfrm>
            <a:off x="9698492" y="4114800"/>
            <a:ext cx="1706819" cy="1691640"/>
          </a:xfrm>
          <a:prstGeom prst="rect">
            <a:avLst/>
          </a:prstGeom>
          <a:noFill/>
          <a:ln/>
        </p:spPr>
        <p:txBody>
          <a:bodyPr wrap="square" rtlCol="0" anchor="t"/>
          <a:lstStyle/>
          <a:p>
            <a:pPr indent="0" marL="0">
              <a:lnSpc>
                <a:spcPct val="120000"/>
              </a:lnSpc>
              <a:buNone/>
            </a:pPr>
            <a:r>
              <a:rPr lang="en-US" sz="1250" dirty="0">
                <a:solidFill>
                  <a:srgbClr val="C9D3DD"/>
                </a:solidFill>
                <a:latin typeface="Calibri" pitchFamily="34" charset="0"/>
                <a:ea typeface="Calibri" pitchFamily="34" charset="-122"/>
                <a:cs typeface="Calibri" pitchFamily="34" charset="-120"/>
              </a:rPr>
              <a:t>Jul 13 · Jul 30 · Aug 17 · Sep 3, ~2.5 weeks apart.</a:t>
            </a:r>
            <a:endParaRPr lang="en-US" sz="1250" dirty="0"/>
          </a:p>
        </p:txBody>
      </p:sp>
      <p:sp>
        <p:nvSpPr>
          <p:cNvPr id="32" name="Text 30"/>
          <p:cNvSpPr/>
          <p:nvPr/>
        </p:nvSpPr>
        <p:spPr>
          <a:xfrm>
            <a:off x="640080" y="6144768"/>
            <a:ext cx="10911535" cy="320040"/>
          </a:xfrm>
          <a:prstGeom prst="rect">
            <a:avLst/>
          </a:prstGeom>
          <a:noFill/>
          <a:ln/>
        </p:spPr>
        <p:txBody>
          <a:bodyPr wrap="square" rtlCol="0" anchor="ctr"/>
          <a:lstStyle/>
          <a:p>
            <a:pPr indent="0" marL="0">
              <a:buNone/>
            </a:pPr>
            <a:r>
              <a:rPr lang="en-US" sz="1250" i="1" dirty="0">
                <a:solidFill>
                  <a:srgbClr val="9AA4AF"/>
                </a:solidFill>
                <a:latin typeface="Calibri" pitchFamily="34" charset="0"/>
                <a:ea typeface="Calibri" pitchFamily="34" charset="-122"/>
                <a:cs typeface="Calibri" pitchFamily="34" charset="-120"/>
              </a:rPr>
              <a:t>The next 5 slides each go one level deeper: where, how, cost, odds, and what to do this week.</a:t>
            </a:r>
            <a:endParaRPr lang="en-US" sz="1250" dirty="0"/>
          </a:p>
        </p:txBody>
      </p:sp>
      <p:sp>
        <p:nvSpPr>
          <p:cNvPr id="33" name="Text 31"/>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768096"/>
            <a:ext cx="10911535" cy="731520"/>
          </a:xfrm>
          <a:prstGeom prst="rect">
            <a:avLst/>
          </a:prstGeom>
          <a:noFill/>
          <a:ln/>
        </p:spPr>
        <p:txBody>
          <a:bodyPr wrap="square" rtlCol="0" anchor="ctr"/>
          <a:lstStyle/>
          <a:p>
            <a:pPr indent="0" marL="0">
              <a:lnSpc>
                <a:spcPct val="100000"/>
              </a:lnSpc>
              <a:buNone/>
            </a:pPr>
            <a:r>
              <a:rPr lang="en-US" sz="2900" b="1" dirty="0">
                <a:solidFill>
                  <a:srgbClr val="0C2A43"/>
                </a:solidFill>
                <a:latin typeface="Cambria" pitchFamily="34" charset="0"/>
                <a:ea typeface="Cambria" pitchFamily="34" charset="-122"/>
                <a:cs typeface="Cambria" pitchFamily="34" charset="-120"/>
              </a:rPr>
              <a:t>Where we go: two press pushes at once</a:t>
            </a:r>
            <a:endParaRPr lang="en-US" sz="2900" dirty="0"/>
          </a:p>
        </p:txBody>
      </p:sp>
      <p:sp>
        <p:nvSpPr>
          <p:cNvPr id="3" name="Text 1"/>
          <p:cNvSpPr/>
          <p:nvPr/>
        </p:nvSpPr>
        <p:spPr>
          <a:xfrm>
            <a:off x="640080" y="457200"/>
            <a:ext cx="10911535" cy="292608"/>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THE PLAN</a:t>
            </a:r>
            <a:pPr indent="0" marL="0">
              <a:buNone/>
            </a:pPr>
            <a:r>
              <a:rPr lang="en-US" sz="1300" b="1" spc="200" kern="0" dirty="0">
                <a:solidFill>
                  <a:srgbClr val="5C6672"/>
                </a:solidFill>
                <a:latin typeface="Calibri" pitchFamily="34" charset="0"/>
                <a:ea typeface="Calibri" pitchFamily="34" charset="-122"/>
                <a:cs typeface="Calibri" pitchFamily="34" charset="-120"/>
              </a:rPr>
              <a:t>   ·   2 OF 6</a:t>
            </a:r>
            <a:endParaRPr lang="en-US" sz="1300" dirty="0"/>
          </a:p>
        </p:txBody>
      </p:sp>
      <p:sp>
        <p:nvSpPr>
          <p:cNvPr id="4" name="Text 2"/>
          <p:cNvSpPr/>
          <p:nvPr/>
        </p:nvSpPr>
        <p:spPr>
          <a:xfrm>
            <a:off x="640080" y="1572768"/>
            <a:ext cx="10911535" cy="457200"/>
          </a:xfrm>
          <a:prstGeom prst="rect">
            <a:avLst/>
          </a:prstGeom>
          <a:noFill/>
          <a:ln/>
        </p:spPr>
        <p:txBody>
          <a:bodyPr wrap="square" rtlCol="0" anchor="t"/>
          <a:lstStyle/>
          <a:p>
            <a:pPr indent="0" marL="0">
              <a:lnSpc>
                <a:spcPct val="115000"/>
              </a:lnSpc>
              <a:buNone/>
            </a:pPr>
            <a:r>
              <a:rPr lang="en-US" sz="1500" b="1" dirty="0">
                <a:solidFill>
                  <a:srgbClr val="C08A2E"/>
                </a:solidFill>
                <a:latin typeface="Calibri" pitchFamily="34" charset="0"/>
                <a:ea typeface="Calibri" pitchFamily="34" charset="-122"/>
                <a:cs typeface="Calibri" pitchFamily="34" charset="-120"/>
              </a:rPr>
              <a:t>IN PLAIN TERMS:  </a:t>
            </a:r>
            <a:pPr indent="0" marL="0">
              <a:lnSpc>
                <a:spcPct val="115000"/>
              </a:lnSpc>
              <a:buNone/>
            </a:pPr>
            <a:r>
              <a:rPr lang="en-US" sz="1500" dirty="0">
                <a:solidFill>
                  <a:srgbClr val="1A1F26"/>
                </a:solidFill>
                <a:latin typeface="Calibri" pitchFamily="34" charset="0"/>
                <a:ea typeface="Calibri" pitchFamily="34" charset="-122"/>
                <a:cs typeface="Calibri" pitchFamily="34" charset="-120"/>
              </a:rPr>
              <a:t>Which countries, which readers, and which publications we aim at.</a:t>
            </a:r>
            <a:endParaRPr lang="en-US" sz="1500" dirty="0"/>
          </a:p>
        </p:txBody>
      </p:sp>
      <p:sp>
        <p:nvSpPr>
          <p:cNvPr id="5" name="Shape 3"/>
          <p:cNvSpPr/>
          <p:nvPr/>
        </p:nvSpPr>
        <p:spPr>
          <a:xfrm>
            <a:off x="640080" y="2286000"/>
            <a:ext cx="5272888" cy="3794760"/>
          </a:xfrm>
          <a:prstGeom prst="roundRect">
            <a:avLst>
              <a:gd name="adj" fmla="val 1446"/>
            </a:avLst>
          </a:prstGeom>
          <a:solidFill>
            <a:srgbClr val="FFFFFF"/>
          </a:solidFill>
          <a:ln w="12700">
            <a:solidFill>
              <a:srgbClr val="D9DDE2"/>
            </a:solidFill>
            <a:prstDash val="solid"/>
          </a:ln>
        </p:spPr>
      </p:sp>
      <p:sp>
        <p:nvSpPr>
          <p:cNvPr id="6" name="Shape 4"/>
          <p:cNvSpPr/>
          <p:nvPr/>
        </p:nvSpPr>
        <p:spPr>
          <a:xfrm>
            <a:off x="640080" y="2286000"/>
            <a:ext cx="5272888" cy="603504"/>
          </a:xfrm>
          <a:prstGeom prst="rect">
            <a:avLst/>
          </a:prstGeom>
          <a:solidFill>
            <a:srgbClr val="0C2A43"/>
          </a:solidFill>
          <a:ln/>
        </p:spPr>
      </p:sp>
      <p:sp>
        <p:nvSpPr>
          <p:cNvPr id="7" name="Text 5"/>
          <p:cNvSpPr/>
          <p:nvPr/>
        </p:nvSpPr>
        <p:spPr>
          <a:xfrm>
            <a:off x="896112" y="2286000"/>
            <a:ext cx="4760824" cy="603504"/>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UNITED STATES  —  our biggest market</a:t>
            </a:r>
            <a:endParaRPr lang="en-US" sz="1600" dirty="0"/>
          </a:p>
        </p:txBody>
      </p:sp>
      <p:sp>
        <p:nvSpPr>
          <p:cNvPr id="8" name="Text 6"/>
          <p:cNvSpPr/>
          <p:nvPr/>
        </p:nvSpPr>
        <p:spPr>
          <a:xfrm>
            <a:off x="896112" y="3035808"/>
            <a:ext cx="4760824" cy="566928"/>
          </a:xfrm>
          <a:prstGeom prst="rect">
            <a:avLst/>
          </a:prstGeom>
          <a:noFill/>
          <a:ln/>
        </p:spPr>
        <p:txBody>
          <a:bodyPr wrap="square" rtlCol="0" anchor="t"/>
          <a:lstStyle/>
          <a:p>
            <a:pPr indent="0" marL="0">
              <a:lnSpc>
                <a:spcPct val="114000"/>
              </a:lnSpc>
              <a:buNone/>
            </a:pPr>
            <a:r>
              <a:rPr lang="en-US" sz="1350" b="1" dirty="0">
                <a:solidFill>
                  <a:srgbClr val="1A1F26"/>
                </a:solidFill>
                <a:latin typeface="Calibri" pitchFamily="34" charset="0"/>
                <a:ea typeface="Calibri" pitchFamily="34" charset="-122"/>
                <a:cs typeface="Calibri" pitchFamily="34" charset="-120"/>
              </a:rPr>
              <a:t>About 70% of eTeacher customers are American. This is where sign-ups and growth happen.</a:t>
            </a:r>
            <a:endParaRPr lang="en-US" sz="1350" dirty="0"/>
          </a:p>
        </p:txBody>
      </p:sp>
      <p:sp>
        <p:nvSpPr>
          <p:cNvPr id="9" name="Text 7"/>
          <p:cNvSpPr/>
          <p:nvPr/>
        </p:nvSpPr>
        <p:spPr>
          <a:xfrm>
            <a:off x="896112" y="3694176"/>
            <a:ext cx="4760824" cy="713232"/>
          </a:xfrm>
          <a:prstGeom prst="rect">
            <a:avLst/>
          </a:prstGeom>
          <a:noFill/>
          <a:ln/>
        </p:spPr>
        <p:txBody>
          <a:bodyPr wrap="square" rtlCol="0" anchor="t"/>
          <a:lstStyle/>
          <a:p>
            <a:pPr indent="0" marL="0">
              <a:lnSpc>
                <a:spcPct val="114000"/>
              </a:lnSpc>
              <a:buNone/>
            </a:pPr>
            <a:r>
              <a:rPr lang="en-US" sz="1300" i="1" dirty="0">
                <a:solidFill>
                  <a:srgbClr val="0C2A43"/>
                </a:solidFill>
                <a:latin typeface="Calibri" pitchFamily="34" charset="0"/>
                <a:ea typeface="Calibri" pitchFamily="34" charset="-122"/>
                <a:cs typeface="Calibri" pitchFamily="34" charset="-120"/>
              </a:rPr>
              <a:t>THE STORY: health &amp; consumer. “Julie — the mom who out-scored a billionaire — joins an affordable longevity school.”</a:t>
            </a:r>
            <a:endParaRPr lang="en-US" sz="1300" dirty="0"/>
          </a:p>
        </p:txBody>
      </p:sp>
      <p:sp>
        <p:nvSpPr>
          <p:cNvPr id="10" name="Text 8"/>
          <p:cNvSpPr/>
          <p:nvPr/>
        </p:nvSpPr>
        <p:spPr>
          <a:xfrm>
            <a:off x="896112" y="4480560"/>
            <a:ext cx="4760824" cy="237744"/>
          </a:xfrm>
          <a:prstGeom prst="rect">
            <a:avLst/>
          </a:prstGeom>
          <a:noFill/>
          <a:ln/>
        </p:spPr>
        <p:txBody>
          <a:bodyPr wrap="square" rtlCol="0" anchor="ctr"/>
          <a:lstStyle/>
          <a:p>
            <a:pPr indent="0" marL="0">
              <a:buNone/>
            </a:pPr>
            <a:r>
              <a:rPr lang="en-US" sz="1100" b="1" spc="100" kern="0" dirty="0">
                <a:solidFill>
                  <a:srgbClr val="5C6672"/>
                </a:solidFill>
                <a:latin typeface="Calibri" pitchFamily="34" charset="0"/>
                <a:ea typeface="Calibri" pitchFamily="34" charset="-122"/>
                <a:cs typeface="Calibri" pitchFamily="34" charset="-120"/>
              </a:rPr>
              <a:t>WHO WE PITCH</a:t>
            </a:r>
            <a:endParaRPr lang="en-US" sz="1100" dirty="0"/>
          </a:p>
        </p:txBody>
      </p:sp>
      <p:sp>
        <p:nvSpPr>
          <p:cNvPr id="11" name="Text 9"/>
          <p:cNvSpPr/>
          <p:nvPr/>
        </p:nvSpPr>
        <p:spPr>
          <a:xfrm>
            <a:off x="896112" y="4736592"/>
            <a:ext cx="4760824" cy="1005840"/>
          </a:xfrm>
          <a:prstGeom prst="rect">
            <a:avLst/>
          </a:prstGeom>
          <a:noFill/>
          <a:ln/>
        </p:spPr>
        <p:txBody>
          <a:bodyPr wrap="square" rtlCol="0" anchor="t"/>
          <a:lstStyle/>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People, Today, Well+Good, Business Insider</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Fox News Health, GMA, local morning TV</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Longevity.Technology, Fierce Healthcare</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EdSurge, TechCrunch (product angle)</a:t>
            </a:r>
            <a:endParaRPr lang="en-US" sz="1250" dirty="0"/>
          </a:p>
        </p:txBody>
      </p:sp>
      <p:sp>
        <p:nvSpPr>
          <p:cNvPr id="12" name="Text 10"/>
          <p:cNvSpPr/>
          <p:nvPr/>
        </p:nvSpPr>
        <p:spPr>
          <a:xfrm>
            <a:off x="896112" y="5687568"/>
            <a:ext cx="4760824" cy="329184"/>
          </a:xfrm>
          <a:prstGeom prst="rect">
            <a:avLst/>
          </a:prstGeom>
          <a:noFill/>
          <a:ln/>
        </p:spPr>
        <p:txBody>
          <a:bodyPr wrap="square" rtlCol="0" anchor="ctr"/>
          <a:lstStyle/>
          <a:p>
            <a:pPr indent="0" marL="0">
              <a:buNone/>
            </a:pPr>
            <a:r>
              <a:rPr lang="en-US" sz="1300" b="1" dirty="0">
                <a:solidFill>
                  <a:srgbClr val="0C2A43"/>
                </a:solidFill>
                <a:latin typeface="Calibri" pitchFamily="34" charset="0"/>
                <a:ea typeface="Calibri" pitchFamily="34" charset="-122"/>
                <a:cs typeface="Calibri" pitchFamily="34" charset="-120"/>
              </a:rPr>
              <a:t>TARGET: 2–4 US press stories + one TV segment</a:t>
            </a:r>
            <a:endParaRPr lang="en-US" sz="1300" dirty="0"/>
          </a:p>
        </p:txBody>
      </p:sp>
      <p:sp>
        <p:nvSpPr>
          <p:cNvPr id="13" name="Shape 11"/>
          <p:cNvSpPr/>
          <p:nvPr/>
        </p:nvSpPr>
        <p:spPr>
          <a:xfrm>
            <a:off x="6278728" y="2286000"/>
            <a:ext cx="5272888" cy="3794760"/>
          </a:xfrm>
          <a:prstGeom prst="roundRect">
            <a:avLst>
              <a:gd name="adj" fmla="val 1446"/>
            </a:avLst>
          </a:prstGeom>
          <a:solidFill>
            <a:srgbClr val="FFFFFF"/>
          </a:solidFill>
          <a:ln w="12700">
            <a:solidFill>
              <a:srgbClr val="D9DDE2"/>
            </a:solidFill>
            <a:prstDash val="solid"/>
          </a:ln>
        </p:spPr>
      </p:sp>
      <p:sp>
        <p:nvSpPr>
          <p:cNvPr id="14" name="Shape 12"/>
          <p:cNvSpPr/>
          <p:nvPr/>
        </p:nvSpPr>
        <p:spPr>
          <a:xfrm>
            <a:off x="6278728" y="2286000"/>
            <a:ext cx="5272888" cy="603504"/>
          </a:xfrm>
          <a:prstGeom prst="rect">
            <a:avLst/>
          </a:prstGeom>
          <a:solidFill>
            <a:srgbClr val="6E4A12"/>
          </a:solidFill>
          <a:ln/>
        </p:spPr>
      </p:sp>
      <p:sp>
        <p:nvSpPr>
          <p:cNvPr id="15" name="Text 13"/>
          <p:cNvSpPr/>
          <p:nvPr/>
        </p:nvSpPr>
        <p:spPr>
          <a:xfrm>
            <a:off x="6534760" y="2286000"/>
            <a:ext cx="4760824" cy="603504"/>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ISRAEL  —  our home country</a:t>
            </a:r>
            <a:endParaRPr lang="en-US" sz="1600" dirty="0"/>
          </a:p>
        </p:txBody>
      </p:sp>
      <p:sp>
        <p:nvSpPr>
          <p:cNvPr id="16" name="Text 14"/>
          <p:cNvSpPr/>
          <p:nvPr/>
        </p:nvSpPr>
        <p:spPr>
          <a:xfrm>
            <a:off x="6534760" y="3035808"/>
            <a:ext cx="4760824" cy="566928"/>
          </a:xfrm>
          <a:prstGeom prst="rect">
            <a:avLst/>
          </a:prstGeom>
          <a:noFill/>
          <a:ln/>
        </p:spPr>
        <p:txBody>
          <a:bodyPr wrap="square" rtlCol="0" anchor="t"/>
          <a:lstStyle/>
          <a:p>
            <a:pPr indent="0" marL="0">
              <a:lnSpc>
                <a:spcPct val="114000"/>
              </a:lnSpc>
              <a:buNone/>
            </a:pPr>
            <a:r>
              <a:rPr lang="en-US" sz="1350" b="1" dirty="0">
                <a:solidFill>
                  <a:srgbClr val="1A1F26"/>
                </a:solidFill>
                <a:latin typeface="Calibri" pitchFamily="34" charset="0"/>
                <a:ea typeface="Calibri" pitchFamily="34" charset="-122"/>
                <a:cs typeface="Calibri" pitchFamily="34" charset="-120"/>
              </a:rPr>
              <a:t>eTeacher is a 25-year-old Israeli company that press already know and have covered before.</a:t>
            </a:r>
            <a:endParaRPr lang="en-US" sz="1350" dirty="0"/>
          </a:p>
        </p:txBody>
      </p:sp>
      <p:sp>
        <p:nvSpPr>
          <p:cNvPr id="17" name="Text 15"/>
          <p:cNvSpPr/>
          <p:nvPr/>
        </p:nvSpPr>
        <p:spPr>
          <a:xfrm>
            <a:off x="6534760" y="3694176"/>
            <a:ext cx="4760824" cy="713232"/>
          </a:xfrm>
          <a:prstGeom prst="rect">
            <a:avLst/>
          </a:prstGeom>
          <a:noFill/>
          <a:ln/>
        </p:spPr>
        <p:txBody>
          <a:bodyPr wrap="square" rtlCol="0" anchor="t"/>
          <a:lstStyle/>
          <a:p>
            <a:pPr indent="0" marL="0">
              <a:lnSpc>
                <a:spcPct val="114000"/>
              </a:lnSpc>
              <a:buNone/>
            </a:pPr>
            <a:r>
              <a:rPr lang="en-US" sz="1300" i="1" dirty="0">
                <a:solidFill>
                  <a:srgbClr val="6E4A12"/>
                </a:solidFill>
                <a:latin typeface="Calibri" pitchFamily="34" charset="0"/>
                <a:ea typeface="Calibri" pitchFamily="34" charset="-122"/>
                <a:cs typeface="Calibri" pitchFamily="34" charset="-120"/>
              </a:rPr>
              <a:t>THE STORY: business &amp; national pride. “Veteran Israeli EdTech enters the $8T global longevity market.”</a:t>
            </a:r>
            <a:endParaRPr lang="en-US" sz="1300" dirty="0"/>
          </a:p>
        </p:txBody>
      </p:sp>
      <p:sp>
        <p:nvSpPr>
          <p:cNvPr id="18" name="Text 16"/>
          <p:cNvSpPr/>
          <p:nvPr/>
        </p:nvSpPr>
        <p:spPr>
          <a:xfrm>
            <a:off x="6534760" y="4480560"/>
            <a:ext cx="4760824" cy="237744"/>
          </a:xfrm>
          <a:prstGeom prst="rect">
            <a:avLst/>
          </a:prstGeom>
          <a:noFill/>
          <a:ln/>
        </p:spPr>
        <p:txBody>
          <a:bodyPr wrap="square" rtlCol="0" anchor="ctr"/>
          <a:lstStyle/>
          <a:p>
            <a:pPr indent="0" marL="0">
              <a:buNone/>
            </a:pPr>
            <a:r>
              <a:rPr lang="en-US" sz="1100" b="1" spc="100" kern="0" dirty="0">
                <a:solidFill>
                  <a:srgbClr val="5C6672"/>
                </a:solidFill>
                <a:latin typeface="Calibri" pitchFamily="34" charset="0"/>
                <a:ea typeface="Calibri" pitchFamily="34" charset="-122"/>
                <a:cs typeface="Calibri" pitchFamily="34" charset="-120"/>
              </a:rPr>
              <a:t>WHO WE PITCH</a:t>
            </a:r>
            <a:endParaRPr lang="en-US" sz="1100" dirty="0"/>
          </a:p>
        </p:txBody>
      </p:sp>
      <p:sp>
        <p:nvSpPr>
          <p:cNvPr id="19" name="Text 17"/>
          <p:cNvSpPr/>
          <p:nvPr/>
        </p:nvSpPr>
        <p:spPr>
          <a:xfrm>
            <a:off x="6534760" y="4736592"/>
            <a:ext cx="4760824" cy="1005840"/>
          </a:xfrm>
          <a:prstGeom prst="rect">
            <a:avLst/>
          </a:prstGeom>
          <a:noFill/>
          <a:ln/>
        </p:spPr>
        <p:txBody>
          <a:bodyPr wrap="square" rtlCol="0" anchor="t"/>
          <a:lstStyle/>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TheMarker, Globes, Calcalist</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Geektime, CTech (tech press)</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Ynet, Mako lifestyle &amp; health desks</a:t>
            </a:r>
            <a:endParaRPr lang="en-US" sz="1250" dirty="0"/>
          </a:p>
          <a:p>
            <a:pPr indent="0" marL="0">
              <a:lnSpc>
                <a:spcPct val="122000"/>
              </a:lnSpc>
              <a:buNone/>
            </a:pPr>
            <a:r>
              <a:rPr lang="en-US" sz="1250" dirty="0">
                <a:solidFill>
                  <a:srgbClr val="1A1F26"/>
                </a:solidFill>
                <a:latin typeface="Calibri" pitchFamily="34" charset="0"/>
                <a:ea typeface="Calibri" pitchFamily="34" charset="-122"/>
                <a:cs typeface="Calibri" pitchFamily="34" charset="-120"/>
              </a:rPr>
              <a:t>•  IVC, startup-nation newsletters</a:t>
            </a:r>
            <a:endParaRPr lang="en-US" sz="1250" dirty="0"/>
          </a:p>
        </p:txBody>
      </p:sp>
      <p:sp>
        <p:nvSpPr>
          <p:cNvPr id="20" name="Text 18"/>
          <p:cNvSpPr/>
          <p:nvPr/>
        </p:nvSpPr>
        <p:spPr>
          <a:xfrm>
            <a:off x="6534760" y="5687568"/>
            <a:ext cx="4760824" cy="329184"/>
          </a:xfrm>
          <a:prstGeom prst="rect">
            <a:avLst/>
          </a:prstGeom>
          <a:noFill/>
          <a:ln/>
        </p:spPr>
        <p:txBody>
          <a:bodyPr wrap="square" rtlCol="0" anchor="ctr"/>
          <a:lstStyle/>
          <a:p>
            <a:pPr indent="0" marL="0">
              <a:buNone/>
            </a:pPr>
            <a:r>
              <a:rPr lang="en-US" sz="1300" b="1" dirty="0">
                <a:solidFill>
                  <a:srgbClr val="6E4A12"/>
                </a:solidFill>
                <a:latin typeface="Calibri" pitchFamily="34" charset="0"/>
                <a:ea typeface="Calibri" pitchFamily="34" charset="-122"/>
                <a:cs typeface="Calibri" pitchFamily="34" charset="-120"/>
              </a:rPr>
              <a:t>TARGET: 1–2 Israeli business features</a:t>
            </a:r>
            <a:endParaRPr lang="en-US" sz="1300" dirty="0"/>
          </a:p>
        </p:txBody>
      </p:sp>
      <p:sp>
        <p:nvSpPr>
          <p:cNvPr id="21" name="Text 19"/>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768096"/>
            <a:ext cx="10911535" cy="731520"/>
          </a:xfrm>
          <a:prstGeom prst="rect">
            <a:avLst/>
          </a:prstGeom>
          <a:noFill/>
          <a:ln/>
        </p:spPr>
        <p:txBody>
          <a:bodyPr wrap="square" rtlCol="0" anchor="ctr"/>
          <a:lstStyle/>
          <a:p>
            <a:pPr indent="0" marL="0">
              <a:lnSpc>
                <a:spcPct val="100000"/>
              </a:lnSpc>
              <a:buNone/>
            </a:pPr>
            <a:r>
              <a:rPr lang="en-US" sz="2900" b="1" dirty="0">
                <a:solidFill>
                  <a:srgbClr val="0C2A43"/>
                </a:solidFill>
                <a:latin typeface="Cambria" pitchFamily="34" charset="0"/>
                <a:ea typeface="Cambria" pitchFamily="34" charset="-122"/>
                <a:cs typeface="Cambria" pitchFamily="34" charset="-120"/>
              </a:rPr>
              <a:t>How we get covered: free work + one paid wire</a:t>
            </a:r>
            <a:endParaRPr lang="en-US" sz="2900" dirty="0"/>
          </a:p>
        </p:txBody>
      </p:sp>
      <p:sp>
        <p:nvSpPr>
          <p:cNvPr id="3" name="Text 1"/>
          <p:cNvSpPr/>
          <p:nvPr/>
        </p:nvSpPr>
        <p:spPr>
          <a:xfrm>
            <a:off x="640080" y="457200"/>
            <a:ext cx="10911535" cy="292608"/>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THE PLAN</a:t>
            </a:r>
            <a:pPr indent="0" marL="0">
              <a:buNone/>
            </a:pPr>
            <a:r>
              <a:rPr lang="en-US" sz="1300" b="1" spc="200" kern="0" dirty="0">
                <a:solidFill>
                  <a:srgbClr val="5C6672"/>
                </a:solidFill>
                <a:latin typeface="Calibri" pitchFamily="34" charset="0"/>
                <a:ea typeface="Calibri" pitchFamily="34" charset="-122"/>
                <a:cs typeface="Calibri" pitchFamily="34" charset="-120"/>
              </a:rPr>
              <a:t>   ·   3 OF 6</a:t>
            </a:r>
            <a:endParaRPr lang="en-US" sz="1300" dirty="0"/>
          </a:p>
        </p:txBody>
      </p:sp>
      <p:sp>
        <p:nvSpPr>
          <p:cNvPr id="4" name="Text 2"/>
          <p:cNvSpPr/>
          <p:nvPr/>
        </p:nvSpPr>
        <p:spPr>
          <a:xfrm>
            <a:off x="640080" y="1572768"/>
            <a:ext cx="10911535" cy="457200"/>
          </a:xfrm>
          <a:prstGeom prst="rect">
            <a:avLst/>
          </a:prstGeom>
          <a:noFill/>
          <a:ln/>
        </p:spPr>
        <p:txBody>
          <a:bodyPr wrap="square" rtlCol="0" anchor="t"/>
          <a:lstStyle/>
          <a:p>
            <a:pPr indent="0" marL="0">
              <a:lnSpc>
                <a:spcPct val="115000"/>
              </a:lnSpc>
              <a:buNone/>
            </a:pPr>
            <a:r>
              <a:rPr lang="en-US" sz="1500" b="1" dirty="0">
                <a:solidFill>
                  <a:srgbClr val="C08A2E"/>
                </a:solidFill>
                <a:latin typeface="Calibri" pitchFamily="34" charset="0"/>
                <a:ea typeface="Calibri" pitchFamily="34" charset="-122"/>
                <a:cs typeface="Calibri" pitchFamily="34" charset="-120"/>
              </a:rPr>
              <a:t>IN PLAIN TERMS:  </a:t>
            </a:r>
            <a:pPr indent="0" marL="0">
              <a:lnSpc>
                <a:spcPct val="115000"/>
              </a:lnSpc>
              <a:buNone/>
            </a:pPr>
            <a:r>
              <a:rPr lang="en-US" sz="1500" dirty="0">
                <a:solidFill>
                  <a:srgbClr val="1A1F26"/>
                </a:solidFill>
                <a:latin typeface="Calibri" pitchFamily="34" charset="0"/>
                <a:ea typeface="Calibri" pitchFamily="34" charset="-122"/>
                <a:cs typeface="Calibri" pitchFamily="34" charset="-120"/>
              </a:rPr>
              <a:t>The two levers — free reporter outreach, plus a paid wire that guarantees one story per wave.</a:t>
            </a:r>
            <a:endParaRPr lang="en-US" sz="1500" dirty="0"/>
          </a:p>
        </p:txBody>
      </p:sp>
      <p:sp>
        <p:nvSpPr>
          <p:cNvPr id="5" name="Shape 3"/>
          <p:cNvSpPr/>
          <p:nvPr/>
        </p:nvSpPr>
        <p:spPr>
          <a:xfrm>
            <a:off x="640080" y="2286000"/>
            <a:ext cx="5272888" cy="3794760"/>
          </a:xfrm>
          <a:prstGeom prst="roundRect">
            <a:avLst>
              <a:gd name="adj" fmla="val 1446"/>
            </a:avLst>
          </a:prstGeom>
          <a:solidFill>
            <a:srgbClr val="FFFFFF"/>
          </a:solidFill>
          <a:ln w="12700">
            <a:solidFill>
              <a:srgbClr val="D9DDE2"/>
            </a:solidFill>
            <a:prstDash val="solid"/>
          </a:ln>
        </p:spPr>
      </p:sp>
      <p:sp>
        <p:nvSpPr>
          <p:cNvPr id="6" name="Shape 4"/>
          <p:cNvSpPr/>
          <p:nvPr/>
        </p:nvSpPr>
        <p:spPr>
          <a:xfrm>
            <a:off x="640080" y="2286000"/>
            <a:ext cx="5272888" cy="603504"/>
          </a:xfrm>
          <a:prstGeom prst="rect">
            <a:avLst/>
          </a:prstGeom>
          <a:solidFill>
            <a:srgbClr val="0C2A43"/>
          </a:solidFill>
          <a:ln/>
        </p:spPr>
      </p:sp>
      <p:sp>
        <p:nvSpPr>
          <p:cNvPr id="7" name="Text 5"/>
          <p:cNvSpPr/>
          <p:nvPr/>
        </p:nvSpPr>
        <p:spPr>
          <a:xfrm>
            <a:off x="896112" y="2286000"/>
            <a:ext cx="4760824" cy="603504"/>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FREE  —  earned coverage ($0)</a:t>
            </a:r>
            <a:endParaRPr lang="en-US" sz="1600" dirty="0"/>
          </a:p>
        </p:txBody>
      </p:sp>
      <p:sp>
        <p:nvSpPr>
          <p:cNvPr id="8" name="Text 6"/>
          <p:cNvSpPr/>
          <p:nvPr/>
        </p:nvSpPr>
        <p:spPr>
          <a:xfrm>
            <a:off x="896112" y="3108960"/>
            <a:ext cx="4760824" cy="256032"/>
          </a:xfrm>
          <a:prstGeom prst="rect">
            <a:avLst/>
          </a:prstGeom>
          <a:noFill/>
          <a:ln/>
        </p:spPr>
        <p:txBody>
          <a:bodyPr wrap="square" rtlCol="0" anchor="ctr"/>
          <a:lstStyle/>
          <a:p>
            <a:pPr indent="0" marL="0">
              <a:buNone/>
            </a:pPr>
            <a:r>
              <a:rPr lang="en-US" sz="1350" b="1" dirty="0">
                <a:solidFill>
                  <a:srgbClr val="0C2A43"/>
                </a:solidFill>
                <a:latin typeface="Cambria" pitchFamily="34" charset="0"/>
                <a:ea typeface="Cambria" pitchFamily="34" charset="-122"/>
                <a:cs typeface="Cambria" pitchFamily="34" charset="-120"/>
              </a:rPr>
              <a:t>Pitch reporters directly</a:t>
            </a:r>
            <a:endParaRPr lang="en-US" sz="1350" dirty="0"/>
          </a:p>
        </p:txBody>
      </p:sp>
      <p:sp>
        <p:nvSpPr>
          <p:cNvPr id="9" name="Text 7"/>
          <p:cNvSpPr/>
          <p:nvPr/>
        </p:nvSpPr>
        <p:spPr>
          <a:xfrm>
            <a:off x="896112" y="3364992"/>
            <a:ext cx="3444088" cy="457200"/>
          </a:xfrm>
          <a:prstGeom prst="rect">
            <a:avLst/>
          </a:prstGeom>
          <a:noFill/>
          <a:ln/>
        </p:spPr>
        <p:txBody>
          <a:bodyPr wrap="square" rtlCol="0" anchor="t"/>
          <a:lstStyle/>
          <a:p>
            <a:pPr indent="0" marL="0">
              <a:lnSpc>
                <a:spcPct val="108000"/>
              </a:lnSpc>
              <a:buNone/>
            </a:pPr>
            <a:r>
              <a:rPr lang="en-US" sz="1150" dirty="0">
                <a:solidFill>
                  <a:srgbClr val="1A1F26"/>
                </a:solidFill>
                <a:latin typeface="Calibri" pitchFamily="34" charset="0"/>
                <a:ea typeface="Calibri" pitchFamily="34" charset="-122"/>
                <a:cs typeface="Calibri" pitchFamily="34" charset="-120"/>
              </a:rPr>
              <a:t>Email a tailored story to reporters who already cover longevity / online learning.</a:t>
            </a:r>
            <a:endParaRPr lang="en-US" sz="1150" dirty="0"/>
          </a:p>
        </p:txBody>
      </p:sp>
      <p:sp>
        <p:nvSpPr>
          <p:cNvPr id="10" name="Text 8"/>
          <p:cNvSpPr/>
          <p:nvPr/>
        </p:nvSpPr>
        <p:spPr>
          <a:xfrm>
            <a:off x="4312768" y="3127248"/>
            <a:ext cx="1371600" cy="457200"/>
          </a:xfrm>
          <a:prstGeom prst="rect">
            <a:avLst/>
          </a:prstGeom>
          <a:noFill/>
          <a:ln/>
        </p:spPr>
        <p:txBody>
          <a:bodyPr wrap="square" rtlCol="0" anchor="t"/>
          <a:lstStyle/>
          <a:p>
            <a:pPr algn="r" indent="0" marL="0">
              <a:lnSpc>
                <a:spcPct val="105000"/>
              </a:lnSpc>
              <a:buNone/>
            </a:pPr>
            <a:r>
              <a:rPr lang="en-US" sz="1100" b="1" dirty="0">
                <a:solidFill>
                  <a:srgbClr val="437A22"/>
                </a:solidFill>
                <a:latin typeface="Calibri" pitchFamily="34" charset="0"/>
                <a:ea typeface="Calibri" pitchFamily="34" charset="-122"/>
                <a:cs typeface="Calibri" pitchFamily="34" charset="-120"/>
              </a:rPr>
              <a:t>Best odds — 40–60%</a:t>
            </a:r>
            <a:endParaRPr lang="en-US" sz="1100" dirty="0"/>
          </a:p>
        </p:txBody>
      </p:sp>
      <p:sp>
        <p:nvSpPr>
          <p:cNvPr id="11" name="Text 9"/>
          <p:cNvSpPr/>
          <p:nvPr/>
        </p:nvSpPr>
        <p:spPr>
          <a:xfrm>
            <a:off x="896112" y="3840480"/>
            <a:ext cx="4760824" cy="256032"/>
          </a:xfrm>
          <a:prstGeom prst="rect">
            <a:avLst/>
          </a:prstGeom>
          <a:noFill/>
          <a:ln/>
        </p:spPr>
        <p:txBody>
          <a:bodyPr wrap="square" rtlCol="0" anchor="ctr"/>
          <a:lstStyle/>
          <a:p>
            <a:pPr indent="0" marL="0">
              <a:buNone/>
            </a:pPr>
            <a:r>
              <a:rPr lang="en-US" sz="1350" b="1" dirty="0">
                <a:solidFill>
                  <a:srgbClr val="0C2A43"/>
                </a:solidFill>
                <a:latin typeface="Cambria" pitchFamily="34" charset="0"/>
                <a:ea typeface="Cambria" pitchFamily="34" charset="-122"/>
                <a:cs typeface="Cambria" pitchFamily="34" charset="-120"/>
              </a:rPr>
              <a:t>Answer reporter requests</a:t>
            </a:r>
            <a:endParaRPr lang="en-US" sz="1350" dirty="0"/>
          </a:p>
        </p:txBody>
      </p:sp>
      <p:sp>
        <p:nvSpPr>
          <p:cNvPr id="12" name="Text 10"/>
          <p:cNvSpPr/>
          <p:nvPr/>
        </p:nvSpPr>
        <p:spPr>
          <a:xfrm>
            <a:off x="896112" y="4096512"/>
            <a:ext cx="3444088" cy="457200"/>
          </a:xfrm>
          <a:prstGeom prst="rect">
            <a:avLst/>
          </a:prstGeom>
          <a:noFill/>
          <a:ln/>
        </p:spPr>
        <p:txBody>
          <a:bodyPr wrap="square" rtlCol="0" anchor="t"/>
          <a:lstStyle/>
          <a:p>
            <a:pPr indent="0" marL="0">
              <a:lnSpc>
                <a:spcPct val="108000"/>
              </a:lnSpc>
              <a:buNone/>
            </a:pPr>
            <a:r>
              <a:rPr lang="en-US" sz="1150" dirty="0">
                <a:solidFill>
                  <a:srgbClr val="1A1F26"/>
                </a:solidFill>
                <a:latin typeface="Calibri" pitchFamily="34" charset="0"/>
                <a:ea typeface="Calibri" pitchFamily="34" charset="-122"/>
                <a:cs typeface="Calibri" pitchFamily="34" charset="-120"/>
              </a:rPr>
              <a:t>Reply fast as the expert when reporters ask for sources (free daily lists).</a:t>
            </a:r>
            <a:endParaRPr lang="en-US" sz="1150" dirty="0"/>
          </a:p>
        </p:txBody>
      </p:sp>
      <p:sp>
        <p:nvSpPr>
          <p:cNvPr id="13" name="Text 11"/>
          <p:cNvSpPr/>
          <p:nvPr/>
        </p:nvSpPr>
        <p:spPr>
          <a:xfrm>
            <a:off x="4312768" y="3858768"/>
            <a:ext cx="1371600" cy="457200"/>
          </a:xfrm>
          <a:prstGeom prst="rect">
            <a:avLst/>
          </a:prstGeom>
          <a:noFill/>
          <a:ln/>
        </p:spPr>
        <p:txBody>
          <a:bodyPr wrap="square" rtlCol="0" anchor="t"/>
          <a:lstStyle/>
          <a:p>
            <a:pPr algn="r" indent="0" marL="0">
              <a:lnSpc>
                <a:spcPct val="105000"/>
              </a:lnSpc>
              <a:buNone/>
            </a:pPr>
            <a:r>
              <a:rPr lang="en-US" sz="1100" b="1" dirty="0">
                <a:solidFill>
                  <a:srgbClr val="437A22"/>
                </a:solidFill>
                <a:latin typeface="Calibri" pitchFamily="34" charset="0"/>
                <a:ea typeface="Calibri" pitchFamily="34" charset="-122"/>
                <a:cs typeface="Calibri" pitchFamily="34" charset="-120"/>
              </a:rPr>
              <a:t>Good — quotes &amp; mentions</a:t>
            </a:r>
            <a:endParaRPr lang="en-US" sz="1100" dirty="0"/>
          </a:p>
        </p:txBody>
      </p:sp>
      <p:sp>
        <p:nvSpPr>
          <p:cNvPr id="14" name="Text 12"/>
          <p:cNvSpPr/>
          <p:nvPr/>
        </p:nvSpPr>
        <p:spPr>
          <a:xfrm>
            <a:off x="896112" y="4572000"/>
            <a:ext cx="4760824" cy="256032"/>
          </a:xfrm>
          <a:prstGeom prst="rect">
            <a:avLst/>
          </a:prstGeom>
          <a:noFill/>
          <a:ln/>
        </p:spPr>
        <p:txBody>
          <a:bodyPr wrap="square" rtlCol="0" anchor="ctr"/>
          <a:lstStyle/>
          <a:p>
            <a:pPr indent="0" marL="0">
              <a:buNone/>
            </a:pPr>
            <a:r>
              <a:rPr lang="en-US" sz="1350" b="1" dirty="0">
                <a:solidFill>
                  <a:srgbClr val="0C2A43"/>
                </a:solidFill>
                <a:latin typeface="Cambria" pitchFamily="34" charset="0"/>
                <a:ea typeface="Cambria" pitchFamily="34" charset="-122"/>
                <a:cs typeface="Cambria" pitchFamily="34" charset="-120"/>
              </a:rPr>
              <a:t>Watch reporter hashtags on X</a:t>
            </a:r>
            <a:endParaRPr lang="en-US" sz="1350" dirty="0"/>
          </a:p>
        </p:txBody>
      </p:sp>
      <p:sp>
        <p:nvSpPr>
          <p:cNvPr id="15" name="Text 13"/>
          <p:cNvSpPr/>
          <p:nvPr/>
        </p:nvSpPr>
        <p:spPr>
          <a:xfrm>
            <a:off x="896112" y="4828032"/>
            <a:ext cx="3444088" cy="457200"/>
          </a:xfrm>
          <a:prstGeom prst="rect">
            <a:avLst/>
          </a:prstGeom>
          <a:noFill/>
          <a:ln/>
        </p:spPr>
        <p:txBody>
          <a:bodyPr wrap="square" rtlCol="0" anchor="t"/>
          <a:lstStyle/>
          <a:p>
            <a:pPr indent="0" marL="0">
              <a:lnSpc>
                <a:spcPct val="108000"/>
              </a:lnSpc>
              <a:buNone/>
            </a:pPr>
            <a:r>
              <a:rPr lang="en-US" sz="1150" dirty="0">
                <a:solidFill>
                  <a:srgbClr val="1A1F26"/>
                </a:solidFill>
                <a:latin typeface="Calibri" pitchFamily="34" charset="0"/>
                <a:ea typeface="Calibri" pitchFamily="34" charset="-122"/>
                <a:cs typeface="Calibri" pitchFamily="34" charset="-120"/>
              </a:rPr>
              <a:t>Reply within the hour when reporters post asking for sources.</a:t>
            </a:r>
            <a:endParaRPr lang="en-US" sz="1150" dirty="0"/>
          </a:p>
        </p:txBody>
      </p:sp>
      <p:sp>
        <p:nvSpPr>
          <p:cNvPr id="16" name="Text 14"/>
          <p:cNvSpPr/>
          <p:nvPr/>
        </p:nvSpPr>
        <p:spPr>
          <a:xfrm>
            <a:off x="4312768" y="4590288"/>
            <a:ext cx="1371600" cy="457200"/>
          </a:xfrm>
          <a:prstGeom prst="rect">
            <a:avLst/>
          </a:prstGeom>
          <a:noFill/>
          <a:ln/>
        </p:spPr>
        <p:txBody>
          <a:bodyPr wrap="square" rtlCol="0" anchor="t"/>
          <a:lstStyle/>
          <a:p>
            <a:pPr algn="r" indent="0" marL="0">
              <a:lnSpc>
                <a:spcPct val="105000"/>
              </a:lnSpc>
              <a:buNone/>
            </a:pPr>
            <a:r>
              <a:rPr lang="en-US" sz="1100" b="1" dirty="0">
                <a:solidFill>
                  <a:srgbClr val="B07A16"/>
                </a:solidFill>
                <a:latin typeface="Calibri" pitchFamily="34" charset="0"/>
                <a:ea typeface="Calibri" pitchFamily="34" charset="-122"/>
                <a:cs typeface="Calibri" pitchFamily="34" charset="-120"/>
              </a:rPr>
              <a:t>Moderate</a:t>
            </a:r>
            <a:endParaRPr lang="en-US" sz="1100" dirty="0"/>
          </a:p>
        </p:txBody>
      </p:sp>
      <p:sp>
        <p:nvSpPr>
          <p:cNvPr id="17" name="Text 15"/>
          <p:cNvSpPr/>
          <p:nvPr/>
        </p:nvSpPr>
        <p:spPr>
          <a:xfrm>
            <a:off x="896112" y="5303520"/>
            <a:ext cx="4760824" cy="256032"/>
          </a:xfrm>
          <a:prstGeom prst="rect">
            <a:avLst/>
          </a:prstGeom>
          <a:noFill/>
          <a:ln/>
        </p:spPr>
        <p:txBody>
          <a:bodyPr wrap="square" rtlCol="0" anchor="ctr"/>
          <a:lstStyle/>
          <a:p>
            <a:pPr indent="0" marL="0">
              <a:buNone/>
            </a:pPr>
            <a:r>
              <a:rPr lang="en-US" sz="1350" b="1" dirty="0">
                <a:solidFill>
                  <a:srgbClr val="0C2A43"/>
                </a:solidFill>
                <a:latin typeface="Cambria" pitchFamily="34" charset="0"/>
                <a:ea typeface="Cambria" pitchFamily="34" charset="-122"/>
                <a:cs typeface="Cambria" pitchFamily="34" charset="-120"/>
              </a:rPr>
              <a:t>Free wire + our own channels</a:t>
            </a:r>
            <a:endParaRPr lang="en-US" sz="1350" dirty="0"/>
          </a:p>
        </p:txBody>
      </p:sp>
      <p:sp>
        <p:nvSpPr>
          <p:cNvPr id="18" name="Text 16"/>
          <p:cNvSpPr/>
          <p:nvPr/>
        </p:nvSpPr>
        <p:spPr>
          <a:xfrm>
            <a:off x="896112" y="5559552"/>
            <a:ext cx="3444088" cy="457200"/>
          </a:xfrm>
          <a:prstGeom prst="rect">
            <a:avLst/>
          </a:prstGeom>
          <a:noFill/>
          <a:ln/>
        </p:spPr>
        <p:txBody>
          <a:bodyPr wrap="square" rtlCol="0" anchor="t"/>
          <a:lstStyle/>
          <a:p>
            <a:pPr indent="0" marL="0">
              <a:lnSpc>
                <a:spcPct val="108000"/>
              </a:lnSpc>
              <a:buNone/>
            </a:pPr>
            <a:r>
              <a:rPr lang="en-US" sz="1150" dirty="0">
                <a:solidFill>
                  <a:srgbClr val="1A1F26"/>
                </a:solidFill>
                <a:latin typeface="Calibri" pitchFamily="34" charset="0"/>
                <a:ea typeface="Calibri" pitchFamily="34" charset="-122"/>
                <a:cs typeface="Calibri" pitchFamily="34" charset="-120"/>
              </a:rPr>
              <a:t>Free press-release posting + Harel posting on his own LinkedIn.</a:t>
            </a:r>
            <a:endParaRPr lang="en-US" sz="1150" dirty="0"/>
          </a:p>
        </p:txBody>
      </p:sp>
      <p:sp>
        <p:nvSpPr>
          <p:cNvPr id="19" name="Text 17"/>
          <p:cNvSpPr/>
          <p:nvPr/>
        </p:nvSpPr>
        <p:spPr>
          <a:xfrm>
            <a:off x="4312768" y="5321808"/>
            <a:ext cx="1371600" cy="457200"/>
          </a:xfrm>
          <a:prstGeom prst="rect">
            <a:avLst/>
          </a:prstGeom>
          <a:noFill/>
          <a:ln/>
        </p:spPr>
        <p:txBody>
          <a:bodyPr wrap="square" rtlCol="0" anchor="t"/>
          <a:lstStyle/>
          <a:p>
            <a:pPr algn="r" indent="0" marL="0">
              <a:lnSpc>
                <a:spcPct val="105000"/>
              </a:lnSpc>
              <a:buNone/>
            </a:pPr>
            <a:r>
              <a:rPr lang="en-US" sz="1100" b="1" dirty="0">
                <a:solidFill>
                  <a:srgbClr val="B07A16"/>
                </a:solidFill>
                <a:latin typeface="Calibri" pitchFamily="34" charset="0"/>
                <a:ea typeface="Calibri" pitchFamily="34" charset="-122"/>
                <a:cs typeface="Calibri" pitchFamily="34" charset="-120"/>
              </a:rPr>
              <a:t>Low reach, builds a trail</a:t>
            </a:r>
            <a:endParaRPr lang="en-US" sz="1100" dirty="0"/>
          </a:p>
        </p:txBody>
      </p:sp>
      <p:sp>
        <p:nvSpPr>
          <p:cNvPr id="20" name="Shape 18"/>
          <p:cNvSpPr/>
          <p:nvPr/>
        </p:nvSpPr>
        <p:spPr>
          <a:xfrm>
            <a:off x="6278728" y="2286000"/>
            <a:ext cx="5272888" cy="3794760"/>
          </a:xfrm>
          <a:prstGeom prst="roundRect">
            <a:avLst>
              <a:gd name="adj" fmla="val 1446"/>
            </a:avLst>
          </a:prstGeom>
          <a:solidFill>
            <a:srgbClr val="FFFFFF"/>
          </a:solidFill>
          <a:ln w="12700">
            <a:solidFill>
              <a:srgbClr val="D9DDE2"/>
            </a:solidFill>
            <a:prstDash val="solid"/>
          </a:ln>
        </p:spPr>
      </p:sp>
      <p:sp>
        <p:nvSpPr>
          <p:cNvPr id="21" name="Shape 19"/>
          <p:cNvSpPr/>
          <p:nvPr/>
        </p:nvSpPr>
        <p:spPr>
          <a:xfrm>
            <a:off x="6278728" y="2286000"/>
            <a:ext cx="5272888" cy="603504"/>
          </a:xfrm>
          <a:prstGeom prst="rect">
            <a:avLst/>
          </a:prstGeom>
          <a:solidFill>
            <a:srgbClr val="6E4A12"/>
          </a:solidFill>
          <a:ln/>
        </p:spPr>
      </p:sp>
      <p:sp>
        <p:nvSpPr>
          <p:cNvPr id="22" name="Text 20"/>
          <p:cNvSpPr/>
          <p:nvPr/>
        </p:nvSpPr>
        <p:spPr>
          <a:xfrm>
            <a:off x="6534760" y="2286000"/>
            <a:ext cx="4760824" cy="603504"/>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PAID  —  guaranteed pickup</a:t>
            </a:r>
            <a:endParaRPr lang="en-US" sz="1600" dirty="0"/>
          </a:p>
        </p:txBody>
      </p:sp>
      <p:sp>
        <p:nvSpPr>
          <p:cNvPr id="23" name="Text 21"/>
          <p:cNvSpPr/>
          <p:nvPr/>
        </p:nvSpPr>
        <p:spPr>
          <a:xfrm>
            <a:off x="6534760" y="3108960"/>
            <a:ext cx="4760824" cy="274320"/>
          </a:xfrm>
          <a:prstGeom prst="rect">
            <a:avLst/>
          </a:prstGeom>
          <a:noFill/>
          <a:ln/>
        </p:spPr>
        <p:txBody>
          <a:bodyPr wrap="square" rtlCol="0" anchor="ctr"/>
          <a:lstStyle/>
          <a:p>
            <a:pPr indent="0" marL="0">
              <a:buNone/>
            </a:pPr>
            <a:r>
              <a:rPr lang="en-US" sz="1350" b="1" dirty="0">
                <a:solidFill>
                  <a:srgbClr val="6E4A12"/>
                </a:solidFill>
                <a:latin typeface="Cambria" pitchFamily="34" charset="0"/>
                <a:ea typeface="Cambria" pitchFamily="34" charset="-122"/>
                <a:cs typeface="Cambria" pitchFamily="34" charset="-120"/>
              </a:rPr>
              <a:t>EIN Presswire</a:t>
            </a:r>
            <a:pPr indent="0" marL="0">
              <a:buNone/>
            </a:pPr>
            <a:r>
              <a:rPr lang="en-US" sz="1150" b="1" dirty="0">
                <a:solidFill>
                  <a:srgbClr val="5C6672"/>
                </a:solidFill>
                <a:latin typeface="Calibri" pitchFamily="34" charset="0"/>
                <a:ea typeface="Calibri" pitchFamily="34" charset="-122"/>
                <a:cs typeface="Calibri" pitchFamily="34" charset="-120"/>
              </a:rPr>
              <a:t>   $100–150 (~$80 in a 5-pack)</a:t>
            </a:r>
            <a:endParaRPr lang="en-US" sz="1350" dirty="0"/>
          </a:p>
        </p:txBody>
      </p:sp>
      <p:sp>
        <p:nvSpPr>
          <p:cNvPr id="24" name="Text 22"/>
          <p:cNvSpPr/>
          <p:nvPr/>
        </p:nvSpPr>
        <p:spPr>
          <a:xfrm>
            <a:off x="6534760" y="3401568"/>
            <a:ext cx="4760824" cy="548640"/>
          </a:xfrm>
          <a:prstGeom prst="rect">
            <a:avLst/>
          </a:prstGeom>
          <a:noFill/>
          <a:ln/>
        </p:spPr>
        <p:txBody>
          <a:bodyPr wrap="square" rtlCol="0" anchor="t"/>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Our workhorse. 200+ countries, AP News, Google News. Runs every wave.</a:t>
            </a:r>
            <a:endParaRPr lang="en-US" sz="1200" dirty="0"/>
          </a:p>
        </p:txBody>
      </p:sp>
      <p:sp>
        <p:nvSpPr>
          <p:cNvPr id="25" name="Text 23"/>
          <p:cNvSpPr/>
          <p:nvPr/>
        </p:nvSpPr>
        <p:spPr>
          <a:xfrm>
            <a:off x="6534760" y="4069080"/>
            <a:ext cx="4760824" cy="274320"/>
          </a:xfrm>
          <a:prstGeom prst="rect">
            <a:avLst/>
          </a:prstGeom>
          <a:noFill/>
          <a:ln/>
        </p:spPr>
        <p:txBody>
          <a:bodyPr wrap="square" rtlCol="0" anchor="ctr"/>
          <a:lstStyle/>
          <a:p>
            <a:pPr indent="0" marL="0">
              <a:buNone/>
            </a:pPr>
            <a:r>
              <a:rPr lang="en-US" sz="1350" b="1" dirty="0">
                <a:solidFill>
                  <a:srgbClr val="6E4A12"/>
                </a:solidFill>
                <a:latin typeface="Cambria" pitchFamily="34" charset="0"/>
                <a:ea typeface="Cambria" pitchFamily="34" charset="-122"/>
                <a:cs typeface="Cambria" pitchFamily="34" charset="-120"/>
              </a:rPr>
              <a:t>PR Newswire</a:t>
            </a:r>
            <a:pPr indent="0" marL="0">
              <a:buNone/>
            </a:pPr>
            <a:r>
              <a:rPr lang="en-US" sz="1150" b="1" dirty="0">
                <a:solidFill>
                  <a:srgbClr val="5C6672"/>
                </a:solidFill>
                <a:latin typeface="Calibri" pitchFamily="34" charset="0"/>
                <a:ea typeface="Calibri" pitchFamily="34" charset="-122"/>
                <a:cs typeface="Calibri" pitchFamily="34" charset="-120"/>
              </a:rPr>
              <a:t>   $2,000–3,000+</a:t>
            </a:r>
            <a:endParaRPr lang="en-US" sz="1350" dirty="0"/>
          </a:p>
        </p:txBody>
      </p:sp>
      <p:sp>
        <p:nvSpPr>
          <p:cNvPr id="26" name="Text 24"/>
          <p:cNvSpPr/>
          <p:nvPr/>
        </p:nvSpPr>
        <p:spPr>
          <a:xfrm>
            <a:off x="6534760" y="4361688"/>
            <a:ext cx="4760824" cy="548640"/>
          </a:xfrm>
          <a:prstGeom prst="rect">
            <a:avLst/>
          </a:prstGeom>
          <a:noFill/>
          <a:ln/>
        </p:spPr>
        <p:txBody>
          <a:bodyPr wrap="square" rtlCol="0" anchor="t"/>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The big-name wire. Add for Wave 1 only if the CEO wants the premium dateline.</a:t>
            </a:r>
            <a:endParaRPr lang="en-US" sz="1200" dirty="0"/>
          </a:p>
        </p:txBody>
      </p:sp>
      <p:sp>
        <p:nvSpPr>
          <p:cNvPr id="27" name="Text 25"/>
          <p:cNvSpPr/>
          <p:nvPr/>
        </p:nvSpPr>
        <p:spPr>
          <a:xfrm>
            <a:off x="6534760" y="5029200"/>
            <a:ext cx="4760824" cy="274320"/>
          </a:xfrm>
          <a:prstGeom prst="rect">
            <a:avLst/>
          </a:prstGeom>
          <a:noFill/>
          <a:ln/>
        </p:spPr>
        <p:txBody>
          <a:bodyPr wrap="square" rtlCol="0" anchor="ctr"/>
          <a:lstStyle/>
          <a:p>
            <a:pPr indent="0" marL="0">
              <a:buNone/>
            </a:pPr>
            <a:r>
              <a:rPr lang="en-US" sz="1350" b="1" dirty="0">
                <a:solidFill>
                  <a:srgbClr val="6E4A12"/>
                </a:solidFill>
                <a:latin typeface="Cambria" pitchFamily="34" charset="0"/>
                <a:ea typeface="Cambria" pitchFamily="34" charset="-122"/>
                <a:cs typeface="Cambria" pitchFamily="34" charset="-120"/>
              </a:rPr>
              <a:t>Newswire / GlobeNewswire</a:t>
            </a:r>
            <a:pPr indent="0" marL="0">
              <a:buNone/>
            </a:pPr>
            <a:r>
              <a:rPr lang="en-US" sz="1150" b="1" dirty="0">
                <a:solidFill>
                  <a:srgbClr val="5C6672"/>
                </a:solidFill>
                <a:latin typeface="Calibri" pitchFamily="34" charset="0"/>
                <a:ea typeface="Calibri" pitchFamily="34" charset="-122"/>
                <a:cs typeface="Calibri" pitchFamily="34" charset="-120"/>
              </a:rPr>
              <a:t>   $299–1,200</a:t>
            </a:r>
            <a:endParaRPr lang="en-US" sz="1350" dirty="0"/>
          </a:p>
        </p:txBody>
      </p:sp>
      <p:sp>
        <p:nvSpPr>
          <p:cNvPr id="28" name="Text 26"/>
          <p:cNvSpPr/>
          <p:nvPr/>
        </p:nvSpPr>
        <p:spPr>
          <a:xfrm>
            <a:off x="6534760" y="5321808"/>
            <a:ext cx="4760824" cy="548640"/>
          </a:xfrm>
          <a:prstGeom prst="rect">
            <a:avLst/>
          </a:prstGeom>
          <a:noFill/>
          <a:ln/>
        </p:spPr>
        <p:txBody>
          <a:bodyPr wrap="square" rtlCol="0" anchor="t"/>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Solid mid-tier alternatives; we’ve used GlobeNewswire before (2020).</a:t>
            </a:r>
            <a:endParaRPr lang="en-US" sz="1200" dirty="0"/>
          </a:p>
        </p:txBody>
      </p:sp>
      <p:sp>
        <p:nvSpPr>
          <p:cNvPr id="29" name="Text 27"/>
          <p:cNvSpPr/>
          <p:nvPr/>
        </p:nvSpPr>
        <p:spPr>
          <a:xfrm>
            <a:off x="640080" y="6172200"/>
            <a:ext cx="10911535" cy="320040"/>
          </a:xfrm>
          <a:prstGeom prst="rect">
            <a:avLst/>
          </a:prstGeom>
          <a:noFill/>
          <a:ln/>
        </p:spPr>
        <p:txBody>
          <a:bodyPr wrap="square" rtlCol="0" anchor="ctr"/>
          <a:lstStyle/>
          <a:p>
            <a:pPr indent="0" marL="0">
              <a:buNone/>
            </a:pPr>
            <a:r>
              <a:rPr lang="en-US" sz="1250" b="1" dirty="0">
                <a:solidFill>
                  <a:srgbClr val="0C2A43"/>
                </a:solidFill>
                <a:latin typeface="Calibri" pitchFamily="34" charset="0"/>
                <a:ea typeface="Calibri" pitchFamily="34" charset="-122"/>
                <a:cs typeface="Calibri" pitchFamily="34" charset="-120"/>
              </a:rPr>
              <a:t>The paid wire guarantees one story lands every wave; free outreach is where the real, credible coverage comes from.</a:t>
            </a:r>
            <a:endParaRPr lang="en-US" sz="1250" dirty="0"/>
          </a:p>
        </p:txBody>
      </p:sp>
      <p:sp>
        <p:nvSpPr>
          <p:cNvPr id="30" name="Text 28"/>
          <p:cNvSpPr/>
          <p:nvPr/>
        </p:nvSpPr>
        <p:spPr>
          <a:xfrm>
            <a:off x="640080" y="6473952"/>
            <a:ext cx="10911535" cy="274320"/>
          </a:xfrm>
          <a:prstGeom prst="rect">
            <a:avLst/>
          </a:prstGeom>
          <a:noFill/>
          <a:ln/>
        </p:spPr>
        <p:txBody>
          <a:bodyPr wrap="square" rtlCol="0" anchor="ctr"/>
          <a:lstStyle/>
          <a:p>
            <a:pPr algn="l" indent="0" marL="0">
              <a:buNone/>
            </a:pPr>
            <a:r>
              <a:rPr lang="en-US" sz="800" dirty="0">
                <a:solidFill>
                  <a:srgbClr val="5C6672"/>
                </a:solidFill>
                <a:latin typeface="Calibri" pitchFamily="34" charset="0"/>
                <a:ea typeface="Calibri" pitchFamily="34" charset="-122"/>
                <a:cs typeface="Calibri" pitchFamily="34" charset="-120"/>
              </a:rPr>
              <a:t>Source: </a:t>
            </a:r>
            <a:pPr algn="l" indent="0" marL="0">
              <a:buNone/>
            </a:pPr>
            <a:r>
              <a:rPr lang="en-US" sz="800" u="sng" dirty="0">
                <a:solidFill>
                  <a:srgbClr val="5C667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Pressonify pricing 2026</a:t>
            </a:r>
            <a:pPr algn="l" indent="0" marL="0">
              <a:buNone/>
            </a:pPr>
            <a:r>
              <a:rPr lang="en-US" sz="800" dirty="0">
                <a:solidFill>
                  <a:srgbClr val="9AA4AF"/>
                </a:solidFill>
                <a:latin typeface="Calibri" pitchFamily="34" charset="0"/>
                <a:ea typeface="Calibri" pitchFamily="34" charset="-122"/>
                <a:cs typeface="Calibri" pitchFamily="34" charset="-120"/>
              </a:rPr>
              <a:t>  ·  </a:t>
            </a:r>
            <a:pPr algn="l" indent="0" marL="0">
              <a:buNone/>
            </a:pPr>
            <a:r>
              <a:rPr lang="en-US" sz="800" u="sng" dirty="0">
                <a:solidFill>
                  <a:srgbClr val="5C667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BuzzStream (HARO alternatives)</a:t>
            </a:r>
            <a:endParaRPr lang="en-US" sz="800" dirty="0"/>
          </a:p>
        </p:txBody>
      </p:sp>
      <p:sp>
        <p:nvSpPr>
          <p:cNvPr id="31" name="Text 29"/>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768096"/>
            <a:ext cx="10911535" cy="731520"/>
          </a:xfrm>
          <a:prstGeom prst="rect">
            <a:avLst/>
          </a:prstGeom>
          <a:noFill/>
          <a:ln/>
        </p:spPr>
        <p:txBody>
          <a:bodyPr wrap="square" rtlCol="0" anchor="ctr"/>
          <a:lstStyle/>
          <a:p>
            <a:pPr indent="0" marL="0">
              <a:lnSpc>
                <a:spcPct val="100000"/>
              </a:lnSpc>
              <a:buNone/>
            </a:pPr>
            <a:r>
              <a:rPr lang="en-US" sz="2900" b="1" dirty="0">
                <a:solidFill>
                  <a:srgbClr val="0C2A43"/>
                </a:solidFill>
                <a:latin typeface="Cambria" pitchFamily="34" charset="0"/>
                <a:ea typeface="Cambria" pitchFamily="34" charset="-122"/>
                <a:cs typeface="Cambria" pitchFamily="34" charset="-120"/>
              </a:rPr>
              <a:t>What it costs: lean vs. premium</a:t>
            </a:r>
            <a:endParaRPr lang="en-US" sz="2900" dirty="0"/>
          </a:p>
        </p:txBody>
      </p:sp>
      <p:sp>
        <p:nvSpPr>
          <p:cNvPr id="3" name="Text 1"/>
          <p:cNvSpPr/>
          <p:nvPr/>
        </p:nvSpPr>
        <p:spPr>
          <a:xfrm>
            <a:off x="640080" y="457200"/>
            <a:ext cx="10911535" cy="292608"/>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THE PLAN</a:t>
            </a:r>
            <a:pPr indent="0" marL="0">
              <a:buNone/>
            </a:pPr>
            <a:r>
              <a:rPr lang="en-US" sz="1300" b="1" spc="200" kern="0" dirty="0">
                <a:solidFill>
                  <a:srgbClr val="5C6672"/>
                </a:solidFill>
                <a:latin typeface="Calibri" pitchFamily="34" charset="0"/>
                <a:ea typeface="Calibri" pitchFamily="34" charset="-122"/>
                <a:cs typeface="Calibri" pitchFamily="34" charset="-120"/>
              </a:rPr>
              <a:t>   ·   4 OF 6</a:t>
            </a:r>
            <a:endParaRPr lang="en-US" sz="1300" dirty="0"/>
          </a:p>
        </p:txBody>
      </p:sp>
      <p:sp>
        <p:nvSpPr>
          <p:cNvPr id="4" name="Text 2"/>
          <p:cNvSpPr/>
          <p:nvPr/>
        </p:nvSpPr>
        <p:spPr>
          <a:xfrm>
            <a:off x="640080" y="1572768"/>
            <a:ext cx="10911535" cy="457200"/>
          </a:xfrm>
          <a:prstGeom prst="rect">
            <a:avLst/>
          </a:prstGeom>
          <a:noFill/>
          <a:ln/>
        </p:spPr>
        <p:txBody>
          <a:bodyPr wrap="square" rtlCol="0" anchor="t"/>
          <a:lstStyle/>
          <a:p>
            <a:pPr indent="0" marL="0">
              <a:lnSpc>
                <a:spcPct val="115000"/>
              </a:lnSpc>
              <a:buNone/>
            </a:pPr>
            <a:r>
              <a:rPr lang="en-US" sz="1500" b="1" dirty="0">
                <a:solidFill>
                  <a:srgbClr val="C08A2E"/>
                </a:solidFill>
                <a:latin typeface="Calibri" pitchFamily="34" charset="0"/>
                <a:ea typeface="Calibri" pitchFamily="34" charset="-122"/>
                <a:cs typeface="Calibri" pitchFamily="34" charset="-120"/>
              </a:rPr>
              <a:t>IN PLAIN TERMS:  </a:t>
            </a:r>
            <a:pPr indent="0" marL="0">
              <a:lnSpc>
                <a:spcPct val="115000"/>
              </a:lnSpc>
              <a:buNone/>
            </a:pPr>
            <a:r>
              <a:rPr lang="en-US" sz="1500" dirty="0">
                <a:solidFill>
                  <a:srgbClr val="1A1F26"/>
                </a:solidFill>
                <a:latin typeface="Calibri" pitchFamily="34" charset="0"/>
                <a:ea typeface="Calibri" pitchFamily="34" charset="-122"/>
                <a:cs typeface="Calibri" pitchFamily="34" charset="-120"/>
              </a:rPr>
              <a:t>The total spend across all four waves — and what the extra money buys.</a:t>
            </a:r>
            <a:endParaRPr lang="en-US" sz="1500" dirty="0"/>
          </a:p>
        </p:txBody>
      </p:sp>
      <p:sp>
        <p:nvSpPr>
          <p:cNvPr id="5" name="Shape 3"/>
          <p:cNvSpPr/>
          <p:nvPr/>
        </p:nvSpPr>
        <p:spPr>
          <a:xfrm>
            <a:off x="640080" y="2240280"/>
            <a:ext cx="5272888" cy="3429000"/>
          </a:xfrm>
          <a:prstGeom prst="roundRect">
            <a:avLst>
              <a:gd name="adj" fmla="val 1600"/>
            </a:avLst>
          </a:prstGeom>
          <a:solidFill>
            <a:srgbClr val="FFFFFF"/>
          </a:solidFill>
          <a:ln w="12700">
            <a:solidFill>
              <a:srgbClr val="D9DDE2"/>
            </a:solidFill>
            <a:prstDash val="solid"/>
          </a:ln>
        </p:spPr>
      </p:sp>
      <p:sp>
        <p:nvSpPr>
          <p:cNvPr id="6" name="Shape 4"/>
          <p:cNvSpPr/>
          <p:nvPr/>
        </p:nvSpPr>
        <p:spPr>
          <a:xfrm>
            <a:off x="640080" y="2240280"/>
            <a:ext cx="5272888" cy="502920"/>
          </a:xfrm>
          <a:prstGeom prst="rect">
            <a:avLst/>
          </a:prstGeom>
          <a:solidFill>
            <a:srgbClr val="0C2A43"/>
          </a:solidFill>
          <a:ln/>
        </p:spPr>
      </p:sp>
      <p:sp>
        <p:nvSpPr>
          <p:cNvPr id="7" name="Text 5"/>
          <p:cNvSpPr/>
          <p:nvPr/>
        </p:nvSpPr>
        <p:spPr>
          <a:xfrm>
            <a:off x="868680" y="2240280"/>
            <a:ext cx="4815688" cy="50292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LEAN  ·  what we recommend</a:t>
            </a:r>
            <a:endParaRPr lang="en-US" sz="1350" dirty="0"/>
          </a:p>
        </p:txBody>
      </p:sp>
      <p:sp>
        <p:nvSpPr>
          <p:cNvPr id="8" name="Text 6"/>
          <p:cNvSpPr/>
          <p:nvPr/>
        </p:nvSpPr>
        <p:spPr>
          <a:xfrm>
            <a:off x="868680" y="2843784"/>
            <a:ext cx="4815688" cy="640080"/>
          </a:xfrm>
          <a:prstGeom prst="rect">
            <a:avLst/>
          </a:prstGeom>
          <a:noFill/>
          <a:ln/>
        </p:spPr>
        <p:txBody>
          <a:bodyPr wrap="square" rtlCol="0" anchor="ctr"/>
          <a:lstStyle/>
          <a:p>
            <a:pPr indent="0" marL="0">
              <a:buNone/>
            </a:pPr>
            <a:r>
              <a:rPr lang="en-US" sz="4000" b="1" dirty="0">
                <a:solidFill>
                  <a:srgbClr val="0C2A43"/>
                </a:solidFill>
                <a:latin typeface="Cambria" pitchFamily="34" charset="0"/>
                <a:ea typeface="Cambria" pitchFamily="34" charset="-122"/>
                <a:cs typeface="Cambria" pitchFamily="34" charset="-120"/>
              </a:rPr>
              <a:t>~$450–$700</a:t>
            </a:r>
            <a:endParaRPr lang="en-US" sz="4000" dirty="0"/>
          </a:p>
        </p:txBody>
      </p:sp>
      <p:sp>
        <p:nvSpPr>
          <p:cNvPr id="9" name="Text 7"/>
          <p:cNvSpPr/>
          <p:nvPr/>
        </p:nvSpPr>
        <p:spPr>
          <a:xfrm>
            <a:off x="868680" y="3520440"/>
            <a:ext cx="4815688" cy="274320"/>
          </a:xfrm>
          <a:prstGeom prst="rect">
            <a:avLst/>
          </a:prstGeom>
          <a:noFill/>
          <a:ln/>
        </p:spPr>
        <p:txBody>
          <a:bodyPr wrap="square" rtlCol="0" anchor="ctr"/>
          <a:lstStyle/>
          <a:p>
            <a:pPr indent="0" marL="0">
              <a:buNone/>
            </a:pPr>
            <a:r>
              <a:rPr lang="en-US" sz="1300" dirty="0">
                <a:solidFill>
                  <a:srgbClr val="5C6672"/>
                </a:solidFill>
                <a:latin typeface="Calibri" pitchFamily="34" charset="0"/>
                <a:ea typeface="Calibri" pitchFamily="34" charset="-122"/>
                <a:cs typeface="Calibri" pitchFamily="34" charset="-120"/>
              </a:rPr>
              <a:t>total, all 4 waves</a:t>
            </a:r>
            <a:endParaRPr lang="en-US" sz="1300" dirty="0"/>
          </a:p>
        </p:txBody>
      </p:sp>
      <p:sp>
        <p:nvSpPr>
          <p:cNvPr id="10" name="Text 8"/>
          <p:cNvSpPr/>
          <p:nvPr/>
        </p:nvSpPr>
        <p:spPr>
          <a:xfrm>
            <a:off x="868680" y="3904488"/>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EIN Presswire 5-pack (all 4 waves)</a:t>
            </a:r>
            <a:endParaRPr lang="en-US" sz="1250" dirty="0"/>
          </a:p>
        </p:txBody>
      </p:sp>
      <p:sp>
        <p:nvSpPr>
          <p:cNvPr id="11" name="Text 9"/>
          <p:cNvSpPr/>
          <p:nvPr/>
        </p:nvSpPr>
        <p:spPr>
          <a:xfrm>
            <a:off x="4495648" y="3904488"/>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$399</a:t>
            </a:r>
            <a:endParaRPr lang="en-US" sz="1250" dirty="0"/>
          </a:p>
        </p:txBody>
      </p:sp>
      <p:sp>
        <p:nvSpPr>
          <p:cNvPr id="12" name="Text 10"/>
          <p:cNvSpPr/>
          <p:nvPr/>
        </p:nvSpPr>
        <p:spPr>
          <a:xfrm>
            <a:off x="868680" y="4288536"/>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Free press tactics (reporter pitching)</a:t>
            </a:r>
            <a:endParaRPr lang="en-US" sz="1250" dirty="0"/>
          </a:p>
        </p:txBody>
      </p:sp>
      <p:sp>
        <p:nvSpPr>
          <p:cNvPr id="13" name="Text 11"/>
          <p:cNvSpPr/>
          <p:nvPr/>
        </p:nvSpPr>
        <p:spPr>
          <a:xfrm>
            <a:off x="4495648" y="4288536"/>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$0</a:t>
            </a:r>
            <a:endParaRPr lang="en-US" sz="1250" dirty="0"/>
          </a:p>
        </p:txBody>
      </p:sp>
      <p:sp>
        <p:nvSpPr>
          <p:cNvPr id="14" name="Text 12"/>
          <p:cNvSpPr/>
          <p:nvPr/>
        </p:nvSpPr>
        <p:spPr>
          <a:xfrm>
            <a:off x="868680" y="4672584"/>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Optional: headshot / logo cleanup</a:t>
            </a:r>
            <a:endParaRPr lang="en-US" sz="1250" dirty="0"/>
          </a:p>
        </p:txBody>
      </p:sp>
      <p:sp>
        <p:nvSpPr>
          <p:cNvPr id="15" name="Text 13"/>
          <p:cNvSpPr/>
          <p:nvPr/>
        </p:nvSpPr>
        <p:spPr>
          <a:xfrm>
            <a:off x="4495648" y="4672584"/>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$0–$150</a:t>
            </a:r>
            <a:endParaRPr lang="en-US" sz="1250" dirty="0"/>
          </a:p>
        </p:txBody>
      </p:sp>
      <p:sp>
        <p:nvSpPr>
          <p:cNvPr id="16" name="Text 14"/>
          <p:cNvSpPr/>
          <p:nvPr/>
        </p:nvSpPr>
        <p:spPr>
          <a:xfrm>
            <a:off x="868680" y="5056632"/>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Our own channels (LinkedIn, website)</a:t>
            </a:r>
            <a:endParaRPr lang="en-US" sz="1250" dirty="0"/>
          </a:p>
        </p:txBody>
      </p:sp>
      <p:sp>
        <p:nvSpPr>
          <p:cNvPr id="17" name="Text 15"/>
          <p:cNvSpPr/>
          <p:nvPr/>
        </p:nvSpPr>
        <p:spPr>
          <a:xfrm>
            <a:off x="4495648" y="5056632"/>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$0</a:t>
            </a:r>
            <a:endParaRPr lang="en-US" sz="1250" dirty="0"/>
          </a:p>
        </p:txBody>
      </p:sp>
      <p:sp>
        <p:nvSpPr>
          <p:cNvPr id="18" name="Text 16"/>
          <p:cNvSpPr/>
          <p:nvPr/>
        </p:nvSpPr>
        <p:spPr>
          <a:xfrm>
            <a:off x="868680" y="5312664"/>
            <a:ext cx="4815688" cy="320040"/>
          </a:xfrm>
          <a:prstGeom prst="rect">
            <a:avLst/>
          </a:prstGeom>
          <a:noFill/>
          <a:ln/>
        </p:spPr>
        <p:txBody>
          <a:bodyPr wrap="square" rtlCol="0" anchor="ctr"/>
          <a:lstStyle/>
          <a:p>
            <a:pPr indent="0" marL="0">
              <a:buNone/>
            </a:pPr>
            <a:r>
              <a:rPr lang="en-US" sz="1150" i="1" dirty="0">
                <a:solidFill>
                  <a:srgbClr val="5C6672"/>
                </a:solidFill>
                <a:latin typeface="Calibri" pitchFamily="34" charset="0"/>
                <a:ea typeface="Calibri" pitchFamily="34" charset="-122"/>
                <a:cs typeface="Calibri" pitchFamily="34" charset="-120"/>
              </a:rPr>
              <a:t>Enough for a real, credible, 4-wave launch run by one person.</a:t>
            </a:r>
            <a:endParaRPr lang="en-US" sz="1150" dirty="0"/>
          </a:p>
        </p:txBody>
      </p:sp>
      <p:sp>
        <p:nvSpPr>
          <p:cNvPr id="19" name="Shape 17"/>
          <p:cNvSpPr/>
          <p:nvPr/>
        </p:nvSpPr>
        <p:spPr>
          <a:xfrm>
            <a:off x="6278728" y="2240280"/>
            <a:ext cx="5272888" cy="3429000"/>
          </a:xfrm>
          <a:prstGeom prst="roundRect">
            <a:avLst>
              <a:gd name="adj" fmla="val 1600"/>
            </a:avLst>
          </a:prstGeom>
          <a:solidFill>
            <a:srgbClr val="FFFFFF"/>
          </a:solidFill>
          <a:ln w="12700">
            <a:solidFill>
              <a:srgbClr val="D9DDE2"/>
            </a:solidFill>
            <a:prstDash val="solid"/>
          </a:ln>
        </p:spPr>
      </p:sp>
      <p:sp>
        <p:nvSpPr>
          <p:cNvPr id="20" name="Shape 18"/>
          <p:cNvSpPr/>
          <p:nvPr/>
        </p:nvSpPr>
        <p:spPr>
          <a:xfrm>
            <a:off x="6278728" y="2240280"/>
            <a:ext cx="5272888" cy="502920"/>
          </a:xfrm>
          <a:prstGeom prst="rect">
            <a:avLst/>
          </a:prstGeom>
          <a:solidFill>
            <a:srgbClr val="6E4A12"/>
          </a:solidFill>
          <a:ln/>
        </p:spPr>
      </p:sp>
      <p:sp>
        <p:nvSpPr>
          <p:cNvPr id="21" name="Text 19"/>
          <p:cNvSpPr/>
          <p:nvPr/>
        </p:nvSpPr>
        <p:spPr>
          <a:xfrm>
            <a:off x="6507328" y="2240280"/>
            <a:ext cx="4815688" cy="50292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PREMIUM  ·  optional upgrade</a:t>
            </a:r>
            <a:endParaRPr lang="en-US" sz="1350" dirty="0"/>
          </a:p>
        </p:txBody>
      </p:sp>
      <p:sp>
        <p:nvSpPr>
          <p:cNvPr id="22" name="Text 20"/>
          <p:cNvSpPr/>
          <p:nvPr/>
        </p:nvSpPr>
        <p:spPr>
          <a:xfrm>
            <a:off x="6507328" y="2843784"/>
            <a:ext cx="4815688" cy="640080"/>
          </a:xfrm>
          <a:prstGeom prst="rect">
            <a:avLst/>
          </a:prstGeom>
          <a:noFill/>
          <a:ln/>
        </p:spPr>
        <p:txBody>
          <a:bodyPr wrap="square" rtlCol="0" anchor="ctr"/>
          <a:lstStyle/>
          <a:p>
            <a:pPr indent="0" marL="0">
              <a:buNone/>
            </a:pPr>
            <a:r>
              <a:rPr lang="en-US" sz="4000" b="1" dirty="0">
                <a:solidFill>
                  <a:srgbClr val="6E4A12"/>
                </a:solidFill>
                <a:latin typeface="Cambria" pitchFamily="34" charset="0"/>
                <a:ea typeface="Cambria" pitchFamily="34" charset="-122"/>
                <a:cs typeface="Cambria" pitchFamily="34" charset="-120"/>
              </a:rPr>
              <a:t>~$3,500–$5,000</a:t>
            </a:r>
            <a:endParaRPr lang="en-US" sz="4000" dirty="0"/>
          </a:p>
        </p:txBody>
      </p:sp>
      <p:sp>
        <p:nvSpPr>
          <p:cNvPr id="23" name="Text 21"/>
          <p:cNvSpPr/>
          <p:nvPr/>
        </p:nvSpPr>
        <p:spPr>
          <a:xfrm>
            <a:off x="6507328" y="3520440"/>
            <a:ext cx="4815688" cy="274320"/>
          </a:xfrm>
          <a:prstGeom prst="rect">
            <a:avLst/>
          </a:prstGeom>
          <a:noFill/>
          <a:ln/>
        </p:spPr>
        <p:txBody>
          <a:bodyPr wrap="square" rtlCol="0" anchor="ctr"/>
          <a:lstStyle/>
          <a:p>
            <a:pPr indent="0" marL="0">
              <a:buNone/>
            </a:pPr>
            <a:r>
              <a:rPr lang="en-US" sz="1300" dirty="0">
                <a:solidFill>
                  <a:srgbClr val="5C6672"/>
                </a:solidFill>
                <a:latin typeface="Calibri" pitchFamily="34" charset="0"/>
                <a:ea typeface="Calibri" pitchFamily="34" charset="-122"/>
                <a:cs typeface="Calibri" pitchFamily="34" charset="-120"/>
              </a:rPr>
              <a:t>total, all 4 waves</a:t>
            </a:r>
            <a:endParaRPr lang="en-US" sz="1300" dirty="0"/>
          </a:p>
        </p:txBody>
      </p:sp>
      <p:sp>
        <p:nvSpPr>
          <p:cNvPr id="24" name="Text 22"/>
          <p:cNvSpPr/>
          <p:nvPr/>
        </p:nvSpPr>
        <p:spPr>
          <a:xfrm>
            <a:off x="6507328" y="3904488"/>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PR Newswire national (Wave 1)</a:t>
            </a:r>
            <a:endParaRPr lang="en-US" sz="1250" dirty="0"/>
          </a:p>
        </p:txBody>
      </p:sp>
      <p:sp>
        <p:nvSpPr>
          <p:cNvPr id="25" name="Text 23"/>
          <p:cNvSpPr/>
          <p:nvPr/>
        </p:nvSpPr>
        <p:spPr>
          <a:xfrm>
            <a:off x="10134295" y="3904488"/>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$2,000–$3,000</a:t>
            </a:r>
            <a:endParaRPr lang="en-US" sz="1250" dirty="0"/>
          </a:p>
        </p:txBody>
      </p:sp>
      <p:sp>
        <p:nvSpPr>
          <p:cNvPr id="26" name="Text 24"/>
          <p:cNvSpPr/>
          <p:nvPr/>
        </p:nvSpPr>
        <p:spPr>
          <a:xfrm>
            <a:off x="6507328" y="4288536"/>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EIN Presswire (Waves 2–4)</a:t>
            </a:r>
            <a:endParaRPr lang="en-US" sz="1250" dirty="0"/>
          </a:p>
        </p:txBody>
      </p:sp>
      <p:sp>
        <p:nvSpPr>
          <p:cNvPr id="27" name="Text 25"/>
          <p:cNvSpPr/>
          <p:nvPr/>
        </p:nvSpPr>
        <p:spPr>
          <a:xfrm>
            <a:off x="10134295" y="4288536"/>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~$240</a:t>
            </a:r>
            <a:endParaRPr lang="en-US" sz="1250" dirty="0"/>
          </a:p>
        </p:txBody>
      </p:sp>
      <p:sp>
        <p:nvSpPr>
          <p:cNvPr id="28" name="Text 26"/>
          <p:cNvSpPr/>
          <p:nvPr/>
        </p:nvSpPr>
        <p:spPr>
          <a:xfrm>
            <a:off x="6507328" y="4672584"/>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Qwoted paid (3 mo)</a:t>
            </a:r>
            <a:endParaRPr lang="en-US" sz="1250" dirty="0"/>
          </a:p>
        </p:txBody>
      </p:sp>
      <p:sp>
        <p:nvSpPr>
          <p:cNvPr id="29" name="Text 27"/>
          <p:cNvSpPr/>
          <p:nvPr/>
        </p:nvSpPr>
        <p:spPr>
          <a:xfrm>
            <a:off x="10134295" y="4672584"/>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~$300</a:t>
            </a:r>
            <a:endParaRPr lang="en-US" sz="1250" dirty="0"/>
          </a:p>
        </p:txBody>
      </p:sp>
      <p:sp>
        <p:nvSpPr>
          <p:cNvPr id="30" name="Text 28"/>
          <p:cNvSpPr/>
          <p:nvPr/>
        </p:nvSpPr>
        <p:spPr>
          <a:xfrm>
            <a:off x="6507328" y="5056632"/>
            <a:ext cx="3672688" cy="347472"/>
          </a:xfrm>
          <a:prstGeom prst="rect">
            <a:avLst/>
          </a:prstGeom>
          <a:noFill/>
          <a:ln/>
        </p:spPr>
        <p:txBody>
          <a:bodyPr wrap="square" rtlCol="0" anchor="ctr"/>
          <a:lstStyle/>
          <a:p>
            <a:pPr indent="0" marL="0">
              <a:buNone/>
            </a:pPr>
            <a:r>
              <a:rPr lang="en-US" sz="1250" dirty="0">
                <a:solidFill>
                  <a:srgbClr val="1A1F26"/>
                </a:solidFill>
                <a:latin typeface="Calibri" pitchFamily="34" charset="0"/>
                <a:ea typeface="Calibri" pitchFamily="34" charset="-122"/>
                <a:cs typeface="Calibri" pitchFamily="34" charset="-120"/>
              </a:rPr>
              <a:t>Freelance reporter-list / pitch help</a:t>
            </a:r>
            <a:endParaRPr lang="en-US" sz="1250" dirty="0"/>
          </a:p>
        </p:txBody>
      </p:sp>
      <p:sp>
        <p:nvSpPr>
          <p:cNvPr id="31" name="Text 29"/>
          <p:cNvSpPr/>
          <p:nvPr/>
        </p:nvSpPr>
        <p:spPr>
          <a:xfrm>
            <a:off x="10134295" y="5056632"/>
            <a:ext cx="1188720" cy="347472"/>
          </a:xfrm>
          <a:prstGeom prst="rect">
            <a:avLst/>
          </a:prstGeom>
          <a:noFill/>
          <a:ln/>
        </p:spPr>
        <p:txBody>
          <a:bodyPr wrap="square" rtlCol="0" anchor="ctr"/>
          <a:lstStyle/>
          <a:p>
            <a:pPr algn="r" indent="0" marL="0">
              <a:buNone/>
            </a:pPr>
            <a:r>
              <a:rPr lang="en-US" sz="1250" b="1" dirty="0">
                <a:solidFill>
                  <a:srgbClr val="0C2A43"/>
                </a:solidFill>
                <a:latin typeface="Calibri" pitchFamily="34" charset="0"/>
                <a:ea typeface="Calibri" pitchFamily="34" charset="-122"/>
                <a:cs typeface="Calibri" pitchFamily="34" charset="-120"/>
              </a:rPr>
              <a:t>$500–$1,500</a:t>
            </a:r>
            <a:endParaRPr lang="en-US" sz="1250" dirty="0"/>
          </a:p>
        </p:txBody>
      </p:sp>
      <p:sp>
        <p:nvSpPr>
          <p:cNvPr id="32" name="Text 30"/>
          <p:cNvSpPr/>
          <p:nvPr/>
        </p:nvSpPr>
        <p:spPr>
          <a:xfrm>
            <a:off x="6507328" y="5312664"/>
            <a:ext cx="4815688" cy="320040"/>
          </a:xfrm>
          <a:prstGeom prst="rect">
            <a:avLst/>
          </a:prstGeom>
          <a:noFill/>
          <a:ln/>
        </p:spPr>
        <p:txBody>
          <a:bodyPr wrap="square" rtlCol="0" anchor="ctr"/>
          <a:lstStyle/>
          <a:p>
            <a:pPr indent="0" marL="0">
              <a:buNone/>
            </a:pPr>
            <a:r>
              <a:rPr lang="en-US" sz="1150" i="1" dirty="0">
                <a:solidFill>
                  <a:srgbClr val="5C6672"/>
                </a:solidFill>
                <a:latin typeface="Calibri" pitchFamily="34" charset="0"/>
                <a:ea typeface="Calibri" pitchFamily="34" charset="-122"/>
                <a:cs typeface="Calibri" pitchFamily="34" charset="-120"/>
              </a:rPr>
              <a:t>Only if the CEO wants the big-name wire on the launch.</a:t>
            </a:r>
            <a:endParaRPr lang="en-US" sz="1150" dirty="0"/>
          </a:p>
        </p:txBody>
      </p:sp>
      <p:sp>
        <p:nvSpPr>
          <p:cNvPr id="33" name="Text 31"/>
          <p:cNvSpPr/>
          <p:nvPr/>
        </p:nvSpPr>
        <p:spPr>
          <a:xfrm>
            <a:off x="640080" y="5897880"/>
            <a:ext cx="10911535" cy="457200"/>
          </a:xfrm>
          <a:prstGeom prst="rect">
            <a:avLst/>
          </a:prstGeom>
          <a:noFill/>
          <a:ln/>
        </p:spPr>
        <p:txBody>
          <a:bodyPr wrap="square" rtlCol="0" anchor="ctr"/>
          <a:lstStyle/>
          <a:p>
            <a:pPr indent="0" marL="0">
              <a:lnSpc>
                <a:spcPct val="110000"/>
              </a:lnSpc>
              <a:buNone/>
            </a:pPr>
            <a:r>
              <a:rPr lang="en-US" sz="1350" b="1" dirty="0">
                <a:solidFill>
                  <a:srgbClr val="0C2A43"/>
                </a:solidFill>
                <a:latin typeface="Calibri" pitchFamily="34" charset="0"/>
                <a:ea typeface="Calibri" pitchFamily="34" charset="-122"/>
                <a:cs typeface="Calibri" pitchFamily="34" charset="-120"/>
              </a:rPr>
              <a:t>Bottom line: a serious four-wave launch is realistic for under $700. Spending more buys credibility and saves time — it does not buy certainty.</a:t>
            </a:r>
            <a:endParaRPr lang="en-US" sz="1350" dirty="0"/>
          </a:p>
        </p:txBody>
      </p:sp>
      <p:sp>
        <p:nvSpPr>
          <p:cNvPr id="34" name="Text 32"/>
          <p:cNvSpPr/>
          <p:nvPr/>
        </p:nvSpPr>
        <p:spPr>
          <a:xfrm>
            <a:off x="640080" y="6473952"/>
            <a:ext cx="10911535" cy="274320"/>
          </a:xfrm>
          <a:prstGeom prst="rect">
            <a:avLst/>
          </a:prstGeom>
          <a:noFill/>
          <a:ln/>
        </p:spPr>
        <p:txBody>
          <a:bodyPr wrap="square" rtlCol="0" anchor="ctr"/>
          <a:lstStyle/>
          <a:p>
            <a:pPr algn="l" indent="0" marL="0">
              <a:buNone/>
            </a:pPr>
            <a:r>
              <a:rPr lang="en-US" sz="800" dirty="0">
                <a:solidFill>
                  <a:srgbClr val="5C6672"/>
                </a:solidFill>
                <a:latin typeface="Calibri" pitchFamily="34" charset="0"/>
                <a:ea typeface="Calibri" pitchFamily="34" charset="-122"/>
                <a:cs typeface="Calibri" pitchFamily="34" charset="-120"/>
              </a:rPr>
              <a:t>Source: </a:t>
            </a:r>
            <a:pPr algn="l" indent="0" marL="0">
              <a:buNone/>
            </a:pPr>
            <a:r>
              <a:rPr lang="en-US" sz="800" u="sng" dirty="0">
                <a:solidFill>
                  <a:srgbClr val="5C667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Pressonify pricing 2026</a:t>
            </a:r>
            <a:endParaRPr lang="en-US" sz="800" dirty="0"/>
          </a:p>
        </p:txBody>
      </p:sp>
      <p:sp>
        <p:nvSpPr>
          <p:cNvPr id="35" name="Text 33"/>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768096"/>
            <a:ext cx="10911535" cy="731520"/>
          </a:xfrm>
          <a:prstGeom prst="rect">
            <a:avLst/>
          </a:prstGeom>
          <a:noFill/>
          <a:ln/>
        </p:spPr>
        <p:txBody>
          <a:bodyPr wrap="square" rtlCol="0" anchor="ctr"/>
          <a:lstStyle/>
          <a:p>
            <a:pPr indent="0" marL="0">
              <a:lnSpc>
                <a:spcPct val="100000"/>
              </a:lnSpc>
              <a:buNone/>
            </a:pPr>
            <a:r>
              <a:rPr lang="en-US" sz="2900" b="1" dirty="0">
                <a:solidFill>
                  <a:srgbClr val="0C2A43"/>
                </a:solidFill>
                <a:latin typeface="Cambria" pitchFamily="34" charset="0"/>
                <a:ea typeface="Cambria" pitchFamily="34" charset="-122"/>
                <a:cs typeface="Cambria" pitchFamily="34" charset="-120"/>
              </a:rPr>
              <a:t>The odds: guaranteed, likely, possible, long shot</a:t>
            </a:r>
            <a:endParaRPr lang="en-US" sz="2900" dirty="0"/>
          </a:p>
        </p:txBody>
      </p:sp>
      <p:sp>
        <p:nvSpPr>
          <p:cNvPr id="3" name="Text 1"/>
          <p:cNvSpPr/>
          <p:nvPr/>
        </p:nvSpPr>
        <p:spPr>
          <a:xfrm>
            <a:off x="640080" y="457200"/>
            <a:ext cx="10911535" cy="292608"/>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THE PLAN</a:t>
            </a:r>
            <a:pPr indent="0" marL="0">
              <a:buNone/>
            </a:pPr>
            <a:r>
              <a:rPr lang="en-US" sz="1300" b="1" spc="200" kern="0" dirty="0">
                <a:solidFill>
                  <a:srgbClr val="5C6672"/>
                </a:solidFill>
                <a:latin typeface="Calibri" pitchFamily="34" charset="0"/>
                <a:ea typeface="Calibri" pitchFamily="34" charset="-122"/>
                <a:cs typeface="Calibri" pitchFamily="34" charset="-120"/>
              </a:rPr>
              <a:t>   ·   5 OF 6</a:t>
            </a:r>
            <a:endParaRPr lang="en-US" sz="1300" dirty="0"/>
          </a:p>
        </p:txBody>
      </p:sp>
      <p:sp>
        <p:nvSpPr>
          <p:cNvPr id="4" name="Text 2"/>
          <p:cNvSpPr/>
          <p:nvPr/>
        </p:nvSpPr>
        <p:spPr>
          <a:xfrm>
            <a:off x="640080" y="1572768"/>
            <a:ext cx="10911535" cy="457200"/>
          </a:xfrm>
          <a:prstGeom prst="rect">
            <a:avLst/>
          </a:prstGeom>
          <a:noFill/>
          <a:ln/>
        </p:spPr>
        <p:txBody>
          <a:bodyPr wrap="square" rtlCol="0" anchor="t"/>
          <a:lstStyle/>
          <a:p>
            <a:pPr indent="0" marL="0">
              <a:lnSpc>
                <a:spcPct val="115000"/>
              </a:lnSpc>
              <a:buNone/>
            </a:pPr>
            <a:r>
              <a:rPr lang="en-US" sz="1500" b="1" dirty="0">
                <a:solidFill>
                  <a:srgbClr val="C08A2E"/>
                </a:solidFill>
                <a:latin typeface="Calibri" pitchFamily="34" charset="0"/>
                <a:ea typeface="Calibri" pitchFamily="34" charset="-122"/>
                <a:cs typeface="Calibri" pitchFamily="34" charset="-120"/>
              </a:rPr>
              <a:t>IN PLAIN TERMS:  </a:t>
            </a:r>
            <a:pPr indent="0" marL="0">
              <a:lnSpc>
                <a:spcPct val="115000"/>
              </a:lnSpc>
              <a:buNone/>
            </a:pPr>
            <a:r>
              <a:rPr lang="en-US" sz="1500" dirty="0">
                <a:solidFill>
                  <a:srgbClr val="1A1F26"/>
                </a:solidFill>
                <a:latin typeface="Calibri" pitchFamily="34" charset="0"/>
                <a:ea typeface="Calibri" pitchFamily="34" charset="-122"/>
                <a:cs typeface="Calibri" pitchFamily="34" charset="-120"/>
              </a:rPr>
              <a:t>What this plan will realistically deliver — stated honestly, no hype.</a:t>
            </a:r>
            <a:endParaRPr lang="en-US" sz="1500" dirty="0"/>
          </a:p>
        </p:txBody>
      </p:sp>
      <p:sp>
        <p:nvSpPr>
          <p:cNvPr id="5" name="Shape 3"/>
          <p:cNvSpPr/>
          <p:nvPr/>
        </p:nvSpPr>
        <p:spPr>
          <a:xfrm>
            <a:off x="640080" y="2212848"/>
            <a:ext cx="10911535" cy="822960"/>
          </a:xfrm>
          <a:prstGeom prst="roundRect">
            <a:avLst>
              <a:gd name="adj" fmla="val 5556"/>
            </a:avLst>
          </a:prstGeom>
          <a:solidFill>
            <a:srgbClr val="FFFFFF"/>
          </a:solidFill>
          <a:ln w="12700">
            <a:solidFill>
              <a:srgbClr val="D9DDE2"/>
            </a:solidFill>
            <a:prstDash val="solid"/>
          </a:ln>
        </p:spPr>
      </p:sp>
      <p:sp>
        <p:nvSpPr>
          <p:cNvPr id="6" name="Shape 4"/>
          <p:cNvSpPr/>
          <p:nvPr/>
        </p:nvSpPr>
        <p:spPr>
          <a:xfrm>
            <a:off x="640080" y="2212848"/>
            <a:ext cx="1783080" cy="822960"/>
          </a:xfrm>
          <a:prstGeom prst="roundRect">
            <a:avLst>
              <a:gd name="adj" fmla="val 5556"/>
            </a:avLst>
          </a:prstGeom>
          <a:solidFill>
            <a:srgbClr val="437A22"/>
          </a:solidFill>
          <a:ln/>
        </p:spPr>
      </p:sp>
      <p:sp>
        <p:nvSpPr>
          <p:cNvPr id="7" name="Text 5"/>
          <p:cNvSpPr/>
          <p:nvPr/>
        </p:nvSpPr>
        <p:spPr>
          <a:xfrm>
            <a:off x="640080" y="2212848"/>
            <a:ext cx="1783080" cy="822960"/>
          </a:xfrm>
          <a:prstGeom prst="rect">
            <a:avLst/>
          </a:prstGeom>
          <a:noFill/>
          <a:ln/>
        </p:spPr>
        <p:txBody>
          <a:bodyPr wrap="square"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GUARANTEED</a:t>
            </a:r>
            <a:endParaRPr lang="en-US" sz="1400" dirty="0"/>
          </a:p>
        </p:txBody>
      </p:sp>
      <p:sp>
        <p:nvSpPr>
          <p:cNvPr id="8" name="Text 6"/>
          <p:cNvSpPr/>
          <p:nvPr/>
        </p:nvSpPr>
        <p:spPr>
          <a:xfrm>
            <a:off x="2651760" y="2304288"/>
            <a:ext cx="3840480" cy="347472"/>
          </a:xfrm>
          <a:prstGeom prst="rect">
            <a:avLst/>
          </a:prstGeom>
          <a:noFill/>
          <a:ln/>
        </p:spPr>
        <p:txBody>
          <a:bodyPr wrap="square" rtlCol="0" anchor="ctr"/>
          <a:lstStyle/>
          <a:p>
            <a:pPr indent="0" marL="0">
              <a:buNone/>
            </a:pPr>
            <a:r>
              <a:rPr lang="en-US" sz="1700" b="1" dirty="0">
                <a:solidFill>
                  <a:srgbClr val="0C2A43"/>
                </a:solidFill>
                <a:latin typeface="Cambria" pitchFamily="34" charset="0"/>
                <a:ea typeface="Cambria" pitchFamily="34" charset="-122"/>
                <a:cs typeface="Cambria" pitchFamily="34" charset="-120"/>
              </a:rPr>
              <a:t>Paid wire pickup</a:t>
            </a:r>
            <a:endParaRPr lang="en-US" sz="1700" dirty="0"/>
          </a:p>
        </p:txBody>
      </p:sp>
      <p:sp>
        <p:nvSpPr>
          <p:cNvPr id="9" name="Text 7"/>
          <p:cNvSpPr/>
          <p:nvPr/>
        </p:nvSpPr>
        <p:spPr>
          <a:xfrm>
            <a:off x="2651760" y="2670048"/>
            <a:ext cx="3840480" cy="292608"/>
          </a:xfrm>
          <a:prstGeom prst="rect">
            <a:avLst/>
          </a:prstGeom>
          <a:noFill/>
          <a:ln/>
        </p:spPr>
        <p:txBody>
          <a:bodyPr wrap="square" rtlCol="0" anchor="ctr"/>
          <a:lstStyle/>
          <a:p>
            <a:pPr indent="0" marL="0">
              <a:buNone/>
            </a:pPr>
            <a:r>
              <a:rPr lang="en-US" sz="1350" b="1" dirty="0">
                <a:solidFill>
                  <a:srgbClr val="437A22"/>
                </a:solidFill>
                <a:latin typeface="Calibri" pitchFamily="34" charset="0"/>
                <a:ea typeface="Calibri" pitchFamily="34" charset="-122"/>
                <a:cs typeface="Calibri" pitchFamily="34" charset="-120"/>
              </a:rPr>
              <a:t>100%</a:t>
            </a:r>
            <a:endParaRPr lang="en-US" sz="1350" dirty="0"/>
          </a:p>
        </p:txBody>
      </p:sp>
      <p:sp>
        <p:nvSpPr>
          <p:cNvPr id="10" name="Text 8"/>
          <p:cNvSpPr/>
          <p:nvPr/>
        </p:nvSpPr>
        <p:spPr>
          <a:xfrm>
            <a:off x="6675120" y="2286000"/>
            <a:ext cx="4693615" cy="713232"/>
          </a:xfrm>
          <a:prstGeom prst="rect">
            <a:avLst/>
          </a:prstGeom>
          <a:noFill/>
          <a:ln/>
        </p:spPr>
        <p:txBody>
          <a:bodyPr wrap="square" rtlCol="0" anchor="ctr"/>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Every wave appears on the wire + auto-syndications (AP News, Google News). We control this.</a:t>
            </a:r>
            <a:endParaRPr lang="en-US" sz="1200" dirty="0"/>
          </a:p>
        </p:txBody>
      </p:sp>
      <p:sp>
        <p:nvSpPr>
          <p:cNvPr id="11" name="Shape 9"/>
          <p:cNvSpPr/>
          <p:nvPr/>
        </p:nvSpPr>
        <p:spPr>
          <a:xfrm>
            <a:off x="640080" y="3145536"/>
            <a:ext cx="10911535" cy="822960"/>
          </a:xfrm>
          <a:prstGeom prst="roundRect">
            <a:avLst>
              <a:gd name="adj" fmla="val 5556"/>
            </a:avLst>
          </a:prstGeom>
          <a:solidFill>
            <a:srgbClr val="FFFFFF"/>
          </a:solidFill>
          <a:ln w="12700">
            <a:solidFill>
              <a:srgbClr val="D9DDE2"/>
            </a:solidFill>
            <a:prstDash val="solid"/>
          </a:ln>
        </p:spPr>
      </p:sp>
      <p:sp>
        <p:nvSpPr>
          <p:cNvPr id="12" name="Shape 10"/>
          <p:cNvSpPr/>
          <p:nvPr/>
        </p:nvSpPr>
        <p:spPr>
          <a:xfrm>
            <a:off x="640080" y="3145536"/>
            <a:ext cx="1783080" cy="822960"/>
          </a:xfrm>
          <a:prstGeom prst="roundRect">
            <a:avLst>
              <a:gd name="adj" fmla="val 5556"/>
            </a:avLst>
          </a:prstGeom>
          <a:solidFill>
            <a:srgbClr val="437A22"/>
          </a:solidFill>
          <a:ln/>
        </p:spPr>
      </p:sp>
      <p:sp>
        <p:nvSpPr>
          <p:cNvPr id="13" name="Text 11"/>
          <p:cNvSpPr/>
          <p:nvPr/>
        </p:nvSpPr>
        <p:spPr>
          <a:xfrm>
            <a:off x="640080" y="3145536"/>
            <a:ext cx="1783080" cy="822960"/>
          </a:xfrm>
          <a:prstGeom prst="rect">
            <a:avLst/>
          </a:prstGeom>
          <a:noFill/>
          <a:ln/>
        </p:spPr>
        <p:txBody>
          <a:bodyPr wrap="square"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LIKELY</a:t>
            </a:r>
            <a:endParaRPr lang="en-US" sz="1400" dirty="0"/>
          </a:p>
        </p:txBody>
      </p:sp>
      <p:sp>
        <p:nvSpPr>
          <p:cNvPr id="14" name="Text 12"/>
          <p:cNvSpPr/>
          <p:nvPr/>
        </p:nvSpPr>
        <p:spPr>
          <a:xfrm>
            <a:off x="2651760" y="3236976"/>
            <a:ext cx="3840480" cy="347472"/>
          </a:xfrm>
          <a:prstGeom prst="rect">
            <a:avLst/>
          </a:prstGeom>
          <a:noFill/>
          <a:ln/>
        </p:spPr>
        <p:txBody>
          <a:bodyPr wrap="square" rtlCol="0" anchor="ctr"/>
          <a:lstStyle/>
          <a:p>
            <a:pPr indent="0" marL="0">
              <a:buNone/>
            </a:pPr>
            <a:r>
              <a:rPr lang="en-US" sz="1700" b="1" dirty="0">
                <a:solidFill>
                  <a:srgbClr val="0C2A43"/>
                </a:solidFill>
                <a:latin typeface="Cambria" pitchFamily="34" charset="0"/>
                <a:ea typeface="Cambria" pitchFamily="34" charset="-122"/>
                <a:cs typeface="Cambria" pitchFamily="34" charset="-120"/>
              </a:rPr>
              <a:t>A few earned pickups</a:t>
            </a:r>
            <a:endParaRPr lang="en-US" sz="1700" dirty="0"/>
          </a:p>
        </p:txBody>
      </p:sp>
      <p:sp>
        <p:nvSpPr>
          <p:cNvPr id="15" name="Text 13"/>
          <p:cNvSpPr/>
          <p:nvPr/>
        </p:nvSpPr>
        <p:spPr>
          <a:xfrm>
            <a:off x="2651760" y="3602736"/>
            <a:ext cx="3840480" cy="292608"/>
          </a:xfrm>
          <a:prstGeom prst="rect">
            <a:avLst/>
          </a:prstGeom>
          <a:noFill/>
          <a:ln/>
        </p:spPr>
        <p:txBody>
          <a:bodyPr wrap="square" rtlCol="0" anchor="ctr"/>
          <a:lstStyle/>
          <a:p>
            <a:pPr indent="0" marL="0">
              <a:buNone/>
            </a:pPr>
            <a:r>
              <a:rPr lang="en-US" sz="1350" b="1" dirty="0">
                <a:solidFill>
                  <a:srgbClr val="437A22"/>
                </a:solidFill>
                <a:latin typeface="Calibri" pitchFamily="34" charset="0"/>
                <a:ea typeface="Calibri" pitchFamily="34" charset="-122"/>
                <a:cs typeface="Calibri" pitchFamily="34" charset="-120"/>
              </a:rPr>
              <a:t>60–80% chance of ≥3</a:t>
            </a:r>
            <a:endParaRPr lang="en-US" sz="1350" dirty="0"/>
          </a:p>
        </p:txBody>
      </p:sp>
      <p:sp>
        <p:nvSpPr>
          <p:cNvPr id="16" name="Text 14"/>
          <p:cNvSpPr/>
          <p:nvPr/>
        </p:nvSpPr>
        <p:spPr>
          <a:xfrm>
            <a:off x="6675120" y="3218688"/>
            <a:ext cx="4693615" cy="713232"/>
          </a:xfrm>
          <a:prstGeom prst="rect">
            <a:avLst/>
          </a:prstGeom>
          <a:noFill/>
          <a:ln/>
        </p:spPr>
        <p:txBody>
          <a:bodyPr wrap="square" rtlCol="0" anchor="ctr"/>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Across 8 weeks, with two strong hooks, expect 3–6 real earned stories — mostly US health/consumer + Israeli business.</a:t>
            </a:r>
            <a:endParaRPr lang="en-US" sz="1200" dirty="0"/>
          </a:p>
        </p:txBody>
      </p:sp>
      <p:sp>
        <p:nvSpPr>
          <p:cNvPr id="17" name="Shape 15"/>
          <p:cNvSpPr/>
          <p:nvPr/>
        </p:nvSpPr>
        <p:spPr>
          <a:xfrm>
            <a:off x="640080" y="4078224"/>
            <a:ext cx="10911535" cy="822960"/>
          </a:xfrm>
          <a:prstGeom prst="roundRect">
            <a:avLst>
              <a:gd name="adj" fmla="val 5556"/>
            </a:avLst>
          </a:prstGeom>
          <a:solidFill>
            <a:srgbClr val="FFFFFF"/>
          </a:solidFill>
          <a:ln w="12700">
            <a:solidFill>
              <a:srgbClr val="D9DDE2"/>
            </a:solidFill>
            <a:prstDash val="solid"/>
          </a:ln>
        </p:spPr>
      </p:sp>
      <p:sp>
        <p:nvSpPr>
          <p:cNvPr id="18" name="Shape 16"/>
          <p:cNvSpPr/>
          <p:nvPr/>
        </p:nvSpPr>
        <p:spPr>
          <a:xfrm>
            <a:off x="640080" y="4078224"/>
            <a:ext cx="1783080" cy="822960"/>
          </a:xfrm>
          <a:prstGeom prst="roundRect">
            <a:avLst>
              <a:gd name="adj" fmla="val 5556"/>
            </a:avLst>
          </a:prstGeom>
          <a:solidFill>
            <a:srgbClr val="B07A16"/>
          </a:solidFill>
          <a:ln/>
        </p:spPr>
      </p:sp>
      <p:sp>
        <p:nvSpPr>
          <p:cNvPr id="19" name="Text 17"/>
          <p:cNvSpPr/>
          <p:nvPr/>
        </p:nvSpPr>
        <p:spPr>
          <a:xfrm>
            <a:off x="640080" y="4078224"/>
            <a:ext cx="1783080" cy="822960"/>
          </a:xfrm>
          <a:prstGeom prst="rect">
            <a:avLst/>
          </a:prstGeom>
          <a:noFill/>
          <a:ln/>
        </p:spPr>
        <p:txBody>
          <a:bodyPr wrap="square"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POSSIBLE</a:t>
            </a:r>
            <a:endParaRPr lang="en-US" sz="1400" dirty="0"/>
          </a:p>
        </p:txBody>
      </p:sp>
      <p:sp>
        <p:nvSpPr>
          <p:cNvPr id="20" name="Text 18"/>
          <p:cNvSpPr/>
          <p:nvPr/>
        </p:nvSpPr>
        <p:spPr>
          <a:xfrm>
            <a:off x="2651760" y="4169664"/>
            <a:ext cx="3840480" cy="347472"/>
          </a:xfrm>
          <a:prstGeom prst="rect">
            <a:avLst/>
          </a:prstGeom>
          <a:noFill/>
          <a:ln/>
        </p:spPr>
        <p:txBody>
          <a:bodyPr wrap="square" rtlCol="0" anchor="ctr"/>
          <a:lstStyle/>
          <a:p>
            <a:pPr indent="0" marL="0">
              <a:buNone/>
            </a:pPr>
            <a:r>
              <a:rPr lang="en-US" sz="1700" b="1" dirty="0">
                <a:solidFill>
                  <a:srgbClr val="0C2A43"/>
                </a:solidFill>
                <a:latin typeface="Cambria" pitchFamily="34" charset="0"/>
                <a:ea typeface="Cambria" pitchFamily="34" charset="-122"/>
                <a:cs typeface="Cambria" pitchFamily="34" charset="-120"/>
              </a:rPr>
              <a:t>One Tier-1 name</a:t>
            </a:r>
            <a:endParaRPr lang="en-US" sz="1700" dirty="0"/>
          </a:p>
        </p:txBody>
      </p:sp>
      <p:sp>
        <p:nvSpPr>
          <p:cNvPr id="21" name="Text 19"/>
          <p:cNvSpPr/>
          <p:nvPr/>
        </p:nvSpPr>
        <p:spPr>
          <a:xfrm>
            <a:off x="2651760" y="4535424"/>
            <a:ext cx="3840480" cy="292608"/>
          </a:xfrm>
          <a:prstGeom prst="rect">
            <a:avLst/>
          </a:prstGeom>
          <a:noFill/>
          <a:ln/>
        </p:spPr>
        <p:txBody>
          <a:bodyPr wrap="square" rtlCol="0" anchor="ctr"/>
          <a:lstStyle/>
          <a:p>
            <a:pPr indent="0" marL="0">
              <a:buNone/>
            </a:pPr>
            <a:r>
              <a:rPr lang="en-US" sz="1350" b="1" dirty="0">
                <a:solidFill>
                  <a:srgbClr val="B07A16"/>
                </a:solidFill>
                <a:latin typeface="Calibri" pitchFamily="34" charset="0"/>
                <a:ea typeface="Calibri" pitchFamily="34" charset="-122"/>
                <a:cs typeface="Calibri" pitchFamily="34" charset="-120"/>
              </a:rPr>
              <a:t>20–35%</a:t>
            </a:r>
            <a:endParaRPr lang="en-US" sz="1350" dirty="0"/>
          </a:p>
        </p:txBody>
      </p:sp>
      <p:sp>
        <p:nvSpPr>
          <p:cNvPr id="22" name="Text 20"/>
          <p:cNvSpPr/>
          <p:nvPr/>
        </p:nvSpPr>
        <p:spPr>
          <a:xfrm>
            <a:off x="6675120" y="4151376"/>
            <a:ext cx="4693615" cy="713232"/>
          </a:xfrm>
          <a:prstGeom prst="rect">
            <a:avLst/>
          </a:prstGeom>
          <a:noFill/>
          <a:ln/>
        </p:spPr>
        <p:txBody>
          <a:bodyPr wrap="square" rtlCol="0" anchor="ctr"/>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Forbes / Business Insider / a national broadcast segment. Needs the Julie hook to land — realistic but not promised.</a:t>
            </a:r>
            <a:endParaRPr lang="en-US" sz="1200" dirty="0"/>
          </a:p>
        </p:txBody>
      </p:sp>
      <p:sp>
        <p:nvSpPr>
          <p:cNvPr id="23" name="Shape 21"/>
          <p:cNvSpPr/>
          <p:nvPr/>
        </p:nvSpPr>
        <p:spPr>
          <a:xfrm>
            <a:off x="640080" y="5010912"/>
            <a:ext cx="10911535" cy="822960"/>
          </a:xfrm>
          <a:prstGeom prst="roundRect">
            <a:avLst>
              <a:gd name="adj" fmla="val 5556"/>
            </a:avLst>
          </a:prstGeom>
          <a:solidFill>
            <a:srgbClr val="FFFFFF"/>
          </a:solidFill>
          <a:ln w="12700">
            <a:solidFill>
              <a:srgbClr val="D9DDE2"/>
            </a:solidFill>
            <a:prstDash val="solid"/>
          </a:ln>
        </p:spPr>
      </p:sp>
      <p:sp>
        <p:nvSpPr>
          <p:cNvPr id="24" name="Shape 22"/>
          <p:cNvSpPr/>
          <p:nvPr/>
        </p:nvSpPr>
        <p:spPr>
          <a:xfrm>
            <a:off x="640080" y="5010912"/>
            <a:ext cx="1783080" cy="822960"/>
          </a:xfrm>
          <a:prstGeom prst="roundRect">
            <a:avLst>
              <a:gd name="adj" fmla="val 5556"/>
            </a:avLst>
          </a:prstGeom>
          <a:solidFill>
            <a:srgbClr val="8A3A2A"/>
          </a:solidFill>
          <a:ln/>
        </p:spPr>
      </p:sp>
      <p:sp>
        <p:nvSpPr>
          <p:cNvPr id="25" name="Text 23"/>
          <p:cNvSpPr/>
          <p:nvPr/>
        </p:nvSpPr>
        <p:spPr>
          <a:xfrm>
            <a:off x="640080" y="5010912"/>
            <a:ext cx="1783080" cy="822960"/>
          </a:xfrm>
          <a:prstGeom prst="rect">
            <a:avLst/>
          </a:prstGeom>
          <a:noFill/>
          <a:ln/>
        </p:spPr>
        <p:txBody>
          <a:bodyPr wrap="square"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LONG SHOT</a:t>
            </a:r>
            <a:endParaRPr lang="en-US" sz="1400" dirty="0"/>
          </a:p>
        </p:txBody>
      </p:sp>
      <p:sp>
        <p:nvSpPr>
          <p:cNvPr id="26" name="Text 24"/>
          <p:cNvSpPr/>
          <p:nvPr/>
        </p:nvSpPr>
        <p:spPr>
          <a:xfrm>
            <a:off x="2651760" y="5102352"/>
            <a:ext cx="3840480" cy="347472"/>
          </a:xfrm>
          <a:prstGeom prst="rect">
            <a:avLst/>
          </a:prstGeom>
          <a:noFill/>
          <a:ln/>
        </p:spPr>
        <p:txBody>
          <a:bodyPr wrap="square" rtlCol="0" anchor="ctr"/>
          <a:lstStyle/>
          <a:p>
            <a:pPr indent="0" marL="0">
              <a:buNone/>
            </a:pPr>
            <a:r>
              <a:rPr lang="en-US" sz="1700" b="1" dirty="0">
                <a:solidFill>
                  <a:srgbClr val="0C2A43"/>
                </a:solidFill>
                <a:latin typeface="Cambria" pitchFamily="34" charset="0"/>
                <a:ea typeface="Cambria" pitchFamily="34" charset="-122"/>
                <a:cs typeface="Cambria" pitchFamily="34" charset="-120"/>
              </a:rPr>
              <a:t>Viral / TV national</a:t>
            </a:r>
            <a:endParaRPr lang="en-US" sz="1700" dirty="0"/>
          </a:p>
        </p:txBody>
      </p:sp>
      <p:sp>
        <p:nvSpPr>
          <p:cNvPr id="27" name="Text 25"/>
          <p:cNvSpPr/>
          <p:nvPr/>
        </p:nvSpPr>
        <p:spPr>
          <a:xfrm>
            <a:off x="2651760" y="5468112"/>
            <a:ext cx="3840480" cy="292608"/>
          </a:xfrm>
          <a:prstGeom prst="rect">
            <a:avLst/>
          </a:prstGeom>
          <a:noFill/>
          <a:ln/>
        </p:spPr>
        <p:txBody>
          <a:bodyPr wrap="square" rtlCol="0" anchor="ctr"/>
          <a:lstStyle/>
          <a:p>
            <a:pPr indent="0" marL="0">
              <a:buNone/>
            </a:pPr>
            <a:r>
              <a:rPr lang="en-US" sz="1350" b="1" dirty="0">
                <a:solidFill>
                  <a:srgbClr val="8A3A2A"/>
                </a:solidFill>
                <a:latin typeface="Calibri" pitchFamily="34" charset="0"/>
                <a:ea typeface="Calibri" pitchFamily="34" charset="-122"/>
                <a:cs typeface="Calibri" pitchFamily="34" charset="-120"/>
              </a:rPr>
              <a:t>&lt;15%</a:t>
            </a:r>
            <a:endParaRPr lang="en-US" sz="1350" dirty="0"/>
          </a:p>
        </p:txBody>
      </p:sp>
      <p:sp>
        <p:nvSpPr>
          <p:cNvPr id="28" name="Text 26"/>
          <p:cNvSpPr/>
          <p:nvPr/>
        </p:nvSpPr>
        <p:spPr>
          <a:xfrm>
            <a:off x="6675120" y="5084064"/>
            <a:ext cx="4693615" cy="713232"/>
          </a:xfrm>
          <a:prstGeom prst="rect">
            <a:avLst/>
          </a:prstGeom>
          <a:noFill/>
          <a:ln/>
        </p:spPr>
        <p:txBody>
          <a:bodyPr wrap="square" rtlCol="0" anchor="ctr"/>
          <a:lstStyle/>
          <a:p>
            <a:pPr indent="0" marL="0">
              <a:lnSpc>
                <a:spcPct val="112000"/>
              </a:lnSpc>
              <a:buNone/>
            </a:pPr>
            <a:r>
              <a:rPr lang="en-US" sz="1200" dirty="0">
                <a:solidFill>
                  <a:srgbClr val="1A1F26"/>
                </a:solidFill>
                <a:latin typeface="Calibri" pitchFamily="34" charset="0"/>
                <a:ea typeface="Calibri" pitchFamily="34" charset="-122"/>
                <a:cs typeface="Calibri" pitchFamily="34" charset="-120"/>
              </a:rPr>
              <a:t>GMA / Today national booking. Great if it happens; never the plan we bank on.</a:t>
            </a:r>
            <a:endParaRPr lang="en-US" sz="1200" dirty="0"/>
          </a:p>
        </p:txBody>
      </p:sp>
      <p:sp>
        <p:nvSpPr>
          <p:cNvPr id="29" name="Text 27"/>
          <p:cNvSpPr/>
          <p:nvPr/>
        </p:nvSpPr>
        <p:spPr>
          <a:xfrm>
            <a:off x="640080" y="6053328"/>
            <a:ext cx="10911535" cy="502920"/>
          </a:xfrm>
          <a:prstGeom prst="rect">
            <a:avLst/>
          </a:prstGeom>
          <a:noFill/>
          <a:ln/>
        </p:spPr>
        <p:txBody>
          <a:bodyPr wrap="square" rtlCol="0" anchor="ctr"/>
          <a:lstStyle/>
          <a:p>
            <a:pPr indent="0" marL="0">
              <a:lnSpc>
                <a:spcPct val="110000"/>
              </a:lnSpc>
              <a:buNone/>
            </a:pPr>
            <a:r>
              <a:rPr lang="en-US" sz="1150" b="1" dirty="0">
                <a:solidFill>
                  <a:srgbClr val="0C2A43"/>
                </a:solidFill>
                <a:latin typeface="Calibri" pitchFamily="34" charset="0"/>
                <a:ea typeface="Calibri" pitchFamily="34" charset="-122"/>
                <a:cs typeface="Calibri" pitchFamily="34" charset="-120"/>
              </a:rPr>
              <a:t>We are not starting from zero:  </a:t>
            </a:r>
            <a:pPr indent="0" marL="0">
              <a:lnSpc>
                <a:spcPct val="110000"/>
              </a:lnSpc>
              <a:buNone/>
            </a:pPr>
            <a:r>
              <a:rPr lang="en-US" sz="1150" dirty="0">
                <a:solidFill>
                  <a:srgbClr val="1A1F26"/>
                </a:solidFill>
                <a:latin typeface="Calibri" pitchFamily="34" charset="0"/>
                <a:ea typeface="Calibri" pitchFamily="34" charset="-122"/>
                <a:cs typeface="Calibri" pitchFamily="34" charset="-120"/>
              </a:rPr>
              <a:t>eTeacher already has an indexed press trail (TheMarker feature Feb 2026, GlobeNewswire 2020, PR Newswire 2017) — so reporters find a real corporate history, which lifts our odds on every pitch. We bank on guaranteed + likely; anything above is upside, not the promise.</a:t>
            </a:r>
            <a:endParaRPr lang="en-US" sz="1150" dirty="0"/>
          </a:p>
        </p:txBody>
      </p:sp>
      <p:sp>
        <p:nvSpPr>
          <p:cNvPr id="30" name="Text 28"/>
          <p:cNvSpPr/>
          <p:nvPr/>
        </p:nvSpPr>
        <p:spPr>
          <a:xfrm>
            <a:off x="640080" y="6473952"/>
            <a:ext cx="10911535" cy="274320"/>
          </a:xfrm>
          <a:prstGeom prst="rect">
            <a:avLst/>
          </a:prstGeom>
          <a:noFill/>
          <a:ln/>
        </p:spPr>
        <p:txBody>
          <a:bodyPr wrap="square" rtlCol="0" anchor="ctr"/>
          <a:lstStyle/>
          <a:p>
            <a:pPr algn="l" indent="0" marL="0">
              <a:buNone/>
            </a:pPr>
            <a:r>
              <a:rPr lang="en-US" sz="800" dirty="0">
                <a:solidFill>
                  <a:srgbClr val="5C6672"/>
                </a:solidFill>
                <a:latin typeface="Calibri" pitchFamily="34" charset="0"/>
                <a:ea typeface="Calibri" pitchFamily="34" charset="-122"/>
                <a:cs typeface="Calibri" pitchFamily="34" charset="-120"/>
              </a:rPr>
              <a:t>Source: </a:t>
            </a:r>
            <a:pPr algn="l" indent="0" marL="0">
              <a:buNone/>
            </a:pPr>
            <a:r>
              <a:rPr lang="en-US" sz="800" u="sng" dirty="0">
                <a:solidFill>
                  <a:srgbClr val="5C667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TheMarker</a:t>
            </a:r>
            <a:pPr algn="l" indent="0" marL="0">
              <a:buNone/>
            </a:pPr>
            <a:r>
              <a:rPr lang="en-US" sz="800" dirty="0">
                <a:solidFill>
                  <a:srgbClr val="9AA4AF"/>
                </a:solidFill>
                <a:latin typeface="Calibri" pitchFamily="34" charset="0"/>
                <a:ea typeface="Calibri" pitchFamily="34" charset="-122"/>
                <a:cs typeface="Calibri" pitchFamily="34" charset="-120"/>
              </a:rPr>
              <a:t>  ·  </a:t>
            </a:r>
            <a:pPr algn="l" indent="0" marL="0">
              <a:buNone/>
            </a:pPr>
            <a:r>
              <a:rPr lang="en-US" sz="800" u="sng" dirty="0">
                <a:solidFill>
                  <a:srgbClr val="5C667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GlobeNewswire</a:t>
            </a:r>
            <a:endParaRPr lang="en-US" sz="800" dirty="0"/>
          </a:p>
        </p:txBody>
      </p:sp>
      <p:sp>
        <p:nvSpPr>
          <p:cNvPr id="31" name="Text 29"/>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08A2E"/>
          </a:solidFill>
          <a:ln/>
        </p:spPr>
      </p:sp>
      <p:sp>
        <p:nvSpPr>
          <p:cNvPr id="3" name="Text 1"/>
          <p:cNvSpPr/>
          <p:nvPr/>
        </p:nvSpPr>
        <p:spPr>
          <a:xfrm>
            <a:off x="640080" y="621792"/>
            <a:ext cx="10911535"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THE PLAN</a:t>
            </a:r>
            <a:pPr indent="0" marL="0">
              <a:buNone/>
            </a:pPr>
            <a:r>
              <a:rPr lang="en-US" sz="1300" b="1" spc="200" kern="0" dirty="0">
                <a:solidFill>
                  <a:srgbClr val="9AA4AF"/>
                </a:solidFill>
                <a:latin typeface="Calibri" pitchFamily="34" charset="0"/>
                <a:ea typeface="Calibri" pitchFamily="34" charset="-122"/>
                <a:cs typeface="Calibri" pitchFamily="34" charset="-120"/>
              </a:rPr>
              <a:t>   ·   6 OF 6   ·   DO THIS WEEK</a:t>
            </a:r>
            <a:endParaRPr lang="en-US" sz="1300" dirty="0"/>
          </a:p>
        </p:txBody>
      </p:sp>
      <p:sp>
        <p:nvSpPr>
          <p:cNvPr id="4" name="Text 2"/>
          <p:cNvSpPr/>
          <p:nvPr/>
        </p:nvSpPr>
        <p:spPr>
          <a:xfrm>
            <a:off x="640080" y="1060704"/>
            <a:ext cx="10911535"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7 things to finish before Wave 1 goes live</a:t>
            </a:r>
            <a:endParaRPr lang="en-US" sz="3000" dirty="0"/>
          </a:p>
        </p:txBody>
      </p:sp>
      <p:sp>
        <p:nvSpPr>
          <p:cNvPr id="5" name="Shape 3"/>
          <p:cNvSpPr/>
          <p:nvPr/>
        </p:nvSpPr>
        <p:spPr>
          <a:xfrm>
            <a:off x="640080" y="2148840"/>
            <a:ext cx="493776" cy="493776"/>
          </a:xfrm>
          <a:prstGeom prst="ellipse">
            <a:avLst/>
          </a:prstGeom>
          <a:solidFill>
            <a:srgbClr val="C08A2E"/>
          </a:solidFill>
          <a:ln/>
        </p:spPr>
      </p:sp>
      <p:sp>
        <p:nvSpPr>
          <p:cNvPr id="6" name="Text 4"/>
          <p:cNvSpPr/>
          <p:nvPr/>
        </p:nvSpPr>
        <p:spPr>
          <a:xfrm>
            <a:off x="640080" y="2148840"/>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316736" y="2057400"/>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Get quotes approved</a:t>
            </a:r>
            <a:endParaRPr lang="en-US" sz="1600" dirty="0"/>
          </a:p>
        </p:txBody>
      </p:sp>
      <p:sp>
        <p:nvSpPr>
          <p:cNvPr id="8" name="Text 6"/>
          <p:cNvSpPr/>
          <p:nvPr/>
        </p:nvSpPr>
        <p:spPr>
          <a:xfrm>
            <a:off x="1316736" y="2414016"/>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Harel signs off on his quotes (verbatim + one flagged new line each). This is the only true blocker.</a:t>
            </a:r>
            <a:endParaRPr lang="en-US" sz="1200" dirty="0"/>
          </a:p>
        </p:txBody>
      </p:sp>
      <p:sp>
        <p:nvSpPr>
          <p:cNvPr id="9" name="Shape 7"/>
          <p:cNvSpPr/>
          <p:nvPr/>
        </p:nvSpPr>
        <p:spPr>
          <a:xfrm>
            <a:off x="640080" y="3209544"/>
            <a:ext cx="493776" cy="493776"/>
          </a:xfrm>
          <a:prstGeom prst="ellipse">
            <a:avLst/>
          </a:prstGeom>
          <a:solidFill>
            <a:srgbClr val="C08A2E"/>
          </a:solidFill>
          <a:ln/>
        </p:spPr>
      </p:sp>
      <p:sp>
        <p:nvSpPr>
          <p:cNvPr id="10" name="Text 8"/>
          <p:cNvSpPr/>
          <p:nvPr/>
        </p:nvSpPr>
        <p:spPr>
          <a:xfrm>
            <a:off x="640080" y="3209544"/>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316736" y="3118104"/>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Open the free accounts</a:t>
            </a:r>
            <a:endParaRPr lang="en-US" sz="1600" dirty="0"/>
          </a:p>
        </p:txBody>
      </p:sp>
      <p:sp>
        <p:nvSpPr>
          <p:cNvPr id="12" name="Text 10"/>
          <p:cNvSpPr/>
          <p:nvPr/>
        </p:nvSpPr>
        <p:spPr>
          <a:xfrm>
            <a:off x="1316736" y="3474720"/>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Sign up for the free reporter-request services (Source of Sources, Qwoted). Set up X columns for the reporter hashtags.</a:t>
            </a:r>
            <a:endParaRPr lang="en-US" sz="1200" dirty="0"/>
          </a:p>
        </p:txBody>
      </p:sp>
      <p:sp>
        <p:nvSpPr>
          <p:cNvPr id="13" name="Shape 11"/>
          <p:cNvSpPr/>
          <p:nvPr/>
        </p:nvSpPr>
        <p:spPr>
          <a:xfrm>
            <a:off x="640080" y="4270248"/>
            <a:ext cx="493776" cy="493776"/>
          </a:xfrm>
          <a:prstGeom prst="ellipse">
            <a:avLst/>
          </a:prstGeom>
          <a:solidFill>
            <a:srgbClr val="C08A2E"/>
          </a:solidFill>
          <a:ln/>
        </p:spPr>
      </p:sp>
      <p:sp>
        <p:nvSpPr>
          <p:cNvPr id="14" name="Text 12"/>
          <p:cNvSpPr/>
          <p:nvPr/>
        </p:nvSpPr>
        <p:spPr>
          <a:xfrm>
            <a:off x="640080" y="4270248"/>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316736" y="4178808"/>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Buy the wire</a:t>
            </a:r>
            <a:endParaRPr lang="en-US" sz="1600" dirty="0"/>
          </a:p>
        </p:txBody>
      </p:sp>
      <p:sp>
        <p:nvSpPr>
          <p:cNvPr id="16" name="Text 14"/>
          <p:cNvSpPr/>
          <p:nvPr/>
        </p:nvSpPr>
        <p:spPr>
          <a:xfrm>
            <a:off x="1316736" y="4535424"/>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Purchase the EIN Presswire 5-pack (~$399). One decision, covers all four waves.</a:t>
            </a:r>
            <a:endParaRPr lang="en-US" sz="1200" dirty="0"/>
          </a:p>
        </p:txBody>
      </p:sp>
      <p:sp>
        <p:nvSpPr>
          <p:cNvPr id="17" name="Shape 15"/>
          <p:cNvSpPr/>
          <p:nvPr/>
        </p:nvSpPr>
        <p:spPr>
          <a:xfrm>
            <a:off x="640080" y="5330952"/>
            <a:ext cx="493776" cy="493776"/>
          </a:xfrm>
          <a:prstGeom prst="ellipse">
            <a:avLst/>
          </a:prstGeom>
          <a:solidFill>
            <a:srgbClr val="C08A2E"/>
          </a:solidFill>
          <a:ln/>
        </p:spPr>
      </p:sp>
      <p:sp>
        <p:nvSpPr>
          <p:cNvPr id="18" name="Text 16"/>
          <p:cNvSpPr/>
          <p:nvPr/>
        </p:nvSpPr>
        <p:spPr>
          <a:xfrm>
            <a:off x="640080" y="5330952"/>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1316736" y="5239512"/>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Build the reporter list</a:t>
            </a:r>
            <a:endParaRPr lang="en-US" sz="1600" dirty="0"/>
          </a:p>
        </p:txBody>
      </p:sp>
      <p:sp>
        <p:nvSpPr>
          <p:cNvPr id="20" name="Text 18"/>
          <p:cNvSpPr/>
          <p:nvPr/>
        </p:nvSpPr>
        <p:spPr>
          <a:xfrm>
            <a:off x="1316736" y="5596128"/>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20–30 named journalists who already cover longevity, EdTech, or wellness — US + Israel. Store in a Google Sheet.</a:t>
            </a:r>
            <a:endParaRPr lang="en-US" sz="1200" dirty="0"/>
          </a:p>
        </p:txBody>
      </p:sp>
      <p:sp>
        <p:nvSpPr>
          <p:cNvPr id="21" name="Shape 19"/>
          <p:cNvSpPr/>
          <p:nvPr/>
        </p:nvSpPr>
        <p:spPr>
          <a:xfrm>
            <a:off x="6278728" y="2148840"/>
            <a:ext cx="493776" cy="493776"/>
          </a:xfrm>
          <a:prstGeom prst="ellipse">
            <a:avLst/>
          </a:prstGeom>
          <a:solidFill>
            <a:srgbClr val="C08A2E"/>
          </a:solidFill>
          <a:ln/>
        </p:spPr>
      </p:sp>
      <p:sp>
        <p:nvSpPr>
          <p:cNvPr id="22" name="Text 20"/>
          <p:cNvSpPr/>
          <p:nvPr/>
        </p:nvSpPr>
        <p:spPr>
          <a:xfrm>
            <a:off x="6278728" y="2148840"/>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5</a:t>
            </a:r>
            <a:endParaRPr lang="en-US" sz="2000" dirty="0"/>
          </a:p>
        </p:txBody>
      </p:sp>
      <p:sp>
        <p:nvSpPr>
          <p:cNvPr id="23" name="Text 21"/>
          <p:cNvSpPr/>
          <p:nvPr/>
        </p:nvSpPr>
        <p:spPr>
          <a:xfrm>
            <a:off x="6955384" y="2057400"/>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Finalize the press kit</a:t>
            </a:r>
            <a:endParaRPr lang="en-US" sz="1600" dirty="0"/>
          </a:p>
        </p:txBody>
      </p:sp>
      <p:sp>
        <p:nvSpPr>
          <p:cNvPr id="24" name="Text 22"/>
          <p:cNvSpPr/>
          <p:nvPr/>
        </p:nvSpPr>
        <p:spPr>
          <a:xfrm>
            <a:off x="6955384" y="2414016"/>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Logo, Harel + Julie headshots, 150-word bios, LLA fact sheet, and the live press contact (replace the placeholder).</a:t>
            </a:r>
            <a:endParaRPr lang="en-US" sz="1200" dirty="0"/>
          </a:p>
        </p:txBody>
      </p:sp>
      <p:sp>
        <p:nvSpPr>
          <p:cNvPr id="25" name="Shape 23"/>
          <p:cNvSpPr/>
          <p:nvPr/>
        </p:nvSpPr>
        <p:spPr>
          <a:xfrm>
            <a:off x="6278728" y="3209544"/>
            <a:ext cx="493776" cy="493776"/>
          </a:xfrm>
          <a:prstGeom prst="ellipse">
            <a:avLst/>
          </a:prstGeom>
          <a:solidFill>
            <a:srgbClr val="C08A2E"/>
          </a:solidFill>
          <a:ln/>
        </p:spPr>
      </p:sp>
      <p:sp>
        <p:nvSpPr>
          <p:cNvPr id="26" name="Text 24"/>
          <p:cNvSpPr/>
          <p:nvPr/>
        </p:nvSpPr>
        <p:spPr>
          <a:xfrm>
            <a:off x="6278728" y="3209544"/>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6</a:t>
            </a:r>
            <a:endParaRPr lang="en-US" sz="2000" dirty="0"/>
          </a:p>
        </p:txBody>
      </p:sp>
      <p:sp>
        <p:nvSpPr>
          <p:cNvPr id="27" name="Text 25"/>
          <p:cNvSpPr/>
          <p:nvPr/>
        </p:nvSpPr>
        <p:spPr>
          <a:xfrm>
            <a:off x="6955384" y="3118104"/>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Confirm Julie</a:t>
            </a:r>
            <a:endParaRPr lang="en-US" sz="1600" dirty="0"/>
          </a:p>
        </p:txBody>
      </p:sp>
      <p:sp>
        <p:nvSpPr>
          <p:cNvPr id="28" name="Text 26"/>
          <p:cNvSpPr/>
          <p:nvPr/>
        </p:nvSpPr>
        <p:spPr>
          <a:xfrm>
            <a:off x="6955384" y="3474720"/>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Lock her instructor title + agreement and approve her quotes before Wave 2.</a:t>
            </a:r>
            <a:endParaRPr lang="en-US" sz="1200" dirty="0"/>
          </a:p>
        </p:txBody>
      </p:sp>
      <p:sp>
        <p:nvSpPr>
          <p:cNvPr id="29" name="Shape 27"/>
          <p:cNvSpPr/>
          <p:nvPr/>
        </p:nvSpPr>
        <p:spPr>
          <a:xfrm>
            <a:off x="6278728" y="4270248"/>
            <a:ext cx="493776" cy="493776"/>
          </a:xfrm>
          <a:prstGeom prst="ellipse">
            <a:avLst/>
          </a:prstGeom>
          <a:solidFill>
            <a:srgbClr val="C08A2E"/>
          </a:solidFill>
          <a:ln/>
        </p:spPr>
      </p:sp>
      <p:sp>
        <p:nvSpPr>
          <p:cNvPr id="30" name="Text 28"/>
          <p:cNvSpPr/>
          <p:nvPr/>
        </p:nvSpPr>
        <p:spPr>
          <a:xfrm>
            <a:off x="6278728" y="4270248"/>
            <a:ext cx="493776" cy="493776"/>
          </a:xfrm>
          <a:prstGeom prst="rect">
            <a:avLst/>
          </a:prstGeom>
          <a:noFill/>
          <a:ln/>
        </p:spPr>
        <p:txBody>
          <a:bodyPr wrap="square" rtlCol="0" anchor="ctr"/>
          <a:lstStyle/>
          <a:p>
            <a:pPr algn="ctr" indent="0" marL="0">
              <a:buNone/>
            </a:pPr>
            <a:r>
              <a:rPr lang="en-US" sz="2000" b="1" dirty="0">
                <a:solidFill>
                  <a:srgbClr val="0C2A43"/>
                </a:solidFill>
                <a:latin typeface="Cambria" pitchFamily="34" charset="0"/>
                <a:ea typeface="Cambria" pitchFamily="34" charset="-122"/>
                <a:cs typeface="Cambria" pitchFamily="34" charset="-120"/>
              </a:rPr>
              <a:t>7</a:t>
            </a:r>
            <a:endParaRPr lang="en-US" sz="2000" dirty="0"/>
          </a:p>
        </p:txBody>
      </p:sp>
      <p:sp>
        <p:nvSpPr>
          <p:cNvPr id="31" name="Text 29"/>
          <p:cNvSpPr/>
          <p:nvPr/>
        </p:nvSpPr>
        <p:spPr>
          <a:xfrm>
            <a:off x="6955384" y="4178808"/>
            <a:ext cx="4596232" cy="347472"/>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Set the tracker</a:t>
            </a:r>
            <a:endParaRPr lang="en-US" sz="1600" dirty="0"/>
          </a:p>
        </p:txBody>
      </p:sp>
      <p:sp>
        <p:nvSpPr>
          <p:cNvPr id="32" name="Text 30"/>
          <p:cNvSpPr/>
          <p:nvPr/>
        </p:nvSpPr>
        <p:spPr>
          <a:xfrm>
            <a:off x="6955384" y="4535424"/>
            <a:ext cx="4596232" cy="658368"/>
          </a:xfrm>
          <a:prstGeom prst="rect">
            <a:avLst/>
          </a:prstGeom>
          <a:noFill/>
          <a:ln/>
        </p:spPr>
        <p:txBody>
          <a:bodyPr wrap="square" rtlCol="0" anchor="t"/>
          <a:lstStyle/>
          <a:p>
            <a:pPr indent="0" marL="0">
              <a:lnSpc>
                <a:spcPct val="112000"/>
              </a:lnSpc>
              <a:buNone/>
            </a:pPr>
            <a:r>
              <a:rPr lang="en-US" sz="1200" dirty="0">
                <a:solidFill>
                  <a:srgbClr val="C9D3DD"/>
                </a:solidFill>
                <a:latin typeface="Calibri" pitchFamily="34" charset="0"/>
                <a:ea typeface="Calibri" pitchFamily="34" charset="-122"/>
                <a:cs typeface="Calibri" pitchFamily="34" charset="-120"/>
              </a:rPr>
              <a:t>One Google Sheet: outlet, pitch date, status, link. This is your entire reporting system.</a:t>
            </a:r>
            <a:endParaRPr lang="en-US" sz="1200" dirty="0"/>
          </a:p>
        </p:txBody>
      </p:sp>
      <p:sp>
        <p:nvSpPr>
          <p:cNvPr id="33" name="Text 31"/>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C2A43"/>
          </a:solidFill>
          <a:ln/>
        </p:spPr>
      </p:sp>
      <p:sp>
        <p:nvSpPr>
          <p:cNvPr id="3" name="Text 1"/>
          <p:cNvSpPr/>
          <p:nvPr/>
        </p:nvSpPr>
        <p:spPr>
          <a:xfrm>
            <a:off x="640080" y="1965960"/>
            <a:ext cx="10911535" cy="365760"/>
          </a:xfrm>
          <a:prstGeom prst="rect">
            <a:avLst/>
          </a:prstGeom>
          <a:noFill/>
          <a:ln/>
        </p:spPr>
        <p:txBody>
          <a:bodyPr wrap="square" rtlCol="0" anchor="ctr"/>
          <a:lstStyle/>
          <a:p>
            <a:pPr indent="0" marL="0">
              <a:buNone/>
            </a:pPr>
            <a:r>
              <a:rPr lang="en-US" sz="1500" b="1" spc="400" kern="0" dirty="0">
                <a:solidFill>
                  <a:srgbClr val="C08A2E"/>
                </a:solidFill>
                <a:latin typeface="Calibri" pitchFamily="34" charset="0"/>
                <a:ea typeface="Calibri" pitchFamily="34" charset="-122"/>
                <a:cs typeface="Calibri" pitchFamily="34" charset="-120"/>
              </a:rPr>
              <a:t>CHAPTER 1 OF 4</a:t>
            </a:r>
            <a:endParaRPr lang="en-US" sz="1500" dirty="0"/>
          </a:p>
        </p:txBody>
      </p:sp>
      <p:sp>
        <p:nvSpPr>
          <p:cNvPr id="4" name="Text 2"/>
          <p:cNvSpPr/>
          <p:nvPr/>
        </p:nvSpPr>
        <p:spPr>
          <a:xfrm>
            <a:off x="640080" y="2514600"/>
            <a:ext cx="10911535" cy="1463040"/>
          </a:xfrm>
          <a:prstGeom prst="rect">
            <a:avLst/>
          </a:prstGeom>
          <a:noFill/>
          <a:ln/>
        </p:spPr>
        <p:txBody>
          <a:bodyPr wrap="square"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eTeacher Launches Longevity Life Academy</a:t>
            </a:r>
            <a:endParaRPr lang="en-US" sz="4200" dirty="0"/>
          </a:p>
        </p:txBody>
      </p:sp>
      <p:sp>
        <p:nvSpPr>
          <p:cNvPr id="5" name="Text 3"/>
          <p:cNvSpPr/>
          <p:nvPr/>
        </p:nvSpPr>
        <p:spPr>
          <a:xfrm>
            <a:off x="640080" y="4297680"/>
            <a:ext cx="10241280" cy="914400"/>
          </a:xfrm>
          <a:prstGeom prst="rect">
            <a:avLst/>
          </a:prstGeom>
          <a:noFill/>
          <a:ln/>
        </p:spPr>
        <p:txBody>
          <a:bodyPr wrap="square" rtlCol="0" anchor="ctr"/>
          <a:lstStyle/>
          <a:p>
            <a:pPr indent="0" marL="0">
              <a:lnSpc>
                <a:spcPct val="120000"/>
              </a:lnSpc>
              <a:buNone/>
            </a:pPr>
            <a:r>
              <a:rPr lang="en-US" sz="1700" dirty="0">
                <a:solidFill>
                  <a:srgbClr val="C9D3DD"/>
                </a:solidFill>
                <a:latin typeface="Calibri" pitchFamily="34" charset="0"/>
                <a:ea typeface="Calibri" pitchFamily="34" charset="-122"/>
                <a:cs typeface="Calibri" pitchFamily="34" charset="-120"/>
              </a:rPr>
              <a:t>One message: Israel's leading EdTech group brings live, science-backed longevity education to American homes.</a:t>
            </a:r>
            <a:endParaRPr lang="en-US" sz="1700" dirty="0"/>
          </a:p>
        </p:txBody>
      </p:sp>
      <p:sp>
        <p:nvSpPr>
          <p:cNvPr id="6" name="Text 4"/>
          <p:cNvSpPr/>
          <p:nvPr/>
        </p:nvSpPr>
        <p:spPr>
          <a:xfrm>
            <a:off x="640080" y="5394960"/>
            <a:ext cx="3657600"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6 ARTICLES</a:t>
            </a:r>
            <a:endParaRPr lang="en-US" sz="1300" dirty="0"/>
          </a:p>
        </p:txBody>
      </p:sp>
      <p:sp>
        <p:nvSpPr>
          <p:cNvPr id="7" name="Text 5"/>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1.1   ·   </a:t>
            </a:r>
            <a:pPr indent="0" marL="0">
              <a:buNone/>
            </a:pPr>
            <a:r>
              <a:rPr lang="en-US" sz="1050" b="1" spc="150" kern="0" dirty="0">
                <a:solidFill>
                  <a:srgbClr val="5C6672"/>
                </a:solidFill>
                <a:latin typeface="Calibri" pitchFamily="34" charset="0"/>
                <a:ea typeface="Calibri" pitchFamily="34" charset="-122"/>
                <a:cs typeface="Calibri" pitchFamily="34" charset="-120"/>
              </a:rPr>
              <a:t>FLAGSHIP NATIONAL-WIRE ANNOUNCEMENT</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PR Newswire (national wire) → Forbes / Bloomberg pickup</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Group Launches Longevity Life Academy — an 18-Week Live Course That Ships a Glucose Monitor to Every Student</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After 25 years and 400,000+ courses across nearly 200 countries, the Israeli education company opens its fifth online school — an 18-week live longevity program, with a continuous glucose monitor shipped to every student.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eTeacher Group, one of the world's longest-running online-education companies, today announced its entry into the longevity market with Longevity Life Academy (LLA), its fifth proprietary online school. LLA brings eTeacher's signature model — live, teacher-led instruction paired with AI micro-learning — to the science of healthy aging.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timing is deliberate. UBS projects the longevity market will reach roughly $8 trillion by 2030, up from $5.3 trillion in 2023, yet most offerings sit at two extremes: costly concierge clinics or unvetted social-media advice. eTeacher enters the underserved middle, with more than 10,000 learners a year and roughly 70% of its customers in the US.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LLA's flagship program, “The Longevity Blueprint,” is an 18-week live course — 18 sessions across four phases, 50 minutes weekly, in groups of 8–15 — that turns healthy-aging science into one personalized protocol each student can live by. Every student receives an Abbott Lingo continuous glucose monitor, shipped to their US home before Lesson 5, so learning is grounded in their own body data.</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course is taught by named instructors, including researcher Natalie Blackbourne and UC Santa Barbara senior lecturer Amy Jamieson, on the same platform behind eTeacher's accredited work with the Hebrew University of Jerusalem.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“For twenty-five years we have taught one thing well: real people learn from real teachers, live, in small groups,” said Harel Tayeb, CEO of eTeacher Group. “We are now pointing that method at the question that matters most — how to add healthy years to a life. Longevity has been sold as a luxury. We intend to make it a habit anyone can keep.”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Longevity Blueprint is enrolling now from $289 per month, and eTeacher says additional longevity courses and a companion practice app are on its roadmap for the year ahead.</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“For twenty-five years we have taught one thing well: real people learn from real teachers, live, in small groups. We are now pointing that method at the question that matters most — how to add healthy years to a life. Longevity has been sold as a luxury. We intend to make it a habit anyone can keep.”</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Written fresh in his voice; deliberately does NOT reuse any of his published TheMarker lines.</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1.2   ·   </a:t>
            </a:r>
            <a:pPr indent="0" marL="0">
              <a:buNone/>
            </a:pPr>
            <a:r>
              <a:rPr lang="en-US" sz="1050" b="1" spc="150" kern="0" dirty="0">
                <a:solidFill>
                  <a:srgbClr val="5C6672"/>
                </a:solidFill>
                <a:latin typeface="Calibri" pitchFamily="34" charset="0"/>
                <a:ea typeface="Calibri" pitchFamily="34" charset="-122"/>
                <a:cs typeface="Calibri" pitchFamily="34" charset="-120"/>
              </a:rPr>
              <a:t>EDTECH TRADE STORY — THE LIVE-LEARNING METHOD APPLIED TO LONGEVITY</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EdSurge / EdTech Magazine / TechCrunch</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Brings Its 25-Year Live-Class Teaching Method to Longevity Life Academy</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company that taught languages to 400,000+ learners is betting its small-class, live-teaching model can crack the hardest problem in wellness — actually sticking with it.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eTeacher Group built its 25-year reputation on one idea: real teachers, live, in small classes, backed by short daily AI practice between sessions. With Longevity Life Academy, the company is applying that methodology to a brand-new subject — living longer.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It is a pointed answer to an industry problem. Self-guided wellness content is abundant, but completion is not; eTeacher argues that longevity, like language, is a practice that fails without persistence. Its model pairs a weekly live “anchor” session with an expert and short daily practice between classes.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In Longevity Life Academy, that means an 18-week live cohort of 8–15 students, 50 minutes weekly across four phases, plus guided daily experiments tied to each student's own glucose, sleep, and movement data. An Abbott Lingo continuous glucose monitor ships to every US student before Lesson 5, turning abstract lessons into personal feedback loops.</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academy runs on eTeacher's purpose-built platform and small-cohort structure — the same infrastructure behind its accredited courses with the Hebrew University of Jerusalem — taught by named instructors such as nutrition coach Courtney Donofrio and behavioral specialist Jordan Lattimore.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“Information about living longer is everywhere and almost no one follows through,” Tayeb said. “The hard part was never the science — it was staying with it. Our whole model exists to solve that: a live teacher, a small class, and a small step you actually take before the next session.”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says an AI longevity tutor and a companion practice app are on the roadmap, extending the daily-engagement layer across its five schools.</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“Information about living longer is everywhere and almost no one follows through. The hard part was never the science — it was staying with it. Our whole model exists to solve that: a live teacher, a small class, and a small step you actually take before the next session.”</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the published ‘gym for the brain’ line.</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1.3   ·   </a:t>
            </a:r>
            <a:pPr indent="0" marL="0">
              <a:buNone/>
            </a:pPr>
            <a:r>
              <a:rPr lang="en-US" sz="1050" b="1" spc="150" kern="0" dirty="0">
                <a:solidFill>
                  <a:srgbClr val="5C6672"/>
                </a:solidFill>
                <a:latin typeface="Calibri" pitchFamily="34" charset="0"/>
                <a:ea typeface="Calibri" pitchFamily="34" charset="-122"/>
                <a:cs typeface="Calibri" pitchFamily="34" charset="-120"/>
              </a:rPr>
              <a:t>BUSINESS / MARKET-ENTRY — THE GAP BETWEEN $2M CLINICS AND FREE ADVICE</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Bloomberg / Business Insider / CNBC</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Targets the Underserved Middle of the $8 Trillion Longevity Market</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With 70% of its customers already in the US, eTeacher positions Longevity Life Academy between costly clinics and free advice — the underserved middle of an $8 trillion market, starting at $289 a month.</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eTeacher Group is entering one of consumer health's fastest-growing categories, launching Longevity Life Academy to occupy a gap its CEO argues no one serves well: the space between expensive concierge clinics and free, unverified online advice.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opportunity is large and split. UBS values the longevity market at $5.3 trillion in 2023, rising toward $8 trillion by 2030, while the narrower healthspan-product market is estimated at $25 billion-plus today, growing toward roughly $63 billion by 2035, per Market Research Future. Yet affordability and rigor rarely coexist in one offering.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enters with advantages rivals would take years to build: roughly 70% of its customers are already in the US, it runs a proven billing and retention engine (payments partner Nuvei), and it has 25 years operating small live cohorts at global scale — 400,000+ courses across nearly 200 countries.</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Its flagship Longevity Blueprint starts at $289 per month and includes all 18 live sessions, the learning platform, and an Abbott Lingo continuous glucose monitor shipped to the student's US home — a bundle priced for the mainstream, not the wealthy.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longevity market today has two doors: a clinic that costs a fortune, or a feed full of advice no one checked,” said CEO Harel Tayeb. “Most families are locked out of both. We built the door in the middle — the same rigor, taught live, at a price a household can plan around.”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plans to broaden the catalog with additional longevity courses over the coming year, deepening its position in the mainstream tier of the market.</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“The longevity market today has two doors: a clinic that costs a fortune, or a feed full of advice no one checked. Most families are locked out of both. We built the door in the middle — the same rigor, taught live, at a price a household can plan around.”</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the published ‘Wiz of edtech’ line.</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1.4   ·   </a:t>
            </a:r>
            <a:pPr indent="0" marL="0">
              <a:buNone/>
            </a:pPr>
            <a:r>
              <a:rPr lang="en-US" sz="1050" b="1" spc="150" kern="0" dirty="0">
                <a:solidFill>
                  <a:srgbClr val="5C6672"/>
                </a:solidFill>
                <a:latin typeface="Calibri" pitchFamily="34" charset="0"/>
                <a:ea typeface="Calibri" pitchFamily="34" charset="-122"/>
                <a:cs typeface="Calibri" pitchFamily="34" charset="-120"/>
              </a:rPr>
              <a:t>HEALTH / LONGEVITY VERTICAL — CGM IN EVERY HAND, BIOMARKER-DRIVEN</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Longevity.Technology / Fierce Healthcare / MedCity News</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Puts a Continuous Glucose Monitor in Every Student's Hands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eTeacher's new school makes personal biomarker data — not generic advice — the core of an 18-week, six-pillar curriculum.</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Longevity Life Academy is built on a Medicine 3.0 premise: your protocol should come from your own biology, not a generic checklist. To make that concrete, eTeacher Group is shipping an Abbott Lingo continuous glucose monitor, plus full Lingo app access, to every student — included with the course and arriving before the CGM module in Lesson 5.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That biomarker-first design sets the program apart. Where much longevity content offers one-size-fits-all rules, LLA teaches across six pillars — Nutrition, Sleep, Exercise &amp; Movement, Supplements &amp; Wearables, Stress Management, and a personal Longevity Protocol — with students reading their own glucose, HRV, and sleep data as a live feedback loop.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18-week structure moves through four phases, from Foundation to a written Blueprint tested against each student's body, in live cohorts of 8–15. Instruction comes from named practitioners including researcher Natalie Blackbourne and UC Santa Barbara senior lecturer and NASM-certified trainer Amy Jamieson.</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Lingo device is a 14-day, painless biosensor, available without a prescription and FSA/HSA-eligible; it is intended for adults 18+, is not for insulin users, and is not a diagnostic tool — grounding the curriculum in real data.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“Generic advice tells everyone the same thing. Your body doesn't work that way,” said CEO Harel Tayeb. “That is why every student learns from their own data — we ship a glucose monitor to their door and teach them to read what their own biology is telling them, then build one protocol that fits their life.”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says wearable integration will deepen as its longevity courses expand over the coming year, with advanced biomarker content on the roadmap.</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“Generic advice tells everyone the same thing. Your body doesn't work that way. That is why every student learns from their own data — we ship a glucose monitor to their door and teach them to read what their own biology is telling them, then build one protocol that fits their life.”</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the published ‘cognitive atrophy’ line.</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1.5   ·   </a:t>
            </a:r>
            <a:pPr indent="0" marL="0">
              <a:buNone/>
            </a:pPr>
            <a:r>
              <a:rPr lang="en-US" sz="1050" b="1" spc="150" kern="0" dirty="0">
                <a:solidFill>
                  <a:srgbClr val="5C6672"/>
                </a:solidFill>
                <a:latin typeface="Calibri" pitchFamily="34" charset="0"/>
                <a:ea typeface="Calibri" pitchFamily="34" charset="-122"/>
                <a:cs typeface="Calibri" pitchFamily="34" charset="-120"/>
              </a:rPr>
              <a:t>ISRAEL INNOVATION-NATION — “WIZ OF EDTECH” + ISRAEL IMAGE</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TheMarker / Calcalist / Globes / Times of Israel</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Israel's 25-Year-Old eTeacher Group Opens Longevity Life Academy, Its Fifth Online School</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company behind five global online schools — and an ambition to become the “Wiz of edtech” — brings Israeli education technology to the world's fastest-growing wellness market.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eTeacher Group, the 25-year-old Israeli education company profiled by TheMarker earlier this year, is extending its “Wiz of edtech” ambition into longevity with the launch of Longevity Life Academy, its fifth online school.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move plants an Israeli flag in a category UBS projects will reach $8 trillion by 2030. eTeacher already serves more than 10,000 learners a year across five schools — from Biblical Hebrew and modern Hebrew to French culture — and now healthspan, with roughly 70% of its customers in the United States.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eTeacher's differentiator is a model built in Israel and exported worldwide: live experts in small groups of 8–15, paired with AI micro-learning, and courses developed in an academic-partnership tradition that includes the Hebrew University of Jerusalem. In longevity, that method anchors an 18-week live program with an Abbott Lingo glucose monitor shipped to every US student.</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For CEO Harel Tayeb, the company's global reach is also a form of soft power. He has described how eTeacher's work abroad “generates discourse about our deep roots” and creates “positive sentiment and wonderful image reinforcement for Israel.”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“This is an Israeli method, taught to learners in nearly two hundred countries. We are proud of that — quietly,” Tayeb said. “What we care about is whether a person in Ohio or Osaka finishes the course healthier and more capable than they started. Longevity is the most human subject we have ever taught, and it deserves our best work.”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says a companion practice app and additional longevity courses are on the roadmap for the coming year, deepening the school's Israeli-built technology stack.</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“This is an Israeli method, taught to learners in nearly two hundred countries. We are proud of that — quietly. What we care about is whether a person in Ohio or Osaka finishes the course healthier and more capable than they started. Longevity is the most human subject we have ever taught, and it deserves our best work.”</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the mid-body ‘image reinforcement for Israel’ phrase remains verbatim from TheMarker Q7.</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0C2A43"/>
                </a:solidFill>
                <a:latin typeface="Calibri" pitchFamily="34" charset="0"/>
                <a:ea typeface="Calibri" pitchFamily="34" charset="-122"/>
                <a:cs typeface="Calibri" pitchFamily="34" charset="-120"/>
              </a:rPr>
              <a:t>ARTICLE 1.6   ·   </a:t>
            </a:r>
            <a:pPr indent="0" marL="0">
              <a:buNone/>
            </a:pPr>
            <a:r>
              <a:rPr lang="en-US" sz="1050" b="1" spc="150" kern="0" dirty="0">
                <a:solidFill>
                  <a:srgbClr val="5C6672"/>
                </a:solidFill>
                <a:latin typeface="Calibri" pitchFamily="34" charset="0"/>
                <a:ea typeface="Calibri" pitchFamily="34" charset="-122"/>
                <a:cs typeface="Calibri" pitchFamily="34" charset="-120"/>
              </a:rPr>
              <a:t>CONSUMER / HUMAN — LONGEVITY FOR EVERY HOUSEHOLD, ACCESSIBILITY</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0C2A43"/>
                </a:solidFill>
                <a:latin typeface="Calibri" pitchFamily="34" charset="0"/>
                <a:ea typeface="Calibri" pitchFamily="34" charset="-122"/>
                <a:cs typeface="Calibri" pitchFamily="34" charset="-120"/>
              </a:rPr>
              <a:t>Well+Good / mindbodygreen / Today / People</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Offers an 18-Week Live Longevity Class With a Glucose Monitor Included</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Longevity Life Academy wants to make the science of healthy aging as approachable as a weekly class — for 8–15 students at a time, glucose monitor included.</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Longevity has a reputation for being expensive and intimidating. Longevity Life Academy, the new fifth school from 25-year education company eTeacher Group, is built to be the opposite: a live, 18-week course in groups of 8–15, with an instructor who knows your name and a glucose monitor shipped to your door.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pitch lands against a stark backdrop. As the longevity market races toward $8 trillion by 2030 (UBS), its highest-profile figures spend fortunes chasing extra years — leaving most households watching from the sidelines. LLA is designed for those households, with tuition starting from $289 per month.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Instead of memorizing facts about glucose or sleep, students watch those numbers move in their own bodies. Every US student receives an Abbott Lingo continuous glucose monitor before Lesson 5, then builds a personal protocol across nutrition, movement, sleep, stress, and supplements — a plan meant to be kept for life, not for a 10-week challenge.</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format is eTeacher's proven method, refined over decades of teaching languages to 400,000+ learners across nearly 200 countries and now adapted for healthspan, taught by named instructors such as Courtney Donofrio and Jordan Lattimore.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“A longer, stronger life should not depend on your bank balance,” said CEO Harel Tayeb. “Our promise is simple: show up for a live class each week, take one honest step, and let it compound. That is how ordinary people build extraordinary health — not with a fortune, but with a routine that finally sticks.”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A companion practice app is on eTeacher's roadmap, intended to bring the same daily, low-pressure guidance into students' pockets.</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“A longer, stronger life should not depend on your bank balance. Our promise is simple: show up for a live class each week, take one honest step, and let it compound. That is how ordinary people build extraordinary health — not with a fortune, but with a routine that finally sticks.”</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published lines.</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C08A2E"/>
          </a:solidFill>
          <a:ln/>
        </p:spPr>
      </p:sp>
      <p:sp>
        <p:nvSpPr>
          <p:cNvPr id="3" name="Text 1"/>
          <p:cNvSpPr/>
          <p:nvPr/>
        </p:nvSpPr>
        <p:spPr>
          <a:xfrm>
            <a:off x="640080" y="1965960"/>
            <a:ext cx="10911535" cy="365760"/>
          </a:xfrm>
          <a:prstGeom prst="rect">
            <a:avLst/>
          </a:prstGeom>
          <a:noFill/>
          <a:ln/>
        </p:spPr>
        <p:txBody>
          <a:bodyPr wrap="square" rtlCol="0" anchor="ctr"/>
          <a:lstStyle/>
          <a:p>
            <a:pPr indent="0" marL="0">
              <a:buNone/>
            </a:pPr>
            <a:r>
              <a:rPr lang="en-US" sz="1500" b="1" spc="400" kern="0" dirty="0">
                <a:solidFill>
                  <a:srgbClr val="C08A2E"/>
                </a:solidFill>
                <a:latin typeface="Calibri" pitchFamily="34" charset="0"/>
                <a:ea typeface="Calibri" pitchFamily="34" charset="-122"/>
                <a:cs typeface="Calibri" pitchFamily="34" charset="-120"/>
              </a:rPr>
              <a:t>CHAPTER 2 OF 4</a:t>
            </a:r>
            <a:endParaRPr lang="en-US" sz="1500" dirty="0"/>
          </a:p>
        </p:txBody>
      </p:sp>
      <p:sp>
        <p:nvSpPr>
          <p:cNvPr id="4" name="Text 2"/>
          <p:cNvSpPr/>
          <p:nvPr/>
        </p:nvSpPr>
        <p:spPr>
          <a:xfrm>
            <a:off x="640080" y="2514600"/>
            <a:ext cx="10911535" cy="1463040"/>
          </a:xfrm>
          <a:prstGeom prst="rect">
            <a:avLst/>
          </a:prstGeom>
          <a:noFill/>
          <a:ln/>
        </p:spPr>
        <p:txBody>
          <a:bodyPr wrap="square"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Julie Joins eTeacher's Longevity Life Academy</a:t>
            </a:r>
            <a:endParaRPr lang="en-US" sz="4200" dirty="0"/>
          </a:p>
        </p:txBody>
      </p:sp>
      <p:sp>
        <p:nvSpPr>
          <p:cNvPr id="5" name="Text 3"/>
          <p:cNvSpPr/>
          <p:nvPr/>
        </p:nvSpPr>
        <p:spPr>
          <a:xfrm>
            <a:off x="640080" y="4297680"/>
            <a:ext cx="10241280" cy="914400"/>
          </a:xfrm>
          <a:prstGeom prst="rect">
            <a:avLst/>
          </a:prstGeom>
          <a:noFill/>
          <a:ln/>
        </p:spPr>
        <p:txBody>
          <a:bodyPr wrap="square" rtlCol="0" anchor="ctr"/>
          <a:lstStyle/>
          <a:p>
            <a:pPr indent="0" marL="0">
              <a:lnSpc>
                <a:spcPct val="120000"/>
              </a:lnSpc>
              <a:buNone/>
            </a:pPr>
            <a:r>
              <a:rPr lang="en-US" sz="1700" dirty="0">
                <a:solidFill>
                  <a:srgbClr val="C9D3DD"/>
                </a:solidFill>
                <a:latin typeface="Calibri" pitchFamily="34" charset="0"/>
                <a:ea typeface="Calibri" pitchFamily="34" charset="-122"/>
                <a:cs typeface="Calibri" pitchFamily="34" charset="-120"/>
              </a:rPr>
              <a:t>One message: the single mom who out-aged the billionaires now teaches live for eTeacher.</a:t>
            </a:r>
            <a:endParaRPr lang="en-US" sz="1700" dirty="0"/>
          </a:p>
        </p:txBody>
      </p:sp>
      <p:sp>
        <p:nvSpPr>
          <p:cNvPr id="6" name="Text 4"/>
          <p:cNvSpPr/>
          <p:nvPr/>
        </p:nvSpPr>
        <p:spPr>
          <a:xfrm>
            <a:off x="640080" y="5394960"/>
            <a:ext cx="3657600"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7 ARTICLES</a:t>
            </a:r>
            <a:endParaRPr lang="en-US" sz="1300" dirty="0"/>
          </a:p>
        </p:txBody>
      </p:sp>
      <p:sp>
        <p:nvSpPr>
          <p:cNvPr id="7" name="Text 5"/>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2.1   ·   </a:t>
            </a:r>
            <a:pPr indent="0" marL="0">
              <a:buNone/>
            </a:pPr>
            <a:r>
              <a:rPr lang="en-US" sz="1050" b="1" spc="150" kern="0" dirty="0">
                <a:solidFill>
                  <a:srgbClr val="5C6672"/>
                </a:solidFill>
                <a:latin typeface="Calibri" pitchFamily="34" charset="0"/>
                <a:ea typeface="Calibri" pitchFamily="34" charset="-122"/>
                <a:cs typeface="Calibri" pitchFamily="34" charset="-120"/>
              </a:rPr>
              <a:t>THE SIGNING ANNOUNCEMENT — JULIE JOINS THE FACULTY</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PR Newswire → Fortune Well / Forbes</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Julie Gibson Clark — Who Out-Aged Bryan Johnson at the Rejuvenation Olympics — Joins Longevity Life Academy as Founding Faculty</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Phoenix single mom who held second place on the Rejuvenation Olympics for over a year — ahead of Bryan Johnson — joins Longevity Life Academy as founding faculty to teach its live masterclasses.</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PHOENIX — Longevity Life Academy has named Julie Gibson Clark to its founding faculty. She held the #2 spot on the Rejuvenation Olympics leaderboard for more than a year — ahead of the contest's own founder, Bryan Johnson.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Her results are the headline. Gibson Clark, 56, a corporate recruiter and former structural engineer, recorded a DunedinPACE score of 0.665 — meaning she ages roughly 65 days for every 100, about 34% slower than average — achieved on a routine costing around $100–150 a month, versus the roughly $2 million a year spent by the best-funded biohackers.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At LLA she will lead live masterclasses, teaching students the everyday habits behind her results — across nutrition, movement, sleep, and stress — alongside the school's core faculty.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Her signing is a proof point for the school's core thesis — that elite outcomes come from consistent, science-backed habits, not spending — and gives eTeacher a nationally recognizable, relatable face for a US audience where 70% of its customers already live.</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“I'm going to introduce one new habit and practice it until it becomes as routine as brushing my teeth,” Gibson Clark said, describing the approach she'll teach. “Getting to do that live, with real people who want to change their lives, is a dream.”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“We measure ourselves by results, and Julie's results are impossible to argue with,” said eTeacher CEO Harel Tayeb. “She proved what we teach every day — that world-class health is built from consistent, learnable habits, not from a millionaire's budget. Having her teach it live is exactly the school we set out to build.” Gibson Clark's masterclasses begin with the current enrollment cohort.</a:t>
            </a:r>
            <a:endParaRPr lang="en-US" sz="980" dirty="0"/>
          </a:p>
        </p:txBody>
      </p:sp>
      <p:sp>
        <p:nvSpPr>
          <p:cNvPr id="9" name="Shape 7"/>
          <p:cNvSpPr/>
          <p:nvPr/>
        </p:nvSpPr>
        <p:spPr>
          <a:xfrm>
            <a:off x="640080" y="5138928"/>
            <a:ext cx="5318608"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5282032" cy="310896"/>
          </a:xfrm>
          <a:prstGeom prst="rect">
            <a:avLst/>
          </a:prstGeom>
          <a:solidFill>
            <a:srgbClr val="C08A2E"/>
          </a:solidFill>
          <a:ln/>
        </p:spPr>
      </p:sp>
      <p:sp>
        <p:nvSpPr>
          <p:cNvPr id="11" name="Text 9"/>
          <p:cNvSpPr/>
          <p:nvPr/>
        </p:nvSpPr>
        <p:spPr>
          <a:xfrm>
            <a:off x="841248" y="5157216"/>
            <a:ext cx="4916272"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HAREL TAYEB, CEO, eTeacher Group</a:t>
            </a:r>
            <a:endParaRPr lang="en-US" sz="900" dirty="0"/>
          </a:p>
        </p:txBody>
      </p:sp>
      <p:sp>
        <p:nvSpPr>
          <p:cNvPr id="12" name="Text 10"/>
          <p:cNvSpPr/>
          <p:nvPr/>
        </p:nvSpPr>
        <p:spPr>
          <a:xfrm>
            <a:off x="859536" y="5559552"/>
            <a:ext cx="4879696" cy="201168"/>
          </a:xfrm>
          <a:prstGeom prst="rect">
            <a:avLst/>
          </a:prstGeom>
          <a:noFill/>
          <a:ln/>
        </p:spPr>
        <p:txBody>
          <a:bodyPr wrap="square" rtlCol="0" anchor="t"/>
          <a:lstStyle/>
          <a:p>
            <a:pPr indent="0" marL="0">
              <a:lnSpc>
                <a:spcPct val="105000"/>
              </a:lnSpc>
              <a:buNone/>
            </a:pPr>
            <a:r>
              <a:rPr lang="en-US" sz="900" b="1" i="1" dirty="0">
                <a:solidFill>
                  <a:srgbClr val="FFF3DA"/>
                </a:solidFill>
                <a:latin typeface="Calibri" pitchFamily="34" charset="0"/>
                <a:ea typeface="Calibri" pitchFamily="34" charset="-122"/>
                <a:cs typeface="Calibri" pitchFamily="34" charset="-120"/>
              </a:rPr>
              <a:t>“We measure ourselves by results, and Julie's results are impossible to argue with. She proved what we teach every day — that world-class health is built from consistent, learnable habits, not from a millionaire's budget. Having her teach it live is exactly the school we set out to build.”</a:t>
            </a:r>
            <a:endParaRPr lang="en-US" sz="900" dirty="0"/>
          </a:p>
        </p:txBody>
      </p:sp>
      <p:sp>
        <p:nvSpPr>
          <p:cNvPr id="13" name="Text 11"/>
          <p:cNvSpPr/>
          <p:nvPr/>
        </p:nvSpPr>
        <p:spPr>
          <a:xfrm>
            <a:off x="859536" y="5833872"/>
            <a:ext cx="4879696"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published lines.</a:t>
            </a:r>
            <a:endParaRPr lang="en-US" sz="680" dirty="0"/>
          </a:p>
        </p:txBody>
      </p:sp>
      <p:sp>
        <p:nvSpPr>
          <p:cNvPr id="14" name="Shape 12"/>
          <p:cNvSpPr/>
          <p:nvPr/>
        </p:nvSpPr>
        <p:spPr>
          <a:xfrm>
            <a:off x="6233008" y="5138928"/>
            <a:ext cx="5318608" cy="1152144"/>
          </a:xfrm>
          <a:prstGeom prst="roundRect">
            <a:avLst>
              <a:gd name="adj" fmla="val 3968"/>
            </a:avLst>
          </a:prstGeom>
          <a:solidFill>
            <a:srgbClr val="FFFFFF"/>
          </a:solidFill>
          <a:ln w="15875">
            <a:solidFill>
              <a:srgbClr val="C08A2E"/>
            </a:solidFill>
            <a:prstDash val="solid"/>
          </a:ln>
        </p:spPr>
      </p:sp>
      <p:sp>
        <p:nvSpPr>
          <p:cNvPr id="15" name="Shape 13"/>
          <p:cNvSpPr/>
          <p:nvPr/>
        </p:nvSpPr>
        <p:spPr>
          <a:xfrm>
            <a:off x="6233008" y="5193792"/>
            <a:ext cx="73152" cy="1042416"/>
          </a:xfrm>
          <a:prstGeom prst="rect">
            <a:avLst/>
          </a:prstGeom>
          <a:solidFill>
            <a:srgbClr val="C08A2E"/>
          </a:solidFill>
          <a:ln/>
        </p:spPr>
      </p:sp>
      <p:sp>
        <p:nvSpPr>
          <p:cNvPr id="16" name="Text 14"/>
          <p:cNvSpPr/>
          <p:nvPr/>
        </p:nvSpPr>
        <p:spPr>
          <a:xfrm>
            <a:off x="6452464" y="5212080"/>
            <a:ext cx="4916272"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JULIE GIBSON CLARK, LLA Founding Faculty</a:t>
            </a:r>
            <a:endParaRPr lang="en-US" sz="800" dirty="0"/>
          </a:p>
        </p:txBody>
      </p:sp>
      <p:sp>
        <p:nvSpPr>
          <p:cNvPr id="17" name="Text 15"/>
          <p:cNvSpPr/>
          <p:nvPr/>
        </p:nvSpPr>
        <p:spPr>
          <a:xfrm>
            <a:off x="6452464" y="5431536"/>
            <a:ext cx="4916272" cy="384048"/>
          </a:xfrm>
          <a:prstGeom prst="rect">
            <a:avLst/>
          </a:prstGeom>
          <a:noFill/>
          <a:ln/>
        </p:spPr>
        <p:txBody>
          <a:bodyPr wrap="square" rtlCol="0" anchor="t"/>
          <a:lstStyle/>
          <a:p>
            <a:pPr indent="0" marL="0">
              <a:lnSpc>
                <a:spcPct val="105000"/>
              </a:lnSpc>
              <a:buNone/>
            </a:pPr>
            <a:r>
              <a:rPr lang="en-US" sz="850" i="1" dirty="0">
                <a:solidFill>
                  <a:srgbClr val="1A1F26"/>
                </a:solidFill>
                <a:latin typeface="Calibri" pitchFamily="34" charset="0"/>
                <a:ea typeface="Calibri" pitchFamily="34" charset="-122"/>
                <a:cs typeface="Calibri" pitchFamily="34" charset="-120"/>
              </a:rPr>
              <a:t>“I'm going to introduce one new habit and practice it until it becomes as routine as brushing my teeth. Getting to do that live, with real people who want to change their lives, is a dream.”</a:t>
            </a:r>
            <a:endParaRPr lang="en-US" sz="850" dirty="0"/>
          </a:p>
        </p:txBody>
      </p:sp>
      <p:sp>
        <p:nvSpPr>
          <p:cNvPr id="18" name="Text 16"/>
          <p:cNvSpPr/>
          <p:nvPr/>
        </p:nvSpPr>
        <p:spPr>
          <a:xfrm>
            <a:off x="6452464" y="5833872"/>
            <a:ext cx="4916272"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Business Insider/Yahoo. Sentence 2 is the one voice-matched new line about teaching — flagged for approval.</a:t>
            </a:r>
            <a:endParaRPr lang="en-US" sz="660" dirty="0"/>
          </a:p>
        </p:txBody>
      </p:sp>
      <p:sp>
        <p:nvSpPr>
          <p:cNvPr id="19" name="Text 17"/>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2.2   ·   </a:t>
            </a:r>
            <a:pPr indent="0" marL="0">
              <a:buNone/>
            </a:pPr>
            <a:r>
              <a:rPr lang="en-US" sz="1050" b="1" spc="150" kern="0" dirty="0">
                <a:solidFill>
                  <a:srgbClr val="5C6672"/>
                </a:solidFill>
                <a:latin typeface="Calibri" pitchFamily="34" charset="0"/>
                <a:ea typeface="Calibri" pitchFamily="34" charset="-122"/>
                <a:cs typeface="Calibri" pitchFamily="34" charset="-120"/>
              </a:rPr>
              <a:t>DAVID-VS-GOLIATH COST STORY — ~$100/MO VS $2M/YR</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Business Insider / CNBC Make It</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Names Julie Gibson Clark Founding Faculty — She Out-Aged a $2M-a-Year Biohacker on $12 a Day</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Julie Gibson Clark's budget longevity results ranked her #2 in the world; now she teaches the method in Longevity Life Academy's live masterclasses.</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PHOENIX — Julie Gibson Clark became a global story for a simple reason: she achieved elite anti-aging results without an elite budget, ranking second worldwide on roughly $12 a day, while Bryan Johnson reportedly spends around $2 million a year.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gap is the point. Her DunedinPACE score of 0.665 puts her among the slowest-aging people measured, yet her routine leans on inexpensive fundamentals: a pound of vegetables daily, 100–130g of protein, strength plus VO2-max and Zone 2 training, sauna and cold, 7–8 hours of sleep, and a roughly $79-a-month supplement stack.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Now that philosophy has an institution behind it. As founding faculty at Longevity Life Academy, Gibson Clark brings her low-cost, high-consistency method into live masterclasses, teaching students the fundamentals directly rather than leaving them to piece it together alone.</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For eTeacher, whose model already democratizes education across nearly 200 countries, Gibson Clark is a natural fit: living evidence that healthspan can be a mainstream purchase rather than a luxury service.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“You have to think, ‘This is the rest of my life.’ It's not about a 10-week program for a beach body,” Gibson Clark said. “The budget was never the barrier — the missing piece was someone teaching you what actually works.”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“A twelve-dollar-a-day routine that outperforms a two-million-dollar one is the whole thesis of our school in a single fact,” said CEO Harel Tayeb. “We don't sell shortcuts. We teach the fundamentals, in a room with a real instructor, until they become who you are.”</a:t>
            </a:r>
            <a:endParaRPr lang="en-US" sz="980" dirty="0"/>
          </a:p>
        </p:txBody>
      </p:sp>
      <p:sp>
        <p:nvSpPr>
          <p:cNvPr id="9" name="Shape 7"/>
          <p:cNvSpPr/>
          <p:nvPr/>
        </p:nvSpPr>
        <p:spPr>
          <a:xfrm>
            <a:off x="640080" y="5138928"/>
            <a:ext cx="5318608"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5282032" cy="310896"/>
          </a:xfrm>
          <a:prstGeom prst="rect">
            <a:avLst/>
          </a:prstGeom>
          <a:solidFill>
            <a:srgbClr val="C08A2E"/>
          </a:solidFill>
          <a:ln/>
        </p:spPr>
      </p:sp>
      <p:sp>
        <p:nvSpPr>
          <p:cNvPr id="11" name="Text 9"/>
          <p:cNvSpPr/>
          <p:nvPr/>
        </p:nvSpPr>
        <p:spPr>
          <a:xfrm>
            <a:off x="841248" y="5157216"/>
            <a:ext cx="4916272"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HAREL TAYEB, CEO, eTeacher Group</a:t>
            </a:r>
            <a:endParaRPr lang="en-US" sz="900" dirty="0"/>
          </a:p>
        </p:txBody>
      </p:sp>
      <p:sp>
        <p:nvSpPr>
          <p:cNvPr id="12" name="Text 10"/>
          <p:cNvSpPr/>
          <p:nvPr/>
        </p:nvSpPr>
        <p:spPr>
          <a:xfrm>
            <a:off x="859536" y="5559552"/>
            <a:ext cx="4879696" cy="201168"/>
          </a:xfrm>
          <a:prstGeom prst="rect">
            <a:avLst/>
          </a:prstGeom>
          <a:noFill/>
          <a:ln/>
        </p:spPr>
        <p:txBody>
          <a:bodyPr wrap="square" rtlCol="0" anchor="t"/>
          <a:lstStyle/>
          <a:p>
            <a:pPr indent="0" marL="0">
              <a:lnSpc>
                <a:spcPct val="105000"/>
              </a:lnSpc>
              <a:buNone/>
            </a:pPr>
            <a:r>
              <a:rPr lang="en-US" sz="900" b="1" i="1" dirty="0">
                <a:solidFill>
                  <a:srgbClr val="FFF3DA"/>
                </a:solidFill>
                <a:latin typeface="Calibri" pitchFamily="34" charset="0"/>
                <a:ea typeface="Calibri" pitchFamily="34" charset="-122"/>
                <a:cs typeface="Calibri" pitchFamily="34" charset="-120"/>
              </a:rPr>
              <a:t>“A twelve-dollar-a-day routine that outperforms a two-million-dollar one is the whole thesis of our school in a single fact. We don't sell shortcuts. We teach the fundamentals, in a room with a real instructor, until they become who you are.”</a:t>
            </a:r>
            <a:endParaRPr lang="en-US" sz="900" dirty="0"/>
          </a:p>
        </p:txBody>
      </p:sp>
      <p:sp>
        <p:nvSpPr>
          <p:cNvPr id="13" name="Text 11"/>
          <p:cNvSpPr/>
          <p:nvPr/>
        </p:nvSpPr>
        <p:spPr>
          <a:xfrm>
            <a:off x="859536" y="5833872"/>
            <a:ext cx="4879696"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published lines.</a:t>
            </a:r>
            <a:endParaRPr lang="en-US" sz="680" dirty="0"/>
          </a:p>
        </p:txBody>
      </p:sp>
      <p:sp>
        <p:nvSpPr>
          <p:cNvPr id="14" name="Shape 12"/>
          <p:cNvSpPr/>
          <p:nvPr/>
        </p:nvSpPr>
        <p:spPr>
          <a:xfrm>
            <a:off x="6233008" y="5138928"/>
            <a:ext cx="5318608" cy="1152144"/>
          </a:xfrm>
          <a:prstGeom prst="roundRect">
            <a:avLst>
              <a:gd name="adj" fmla="val 3968"/>
            </a:avLst>
          </a:prstGeom>
          <a:solidFill>
            <a:srgbClr val="FFFFFF"/>
          </a:solidFill>
          <a:ln w="15875">
            <a:solidFill>
              <a:srgbClr val="C08A2E"/>
            </a:solidFill>
            <a:prstDash val="solid"/>
          </a:ln>
        </p:spPr>
      </p:sp>
      <p:sp>
        <p:nvSpPr>
          <p:cNvPr id="15" name="Shape 13"/>
          <p:cNvSpPr/>
          <p:nvPr/>
        </p:nvSpPr>
        <p:spPr>
          <a:xfrm>
            <a:off x="6233008" y="5193792"/>
            <a:ext cx="73152" cy="1042416"/>
          </a:xfrm>
          <a:prstGeom prst="rect">
            <a:avLst/>
          </a:prstGeom>
          <a:solidFill>
            <a:srgbClr val="C08A2E"/>
          </a:solidFill>
          <a:ln/>
        </p:spPr>
      </p:sp>
      <p:sp>
        <p:nvSpPr>
          <p:cNvPr id="16" name="Text 14"/>
          <p:cNvSpPr/>
          <p:nvPr/>
        </p:nvSpPr>
        <p:spPr>
          <a:xfrm>
            <a:off x="6452464" y="5212080"/>
            <a:ext cx="4916272"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JULIE GIBSON CLARK, LLA Founding Faculty</a:t>
            </a:r>
            <a:endParaRPr lang="en-US" sz="800" dirty="0"/>
          </a:p>
        </p:txBody>
      </p:sp>
      <p:sp>
        <p:nvSpPr>
          <p:cNvPr id="17" name="Text 15"/>
          <p:cNvSpPr/>
          <p:nvPr/>
        </p:nvSpPr>
        <p:spPr>
          <a:xfrm>
            <a:off x="6452464" y="5431536"/>
            <a:ext cx="4916272" cy="384048"/>
          </a:xfrm>
          <a:prstGeom prst="rect">
            <a:avLst/>
          </a:prstGeom>
          <a:noFill/>
          <a:ln/>
        </p:spPr>
        <p:txBody>
          <a:bodyPr wrap="square" rtlCol="0" anchor="t"/>
          <a:lstStyle/>
          <a:p>
            <a:pPr indent="0" marL="0">
              <a:lnSpc>
                <a:spcPct val="105000"/>
              </a:lnSpc>
              <a:buNone/>
            </a:pPr>
            <a:r>
              <a:rPr lang="en-US" sz="850" i="1" dirty="0">
                <a:solidFill>
                  <a:srgbClr val="1A1F26"/>
                </a:solidFill>
                <a:latin typeface="Calibri" pitchFamily="34" charset="0"/>
                <a:ea typeface="Calibri" pitchFamily="34" charset="-122"/>
                <a:cs typeface="Calibri" pitchFamily="34" charset="-120"/>
              </a:rPr>
              <a:t>“You have to think, ‘This is the rest of my life.’ It's not about a 10-week program for a beach body. The budget was never the barrier — the missing piece was someone teaching you what actually works.”</a:t>
            </a:r>
            <a:endParaRPr lang="en-US" sz="850" dirty="0"/>
          </a:p>
        </p:txBody>
      </p:sp>
      <p:sp>
        <p:nvSpPr>
          <p:cNvPr id="18" name="Text 16"/>
          <p:cNvSpPr/>
          <p:nvPr/>
        </p:nvSpPr>
        <p:spPr>
          <a:xfrm>
            <a:off x="6452464" y="5833872"/>
            <a:ext cx="4916272"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Sentences 1–2 are verbatim from Yahoo. Sentence 3 is the one voice-matched new line — flagged for approval.</a:t>
            </a:r>
            <a:endParaRPr lang="en-US" sz="660" dirty="0"/>
          </a:p>
        </p:txBody>
      </p:sp>
      <p:sp>
        <p:nvSpPr>
          <p:cNvPr id="19" name="Text 17"/>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2.3   ·   </a:t>
            </a:r>
            <a:pPr indent="0" marL="0">
              <a:buNone/>
            </a:pPr>
            <a:r>
              <a:rPr lang="en-US" sz="1050" b="1" spc="150" kern="0" dirty="0">
                <a:solidFill>
                  <a:srgbClr val="5C6672"/>
                </a:solidFill>
                <a:latin typeface="Calibri" pitchFamily="34" charset="0"/>
                <a:ea typeface="Calibri" pitchFamily="34" charset="-122"/>
                <a:cs typeface="Calibri" pitchFamily="34" charset="-120"/>
              </a:rPr>
              <a:t>SINGLE-MOM HUMAN INTEREST — “MY WHY IS MY SON”</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Today / People / Yahoo Life</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Single Mom Who Slowed Her Own Aging Joins Longevity Life Academy to Teach American Families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Julie Gibson Clark's motivation was never a leaderboard — it was being there for her son. Now she's helping thousands find their own why.</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PHOENIX — Before she was a longevity figure ranked second in the world, Julie Gibson Clark was a single mom who simply wanted more healthy years with her son. That personal “why” became the foundation of a routine that placed her among the slowest-aging people ever measured.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human story resonates because it inverts the usual longevity narrative. Where the field's headliners chase optimization for its own sake, Gibson Clark, 56, built her practice — a DunedinPACE of 0.665, roughly 34% slower aging — around a reason to be here, not a number to beat.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At Longevity Life Academy, that same philosophy anchors her live masterclasses: start with your why, then build one sustainable habit at a time until it sticks — teaching students the practices behind her own results.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It's a message that fits eTeacher's belief that learning holds when it's personal and meaningful — the same conviction behind 400,000+ courses delivered across nearly 200 countries.</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 want to be here for my son — when he gets married and has kids, I want to be able to help in any way I can, and I just want to have that energy forever,” Gibson Clark said. “Helping other parents find that same why is the most meaningful work I've done.”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best learning always starts with a personal reason, not a number on a chart,” added CEO Harel Tayeb. “Julie begins with why someone wants more years — then teaches the how. That is precisely why she will reach people a leaderboard never could.”</a:t>
            </a:r>
            <a:endParaRPr lang="en-US" sz="980" dirty="0"/>
          </a:p>
        </p:txBody>
      </p:sp>
      <p:sp>
        <p:nvSpPr>
          <p:cNvPr id="9" name="Shape 7"/>
          <p:cNvSpPr/>
          <p:nvPr/>
        </p:nvSpPr>
        <p:spPr>
          <a:xfrm>
            <a:off x="640080" y="5138928"/>
            <a:ext cx="5318608"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5282032" cy="310896"/>
          </a:xfrm>
          <a:prstGeom prst="rect">
            <a:avLst/>
          </a:prstGeom>
          <a:solidFill>
            <a:srgbClr val="C08A2E"/>
          </a:solidFill>
          <a:ln/>
        </p:spPr>
      </p:sp>
      <p:sp>
        <p:nvSpPr>
          <p:cNvPr id="11" name="Text 9"/>
          <p:cNvSpPr/>
          <p:nvPr/>
        </p:nvSpPr>
        <p:spPr>
          <a:xfrm>
            <a:off x="841248" y="5157216"/>
            <a:ext cx="4916272"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HAREL TAYEB, CEO, eTeacher Group</a:t>
            </a:r>
            <a:endParaRPr lang="en-US" sz="900" dirty="0"/>
          </a:p>
        </p:txBody>
      </p:sp>
      <p:sp>
        <p:nvSpPr>
          <p:cNvPr id="12" name="Text 10"/>
          <p:cNvSpPr/>
          <p:nvPr/>
        </p:nvSpPr>
        <p:spPr>
          <a:xfrm>
            <a:off x="859536" y="5559552"/>
            <a:ext cx="4879696" cy="201168"/>
          </a:xfrm>
          <a:prstGeom prst="rect">
            <a:avLst/>
          </a:prstGeom>
          <a:noFill/>
          <a:ln/>
        </p:spPr>
        <p:txBody>
          <a:bodyPr wrap="square" rtlCol="0" anchor="t"/>
          <a:lstStyle/>
          <a:p>
            <a:pPr indent="0" marL="0">
              <a:lnSpc>
                <a:spcPct val="105000"/>
              </a:lnSpc>
              <a:buNone/>
            </a:pPr>
            <a:r>
              <a:rPr lang="en-US" sz="900" b="1" i="1" dirty="0">
                <a:solidFill>
                  <a:srgbClr val="FFF3DA"/>
                </a:solidFill>
                <a:latin typeface="Calibri" pitchFamily="34" charset="0"/>
                <a:ea typeface="Calibri" pitchFamily="34" charset="-122"/>
                <a:cs typeface="Calibri" pitchFamily="34" charset="-120"/>
              </a:rPr>
              <a:t>“The best learning always starts with a personal reason, not a number on a chart. Julie begins with why someone wants more years — then teaches the how. That is precisely why she will reach people a leaderboard never could.”</a:t>
            </a:r>
            <a:endParaRPr lang="en-US" sz="900" dirty="0"/>
          </a:p>
        </p:txBody>
      </p:sp>
      <p:sp>
        <p:nvSpPr>
          <p:cNvPr id="13" name="Text 11"/>
          <p:cNvSpPr/>
          <p:nvPr/>
        </p:nvSpPr>
        <p:spPr>
          <a:xfrm>
            <a:off x="859536" y="5833872"/>
            <a:ext cx="4879696"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published lines.</a:t>
            </a:r>
            <a:endParaRPr lang="en-US" sz="680" dirty="0"/>
          </a:p>
        </p:txBody>
      </p:sp>
      <p:sp>
        <p:nvSpPr>
          <p:cNvPr id="14" name="Shape 12"/>
          <p:cNvSpPr/>
          <p:nvPr/>
        </p:nvSpPr>
        <p:spPr>
          <a:xfrm>
            <a:off x="6233008" y="5138928"/>
            <a:ext cx="5318608" cy="1152144"/>
          </a:xfrm>
          <a:prstGeom prst="roundRect">
            <a:avLst>
              <a:gd name="adj" fmla="val 3968"/>
            </a:avLst>
          </a:prstGeom>
          <a:solidFill>
            <a:srgbClr val="FFFFFF"/>
          </a:solidFill>
          <a:ln w="15875">
            <a:solidFill>
              <a:srgbClr val="C08A2E"/>
            </a:solidFill>
            <a:prstDash val="solid"/>
          </a:ln>
        </p:spPr>
      </p:sp>
      <p:sp>
        <p:nvSpPr>
          <p:cNvPr id="15" name="Shape 13"/>
          <p:cNvSpPr/>
          <p:nvPr/>
        </p:nvSpPr>
        <p:spPr>
          <a:xfrm>
            <a:off x="6233008" y="5193792"/>
            <a:ext cx="73152" cy="1042416"/>
          </a:xfrm>
          <a:prstGeom prst="rect">
            <a:avLst/>
          </a:prstGeom>
          <a:solidFill>
            <a:srgbClr val="C08A2E"/>
          </a:solidFill>
          <a:ln/>
        </p:spPr>
      </p:sp>
      <p:sp>
        <p:nvSpPr>
          <p:cNvPr id="16" name="Text 14"/>
          <p:cNvSpPr/>
          <p:nvPr/>
        </p:nvSpPr>
        <p:spPr>
          <a:xfrm>
            <a:off x="6452464" y="5212080"/>
            <a:ext cx="4916272"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JULIE GIBSON CLARK, LLA Founding Faculty</a:t>
            </a:r>
            <a:endParaRPr lang="en-US" sz="800" dirty="0"/>
          </a:p>
        </p:txBody>
      </p:sp>
      <p:sp>
        <p:nvSpPr>
          <p:cNvPr id="17" name="Text 15"/>
          <p:cNvSpPr/>
          <p:nvPr/>
        </p:nvSpPr>
        <p:spPr>
          <a:xfrm>
            <a:off x="6452464" y="5431536"/>
            <a:ext cx="4916272" cy="384048"/>
          </a:xfrm>
          <a:prstGeom prst="rect">
            <a:avLst/>
          </a:prstGeom>
          <a:noFill/>
          <a:ln/>
        </p:spPr>
        <p:txBody>
          <a:bodyPr wrap="square" rtlCol="0" anchor="t"/>
          <a:lstStyle/>
          <a:p>
            <a:pPr indent="0" marL="0">
              <a:lnSpc>
                <a:spcPct val="105000"/>
              </a:lnSpc>
              <a:buNone/>
            </a:pPr>
            <a:r>
              <a:rPr lang="en-US" sz="850" i="1" dirty="0">
                <a:solidFill>
                  <a:srgbClr val="1A1F26"/>
                </a:solidFill>
                <a:latin typeface="Calibri" pitchFamily="34" charset="0"/>
                <a:ea typeface="Calibri" pitchFamily="34" charset="-122"/>
                <a:cs typeface="Calibri" pitchFamily="34" charset="-120"/>
              </a:rPr>
              <a:t>“I want to be here for my son — when he gets married and has kids, I want to be able to help in any way I can, and I just want to have that energy forever. Helping other parents find that same why is the most meaningful work I've done.”</a:t>
            </a:r>
            <a:endParaRPr lang="en-US" sz="850" dirty="0"/>
          </a:p>
        </p:txBody>
      </p:sp>
      <p:sp>
        <p:nvSpPr>
          <p:cNvPr id="18" name="Text 16"/>
          <p:cNvSpPr/>
          <p:nvPr/>
        </p:nvSpPr>
        <p:spPr>
          <a:xfrm>
            <a:off x="6452464" y="5833872"/>
            <a:ext cx="4916272"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NOVOS. Sentence 2 is the one voice-matched new line — flagged for approval.</a:t>
            </a:r>
            <a:endParaRPr lang="en-US" sz="660" dirty="0"/>
          </a:p>
        </p:txBody>
      </p:sp>
      <p:sp>
        <p:nvSpPr>
          <p:cNvPr id="19" name="Text 17"/>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2.4   ·   </a:t>
            </a:r>
            <a:pPr indent="0" marL="0">
              <a:buNone/>
            </a:pPr>
            <a:r>
              <a:rPr lang="en-US" sz="1050" b="1" spc="150" kern="0" dirty="0">
                <a:solidFill>
                  <a:srgbClr val="5C6672"/>
                </a:solidFill>
                <a:latin typeface="Calibri" pitchFamily="34" charset="0"/>
                <a:ea typeface="Calibri" pitchFamily="34" charset="-122"/>
                <a:cs typeface="Calibri" pitchFamily="34" charset="-120"/>
              </a:rPr>
              <a:t>SCIENCE / DATA STORY — DUNEDINPACE AND WHAT HER PROTOCOL PROVES</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Longevity.Technology / Well+Good / Women's Health</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Founding Faculty Member Julie Gibson Clark to Teach the Habits Behind Her 34%-Slower Aging</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Her biomarker data suggests she ages about 34% slower than average; in her Longevity Life Academy masterclasses she'll teach the strength, protein, and VO2-max fundamentals behind it.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PHOENIX — The number that made Julie Gibson Clark famous is a DunedinPACE score of 0.665 — a measure of the pace of biological aging suggesting she ages roughly 65 days for every 100, or about 34% slower than average. She now brings the science behind that number to Longevity Life Academy as founding faculty.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It matters because it reframes the debate. Gibson Clark, 56, reached that result not through exotic interventions but through measurable, repeatable fundamentals: strength training, 100–130g of protein daily, VO2-max work via the Norwegian 4x4 protocol plus Zone 2, sauna and cold exposure, and 7–8 hours of sleep.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That evidence-based, data-driven approach maps directly onto LLA's method, which teaches students to read glucose, HRV, and sleep as a live feedback loop across the six pillars.</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Her masterclass focus areas align with the Exercise &amp; Movement, Nutrition, Sleep, and Stress Management pillars — alongside named instructors such as UC Santa Barbara senior lecturer and NASM-certified trainer Amy Jamieson — grounding the teaching in verifiable outcomes rather than trends.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 think the biggest bang for your buck right now is eating right, exercising and sleeping — that alone will optimize your cells,” Gibson Clark said. “The data just confirms what the fundamentals were doing all along.”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says a dedicated Biomarkers &amp; Advanced Wearables course is on its roadmap, extending the data-first teaching Gibson Clark exemplifies.</a:t>
            </a:r>
            <a:endParaRPr lang="en-US" sz="980" dirty="0"/>
          </a:p>
        </p:txBody>
      </p:sp>
      <p:sp>
        <p:nvSpPr>
          <p:cNvPr id="9" name="Shape 7"/>
          <p:cNvSpPr/>
          <p:nvPr/>
        </p:nvSpPr>
        <p:spPr>
          <a:xfrm>
            <a:off x="640080" y="5138928"/>
            <a:ext cx="10911535" cy="1152144"/>
          </a:xfrm>
          <a:prstGeom prst="roundRect">
            <a:avLst>
              <a:gd name="adj" fmla="val 3968"/>
            </a:avLst>
          </a:prstGeom>
          <a:solidFill>
            <a:srgbClr val="FFFFFF"/>
          </a:solidFill>
          <a:ln w="15875">
            <a:solidFill>
              <a:srgbClr val="C08A2E"/>
            </a:solidFill>
            <a:prstDash val="solid"/>
          </a:ln>
        </p:spPr>
      </p:sp>
      <p:sp>
        <p:nvSpPr>
          <p:cNvPr id="10" name="Shape 8"/>
          <p:cNvSpPr/>
          <p:nvPr/>
        </p:nvSpPr>
        <p:spPr>
          <a:xfrm>
            <a:off x="640080" y="5193792"/>
            <a:ext cx="73152" cy="1042416"/>
          </a:xfrm>
          <a:prstGeom prst="rect">
            <a:avLst/>
          </a:prstGeom>
          <a:solidFill>
            <a:srgbClr val="C08A2E"/>
          </a:solidFill>
          <a:ln/>
        </p:spPr>
      </p:sp>
      <p:sp>
        <p:nvSpPr>
          <p:cNvPr id="11" name="Text 9"/>
          <p:cNvSpPr/>
          <p:nvPr/>
        </p:nvSpPr>
        <p:spPr>
          <a:xfrm>
            <a:off x="859536" y="5212080"/>
            <a:ext cx="10509199"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HIGHLIGHTED QUOTE  ·  JULIE GIBSON CLARK, LLA Founding Faculty</a:t>
            </a:r>
            <a:endParaRPr lang="en-US" sz="800" dirty="0"/>
          </a:p>
        </p:txBody>
      </p:sp>
      <p:sp>
        <p:nvSpPr>
          <p:cNvPr id="12" name="Text 10"/>
          <p:cNvSpPr/>
          <p:nvPr/>
        </p:nvSpPr>
        <p:spPr>
          <a:xfrm>
            <a:off x="859536" y="5431536"/>
            <a:ext cx="10509199" cy="384048"/>
          </a:xfrm>
          <a:prstGeom prst="rect">
            <a:avLst/>
          </a:prstGeom>
          <a:noFill/>
          <a:ln/>
        </p:spPr>
        <p:txBody>
          <a:bodyPr wrap="square" rtlCol="0" anchor="t"/>
          <a:lstStyle/>
          <a:p>
            <a:pPr indent="0" marL="0">
              <a:lnSpc>
                <a:spcPct val="105000"/>
              </a:lnSpc>
              <a:buNone/>
            </a:pPr>
            <a:r>
              <a:rPr lang="en-US" sz="1000" i="1" dirty="0">
                <a:solidFill>
                  <a:srgbClr val="1A1F26"/>
                </a:solidFill>
                <a:latin typeface="Calibri" pitchFamily="34" charset="0"/>
                <a:ea typeface="Calibri" pitchFamily="34" charset="-122"/>
                <a:cs typeface="Calibri" pitchFamily="34" charset="-120"/>
              </a:rPr>
              <a:t>“I think the biggest bang for your buck right now is eating right, exercising and sleeping — that alone will optimize your cells. The data just confirms what the fundamentals were doing all along.”</a:t>
            </a:r>
            <a:endParaRPr lang="en-US" sz="1000" dirty="0"/>
          </a:p>
        </p:txBody>
      </p:sp>
      <p:sp>
        <p:nvSpPr>
          <p:cNvPr id="13" name="Text 11"/>
          <p:cNvSpPr/>
          <p:nvPr/>
        </p:nvSpPr>
        <p:spPr>
          <a:xfrm>
            <a:off x="859536" y="5833872"/>
            <a:ext cx="10509199"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The Sun. Sentence 2 is the one voice-matched new line — flagged for approval.</a:t>
            </a:r>
            <a:endParaRPr lang="en-US" sz="66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2.5   ·   </a:t>
            </a:r>
            <a:pPr indent="0" marL="0">
              <a:buNone/>
            </a:pPr>
            <a:r>
              <a:rPr lang="en-US" sz="1050" b="1" spc="150" kern="0" dirty="0">
                <a:solidFill>
                  <a:srgbClr val="5C6672"/>
                </a:solidFill>
                <a:latin typeface="Calibri" pitchFamily="34" charset="0"/>
                <a:ea typeface="Calibri" pitchFamily="34" charset="-122"/>
                <a:cs typeface="Calibri" pitchFamily="34" charset="-120"/>
              </a:rPr>
              <a:t>ACCESSIBLE-LONGEVITY MISSION FIT WITH LLA</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Fast Company / TIME / The Atlantic (contributed)</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eTeacher's Longevity Life Academy Recruits Julie Gibson Clark to Make Longevity Affordable for Mainstream Families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An accessible-longevity advocate on $12 a day and a 25-year education company are betting healthspan can be democratized — in an $8 trillion market that mostly serves the wealthy.</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PHOENIX — The promise of longevity science risks becoming a privilege of the wealthy. The partnership between Julie Gibson Clark and eTeacher's Longevity Life Academy is a deliberate bet against that outcome — pairing a practitioner who ranked #2 in the world on about $12 a day with a platform that already teaches across nearly 200 countries.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stakes are set by the market itself: UBS projects longevity will reach $8 trillion by 2030, yet its most visible offerings remain concierge clinics and $2-million-a-year regimens. Gibson Clark's story is the counterexample the category needs — elite results built from affordable fundamentals.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LLA operationalizes that counterexample. By adding a relatable, low-cost founding-faculty voice to a proven live-education model — small cohorts of 8–15, an included Abbott Lingo glucose monitor, and named instructors — it aims to make personalized longevity available to mainstream American families.</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thesis is simple and testable: if millions can learn a language online in small live classes, millions can learn to extend their healthspan the same way, taught by named instructors and grounded in their own data.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“It really comes down to sleep, food, movement and connection,” Gibson Clark said. “I don't want to add one more thing to people's lives — I want to simplify, and make this reachable for the household that never thought longevity was for them.”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“We want to teach with meaning — content that reaches the human core of a person, not just their calendar,” added CEO Harel Tayeb. “Julie gives that mission a face: real, humble, and living proof that a longer, healthier life is within reach for anyone willing to practice it.”</a:t>
            </a:r>
            <a:endParaRPr lang="en-US" sz="980" dirty="0"/>
          </a:p>
        </p:txBody>
      </p:sp>
      <p:sp>
        <p:nvSpPr>
          <p:cNvPr id="9" name="Shape 7"/>
          <p:cNvSpPr/>
          <p:nvPr/>
        </p:nvSpPr>
        <p:spPr>
          <a:xfrm>
            <a:off x="640080" y="5138928"/>
            <a:ext cx="5318608"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5282032" cy="310896"/>
          </a:xfrm>
          <a:prstGeom prst="rect">
            <a:avLst/>
          </a:prstGeom>
          <a:solidFill>
            <a:srgbClr val="C08A2E"/>
          </a:solidFill>
          <a:ln/>
        </p:spPr>
      </p:sp>
      <p:sp>
        <p:nvSpPr>
          <p:cNvPr id="11" name="Text 9"/>
          <p:cNvSpPr/>
          <p:nvPr/>
        </p:nvSpPr>
        <p:spPr>
          <a:xfrm>
            <a:off x="841248" y="5157216"/>
            <a:ext cx="4916272"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HAREL TAYEB, CEO, eTeacher Group</a:t>
            </a:r>
            <a:endParaRPr lang="en-US" sz="900" dirty="0"/>
          </a:p>
        </p:txBody>
      </p:sp>
      <p:sp>
        <p:nvSpPr>
          <p:cNvPr id="12" name="Text 10"/>
          <p:cNvSpPr/>
          <p:nvPr/>
        </p:nvSpPr>
        <p:spPr>
          <a:xfrm>
            <a:off x="859536" y="5559552"/>
            <a:ext cx="4879696" cy="201168"/>
          </a:xfrm>
          <a:prstGeom prst="rect">
            <a:avLst/>
          </a:prstGeom>
          <a:noFill/>
          <a:ln/>
        </p:spPr>
        <p:txBody>
          <a:bodyPr wrap="square" rtlCol="0" anchor="t"/>
          <a:lstStyle/>
          <a:p>
            <a:pPr indent="0" marL="0">
              <a:lnSpc>
                <a:spcPct val="105000"/>
              </a:lnSpc>
              <a:buNone/>
            </a:pPr>
            <a:r>
              <a:rPr lang="en-US" sz="900" b="1" i="1" dirty="0">
                <a:solidFill>
                  <a:srgbClr val="FFF3DA"/>
                </a:solidFill>
                <a:latin typeface="Calibri" pitchFamily="34" charset="0"/>
                <a:ea typeface="Calibri" pitchFamily="34" charset="-122"/>
                <a:cs typeface="Calibri" pitchFamily="34" charset="-120"/>
              </a:rPr>
              <a:t>“We want to teach with meaning — content that reaches the human core of a person, not just their calendar. Julie gives that mission a face: real, humble, and living proof that a longer, healthier life is within reach for anyone willing to practice it.”</a:t>
            </a:r>
            <a:endParaRPr lang="en-US" sz="900" dirty="0"/>
          </a:p>
        </p:txBody>
      </p:sp>
      <p:sp>
        <p:nvSpPr>
          <p:cNvPr id="13" name="Text 11"/>
          <p:cNvSpPr/>
          <p:nvPr/>
        </p:nvSpPr>
        <p:spPr>
          <a:xfrm>
            <a:off x="859536" y="5833872"/>
            <a:ext cx="4879696"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published lines.</a:t>
            </a:r>
            <a:endParaRPr lang="en-US" sz="680" dirty="0"/>
          </a:p>
        </p:txBody>
      </p:sp>
      <p:sp>
        <p:nvSpPr>
          <p:cNvPr id="14" name="Shape 12"/>
          <p:cNvSpPr/>
          <p:nvPr/>
        </p:nvSpPr>
        <p:spPr>
          <a:xfrm>
            <a:off x="6233008" y="5138928"/>
            <a:ext cx="5318608" cy="1152144"/>
          </a:xfrm>
          <a:prstGeom prst="roundRect">
            <a:avLst>
              <a:gd name="adj" fmla="val 3968"/>
            </a:avLst>
          </a:prstGeom>
          <a:solidFill>
            <a:srgbClr val="FFFFFF"/>
          </a:solidFill>
          <a:ln w="15875">
            <a:solidFill>
              <a:srgbClr val="C08A2E"/>
            </a:solidFill>
            <a:prstDash val="solid"/>
          </a:ln>
        </p:spPr>
      </p:sp>
      <p:sp>
        <p:nvSpPr>
          <p:cNvPr id="15" name="Shape 13"/>
          <p:cNvSpPr/>
          <p:nvPr/>
        </p:nvSpPr>
        <p:spPr>
          <a:xfrm>
            <a:off x="6233008" y="5193792"/>
            <a:ext cx="73152" cy="1042416"/>
          </a:xfrm>
          <a:prstGeom prst="rect">
            <a:avLst/>
          </a:prstGeom>
          <a:solidFill>
            <a:srgbClr val="C08A2E"/>
          </a:solidFill>
          <a:ln/>
        </p:spPr>
      </p:sp>
      <p:sp>
        <p:nvSpPr>
          <p:cNvPr id="16" name="Text 14"/>
          <p:cNvSpPr/>
          <p:nvPr/>
        </p:nvSpPr>
        <p:spPr>
          <a:xfrm>
            <a:off x="6452464" y="5212080"/>
            <a:ext cx="4916272"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JULIE GIBSON CLARK, LLA Founding Faculty</a:t>
            </a:r>
            <a:endParaRPr lang="en-US" sz="800" dirty="0"/>
          </a:p>
        </p:txBody>
      </p:sp>
      <p:sp>
        <p:nvSpPr>
          <p:cNvPr id="17" name="Text 15"/>
          <p:cNvSpPr/>
          <p:nvPr/>
        </p:nvSpPr>
        <p:spPr>
          <a:xfrm>
            <a:off x="6452464" y="5431536"/>
            <a:ext cx="4916272" cy="384048"/>
          </a:xfrm>
          <a:prstGeom prst="rect">
            <a:avLst/>
          </a:prstGeom>
          <a:noFill/>
          <a:ln/>
        </p:spPr>
        <p:txBody>
          <a:bodyPr wrap="square" rtlCol="0" anchor="t"/>
          <a:lstStyle/>
          <a:p>
            <a:pPr indent="0" marL="0">
              <a:lnSpc>
                <a:spcPct val="105000"/>
              </a:lnSpc>
              <a:buNone/>
            </a:pPr>
            <a:r>
              <a:rPr lang="en-US" sz="850" i="1" dirty="0">
                <a:solidFill>
                  <a:srgbClr val="1A1F26"/>
                </a:solidFill>
                <a:latin typeface="Calibri" pitchFamily="34" charset="0"/>
                <a:ea typeface="Calibri" pitchFamily="34" charset="-122"/>
                <a:cs typeface="Calibri" pitchFamily="34" charset="-120"/>
              </a:rPr>
              <a:t>“It really comes down to sleep, food, movement and connection. I don't want to add one more thing to people's lives — I want to simplify, and make this reachable for the household that never thought longevity was for them.”</a:t>
            </a:r>
            <a:endParaRPr lang="en-US" sz="850" dirty="0"/>
          </a:p>
        </p:txBody>
      </p:sp>
      <p:sp>
        <p:nvSpPr>
          <p:cNvPr id="18" name="Text 16"/>
          <p:cNvSpPr/>
          <p:nvPr/>
        </p:nvSpPr>
        <p:spPr>
          <a:xfrm>
            <a:off x="6452464" y="5833872"/>
            <a:ext cx="4916272"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her 2026 YouTube interview. Sentence 2 is the one voice-matched new line — flagged for approval.</a:t>
            </a:r>
            <a:endParaRPr lang="en-US" sz="660" dirty="0"/>
          </a:p>
        </p:txBody>
      </p:sp>
      <p:sp>
        <p:nvSpPr>
          <p:cNvPr id="19" name="Text 17"/>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2.6   ·   </a:t>
            </a:r>
            <a:pPr indent="0" marL="0">
              <a:buNone/>
            </a:pPr>
            <a:r>
              <a:rPr lang="en-US" sz="1050" b="1" spc="150" kern="0" dirty="0">
                <a:solidFill>
                  <a:srgbClr val="5C6672"/>
                </a:solidFill>
                <a:latin typeface="Calibri" pitchFamily="34" charset="0"/>
                <a:ea typeface="Calibri" pitchFamily="34" charset="-122"/>
                <a:cs typeface="Calibri" pitchFamily="34" charset="-120"/>
              </a:rPr>
              <a:t>HER CURRICULUM CONTRIBUTION — WHAT SHE'LL TEACH</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Well+Good / Women's Health / mindbodygreen</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Julie Gibson Clark Joins Longevity Life Academy as Founding Faculty to Lead Its Live Masterclasses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recruiter who held the Rejuvenation Olympics #2 spot for over a year joins Longevity Life Academy as founding faculty, teaching live masterclasses on strength, protein, and sleep as the trainable foundations of a longer life.</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PHOENIX — Julie Gibson Clark has joined Longevity Life Academy as founding faculty. The practical question is what she'll teach — and the answer mirrors the routine that made her a global story: build one sustainable habit at a time until it becomes automatic.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Her masterclasses draw on LLA's six pillars. Gibson Clark's expertise — strength training, 100–130g of protein daily, VO2-max and Zone 2 conditioning, sauna and cold, and disciplined 7–8-hour sleep — spans the Exercise &amp; Movement, Nutrition, Sleep, and Stress Management pillars.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In her live masterclasses she'll guide students through the same fundamentals she lives by, showing how everyday habits — not exotic interventions — produced her results.</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She joins a named faculty that includes longevity researcher Natalie Blackbourne, integrative nutrition coach Courtney Donofrio, and behavioral specialist Jordan Lattimore, adding a practitioner's real-world track record to their academic credentials.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“I'm going to introduce one new habit and practice it until it becomes as routine as brushing my teeth,” Gibson Clark said of her teaching approach. “In the classroom, I get to do that alongside students, week by week, instead of them going it alone.”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says a continuation course, Longevity Blueprint 2, is on the roadmap, giving graduates a next step in the same live, cohort-based format.</a:t>
            </a:r>
            <a:endParaRPr lang="en-US" sz="980" dirty="0"/>
          </a:p>
        </p:txBody>
      </p:sp>
      <p:sp>
        <p:nvSpPr>
          <p:cNvPr id="9" name="Shape 7"/>
          <p:cNvSpPr/>
          <p:nvPr/>
        </p:nvSpPr>
        <p:spPr>
          <a:xfrm>
            <a:off x="640080" y="5138928"/>
            <a:ext cx="10911535" cy="1152144"/>
          </a:xfrm>
          <a:prstGeom prst="roundRect">
            <a:avLst>
              <a:gd name="adj" fmla="val 3968"/>
            </a:avLst>
          </a:prstGeom>
          <a:solidFill>
            <a:srgbClr val="FFFFFF"/>
          </a:solidFill>
          <a:ln w="15875">
            <a:solidFill>
              <a:srgbClr val="C08A2E"/>
            </a:solidFill>
            <a:prstDash val="solid"/>
          </a:ln>
        </p:spPr>
      </p:sp>
      <p:sp>
        <p:nvSpPr>
          <p:cNvPr id="10" name="Shape 8"/>
          <p:cNvSpPr/>
          <p:nvPr/>
        </p:nvSpPr>
        <p:spPr>
          <a:xfrm>
            <a:off x="640080" y="5193792"/>
            <a:ext cx="73152" cy="1042416"/>
          </a:xfrm>
          <a:prstGeom prst="rect">
            <a:avLst/>
          </a:prstGeom>
          <a:solidFill>
            <a:srgbClr val="C08A2E"/>
          </a:solidFill>
          <a:ln/>
        </p:spPr>
      </p:sp>
      <p:sp>
        <p:nvSpPr>
          <p:cNvPr id="11" name="Text 9"/>
          <p:cNvSpPr/>
          <p:nvPr/>
        </p:nvSpPr>
        <p:spPr>
          <a:xfrm>
            <a:off x="859536" y="5212080"/>
            <a:ext cx="10509199"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HIGHLIGHTED QUOTE  ·  JULIE GIBSON CLARK, LLA Founding Faculty</a:t>
            </a:r>
            <a:endParaRPr lang="en-US" sz="800" dirty="0"/>
          </a:p>
        </p:txBody>
      </p:sp>
      <p:sp>
        <p:nvSpPr>
          <p:cNvPr id="12" name="Text 10"/>
          <p:cNvSpPr/>
          <p:nvPr/>
        </p:nvSpPr>
        <p:spPr>
          <a:xfrm>
            <a:off x="859536" y="5431536"/>
            <a:ext cx="10509199" cy="384048"/>
          </a:xfrm>
          <a:prstGeom prst="rect">
            <a:avLst/>
          </a:prstGeom>
          <a:noFill/>
          <a:ln/>
        </p:spPr>
        <p:txBody>
          <a:bodyPr wrap="square" rtlCol="0" anchor="t"/>
          <a:lstStyle/>
          <a:p>
            <a:pPr indent="0" marL="0">
              <a:lnSpc>
                <a:spcPct val="105000"/>
              </a:lnSpc>
              <a:buNone/>
            </a:pPr>
            <a:r>
              <a:rPr lang="en-US" sz="1000" i="1" dirty="0">
                <a:solidFill>
                  <a:srgbClr val="1A1F26"/>
                </a:solidFill>
                <a:latin typeface="Calibri" pitchFamily="34" charset="0"/>
                <a:ea typeface="Calibri" pitchFamily="34" charset="-122"/>
                <a:cs typeface="Calibri" pitchFamily="34" charset="-120"/>
              </a:rPr>
              <a:t>“I'm going to introduce one new habit and practice it until it becomes as routine as brushing my teeth. In the classroom, I get to do that alongside students, week by week, instead of them going it alone.”</a:t>
            </a:r>
            <a:endParaRPr lang="en-US" sz="1000" dirty="0"/>
          </a:p>
        </p:txBody>
      </p:sp>
      <p:sp>
        <p:nvSpPr>
          <p:cNvPr id="13" name="Text 11"/>
          <p:cNvSpPr/>
          <p:nvPr/>
        </p:nvSpPr>
        <p:spPr>
          <a:xfrm>
            <a:off x="859536" y="5833872"/>
            <a:ext cx="10509199"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Business Insider/Yahoo. Sentence 2 is the one voice-matched new line — flagged for approval.</a:t>
            </a:r>
            <a:endParaRPr lang="en-US" sz="66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C08A2E"/>
                </a:solidFill>
                <a:latin typeface="Calibri" pitchFamily="34" charset="0"/>
                <a:ea typeface="Calibri" pitchFamily="34" charset="-122"/>
                <a:cs typeface="Calibri" pitchFamily="34" charset="-120"/>
              </a:rPr>
              <a:t>ARTICLE 2.7   ·   </a:t>
            </a:r>
            <a:pPr indent="0" marL="0">
              <a:buNone/>
            </a:pPr>
            <a:r>
              <a:rPr lang="en-US" sz="1050" b="1" spc="150" kern="0" dirty="0">
                <a:solidFill>
                  <a:srgbClr val="5C6672"/>
                </a:solidFill>
                <a:latin typeface="Calibri" pitchFamily="34" charset="0"/>
                <a:ea typeface="Calibri" pitchFamily="34" charset="-122"/>
                <a:cs typeface="Calibri" pitchFamily="34" charset="-120"/>
              </a:rPr>
              <a:t>BROADCAST SEGMENT PITCH — JULIE + CGM DEMO</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C08A2E"/>
                </a:solidFill>
                <a:latin typeface="Calibri" pitchFamily="34" charset="0"/>
                <a:ea typeface="Calibri" pitchFamily="34" charset="-122"/>
                <a:cs typeface="Calibri" pitchFamily="34" charset="-120"/>
              </a:rPr>
              <a:t>Fox News Health / Good Morning America / network AM shows</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Longevity Life Academy Founding Faculty Member Julie Gibson Clark Demonstrates Her $12-a-Day Longevity Routine Live</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A ready-made morning-show segment: a $12-a-day routine that beat a $2-million budget, a glucose-monitor demo, and daily rituals viewers can start today.</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PHOENIX — Julie Gibson Clark's story is tailor-made for broadcast: a 56-year-old Phoenix single mom and former structural engineer who ranked #2 on a global longevity leaderboard — ahead of Bryan Johnson — on roughly $100–150 a month, and who has now joined eTeacher's Longevity Life Academy as founding faculty, leading its live masterclasses.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visual hook is built in. Gibson Clark can demonstrate the Abbott Lingo continuous glucose monitor — the same painless, 14-day biosensor shipped to every LLA student — showing on camera how a meal moves her blood sugar in real time, then contrasting longevity myth versus reality on cost.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relatability is the draw for a general audience: her DunedinPACE score of 0.665 suggests roughly 34% slower aging, but her method is ordinary — a pound of vegetables a day, protein, strength work, sleep — rituals any viewer can start that morning.</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can offer both Gibson Clark and a company spokesperson for interviews, plus b-roll of a live class of 8–15 students, positioning LLA as the accessible, teach-don't-sell alternative in a market UBS values at $8 trillion by 2030.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“It's not the years in your life, but the life in your years,” Gibson Clark said. “Anyone watching can start today — that's exactly what I love about teaching this live.”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Segment availability aligns with LLA's current enrollment window, with the glucose-monitor demo available in-studio or remote.</a:t>
            </a:r>
            <a:endParaRPr lang="en-US" sz="980" dirty="0"/>
          </a:p>
        </p:txBody>
      </p:sp>
      <p:sp>
        <p:nvSpPr>
          <p:cNvPr id="9" name="Shape 7"/>
          <p:cNvSpPr/>
          <p:nvPr/>
        </p:nvSpPr>
        <p:spPr>
          <a:xfrm>
            <a:off x="640080" y="5138928"/>
            <a:ext cx="10911535" cy="1152144"/>
          </a:xfrm>
          <a:prstGeom prst="roundRect">
            <a:avLst>
              <a:gd name="adj" fmla="val 3968"/>
            </a:avLst>
          </a:prstGeom>
          <a:solidFill>
            <a:srgbClr val="FFFFFF"/>
          </a:solidFill>
          <a:ln w="15875">
            <a:solidFill>
              <a:srgbClr val="C08A2E"/>
            </a:solidFill>
            <a:prstDash val="solid"/>
          </a:ln>
        </p:spPr>
      </p:sp>
      <p:sp>
        <p:nvSpPr>
          <p:cNvPr id="10" name="Shape 8"/>
          <p:cNvSpPr/>
          <p:nvPr/>
        </p:nvSpPr>
        <p:spPr>
          <a:xfrm>
            <a:off x="640080" y="5193792"/>
            <a:ext cx="73152" cy="1042416"/>
          </a:xfrm>
          <a:prstGeom prst="rect">
            <a:avLst/>
          </a:prstGeom>
          <a:solidFill>
            <a:srgbClr val="C08A2E"/>
          </a:solidFill>
          <a:ln/>
        </p:spPr>
      </p:sp>
      <p:sp>
        <p:nvSpPr>
          <p:cNvPr id="11" name="Text 9"/>
          <p:cNvSpPr/>
          <p:nvPr/>
        </p:nvSpPr>
        <p:spPr>
          <a:xfrm>
            <a:off x="859536" y="5212080"/>
            <a:ext cx="10509199" cy="201168"/>
          </a:xfrm>
          <a:prstGeom prst="rect">
            <a:avLst/>
          </a:prstGeom>
          <a:noFill/>
          <a:ln/>
        </p:spPr>
        <p:txBody>
          <a:bodyPr wrap="square" rtlCol="0" anchor="ctr"/>
          <a:lstStyle/>
          <a:p>
            <a:pPr indent="0" marL="0">
              <a:buNone/>
            </a:pPr>
            <a:r>
              <a:rPr lang="en-US" sz="800" b="1" spc="80" kern="0" dirty="0">
                <a:solidFill>
                  <a:srgbClr val="6E4A12"/>
                </a:solidFill>
                <a:latin typeface="Calibri" pitchFamily="34" charset="0"/>
                <a:ea typeface="Calibri" pitchFamily="34" charset="-122"/>
                <a:cs typeface="Calibri" pitchFamily="34" charset="-120"/>
              </a:rPr>
              <a:t>HIGHLIGHTED QUOTE  ·  JULIE GIBSON CLARK, LLA Founding Faculty</a:t>
            </a:r>
            <a:endParaRPr lang="en-US" sz="800" dirty="0"/>
          </a:p>
        </p:txBody>
      </p:sp>
      <p:sp>
        <p:nvSpPr>
          <p:cNvPr id="12" name="Text 10"/>
          <p:cNvSpPr/>
          <p:nvPr/>
        </p:nvSpPr>
        <p:spPr>
          <a:xfrm>
            <a:off x="859536" y="5431536"/>
            <a:ext cx="10509199" cy="384048"/>
          </a:xfrm>
          <a:prstGeom prst="rect">
            <a:avLst/>
          </a:prstGeom>
          <a:noFill/>
          <a:ln/>
        </p:spPr>
        <p:txBody>
          <a:bodyPr wrap="square" rtlCol="0" anchor="t"/>
          <a:lstStyle/>
          <a:p>
            <a:pPr indent="0" marL="0">
              <a:lnSpc>
                <a:spcPct val="105000"/>
              </a:lnSpc>
              <a:buNone/>
            </a:pPr>
            <a:r>
              <a:rPr lang="en-US" sz="1000" i="1" dirty="0">
                <a:solidFill>
                  <a:srgbClr val="1A1F26"/>
                </a:solidFill>
                <a:latin typeface="Calibri" pitchFamily="34" charset="0"/>
                <a:ea typeface="Calibri" pitchFamily="34" charset="-122"/>
                <a:cs typeface="Calibri" pitchFamily="34" charset="-120"/>
              </a:rPr>
              <a:t>“It's not the years in your life, but the life in your years. Anyone watching can start today — that's exactly what I love about teaching this live.”</a:t>
            </a:r>
            <a:endParaRPr lang="en-US" sz="1000" dirty="0"/>
          </a:p>
        </p:txBody>
      </p:sp>
      <p:sp>
        <p:nvSpPr>
          <p:cNvPr id="13" name="Text 11"/>
          <p:cNvSpPr/>
          <p:nvPr/>
        </p:nvSpPr>
        <p:spPr>
          <a:xfrm>
            <a:off x="859536" y="5833872"/>
            <a:ext cx="10509199" cy="329184"/>
          </a:xfrm>
          <a:prstGeom prst="rect">
            <a:avLst/>
          </a:prstGeom>
          <a:noFill/>
          <a:ln/>
        </p:spPr>
        <p:txBody>
          <a:bodyPr wrap="square" rtlCol="0" anchor="b"/>
          <a:lstStyle/>
          <a:p>
            <a:pPr indent="0" marL="0">
              <a:lnSpc>
                <a:spcPct val="102000"/>
              </a:lnSpc>
              <a:buNone/>
            </a:pPr>
            <a:r>
              <a:rPr lang="en-US" sz="660" i="1" dirty="0">
                <a:solidFill>
                  <a:srgbClr val="5C6672"/>
                </a:solidFill>
                <a:latin typeface="Calibri" pitchFamily="34" charset="0"/>
                <a:ea typeface="Calibri" pitchFamily="34" charset="-122"/>
                <a:cs typeface="Calibri" pitchFamily="34" charset="-120"/>
              </a:rPr>
              <a:t>Sentence 1 is verbatim from Fox News. Sentence 2 is the one voice-matched new line — flagged for approval.</a:t>
            </a:r>
            <a:endParaRPr lang="en-US" sz="66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2395C"/>
          </a:solidFill>
          <a:ln/>
        </p:spPr>
      </p:sp>
      <p:sp>
        <p:nvSpPr>
          <p:cNvPr id="3" name="Text 1"/>
          <p:cNvSpPr/>
          <p:nvPr/>
        </p:nvSpPr>
        <p:spPr>
          <a:xfrm>
            <a:off x="640080" y="1965960"/>
            <a:ext cx="10911535" cy="365760"/>
          </a:xfrm>
          <a:prstGeom prst="rect">
            <a:avLst/>
          </a:prstGeom>
          <a:noFill/>
          <a:ln/>
        </p:spPr>
        <p:txBody>
          <a:bodyPr wrap="square" rtlCol="0" anchor="ctr"/>
          <a:lstStyle/>
          <a:p>
            <a:pPr indent="0" marL="0">
              <a:buNone/>
            </a:pPr>
            <a:r>
              <a:rPr lang="en-US" sz="1500" b="1" spc="400" kern="0" dirty="0">
                <a:solidFill>
                  <a:srgbClr val="C08A2E"/>
                </a:solidFill>
                <a:latin typeface="Calibri" pitchFamily="34" charset="0"/>
                <a:ea typeface="Calibri" pitchFamily="34" charset="-122"/>
                <a:cs typeface="Calibri" pitchFamily="34" charset="-120"/>
              </a:rPr>
              <a:t>CHAPTER 3 OF 4</a:t>
            </a:r>
            <a:endParaRPr lang="en-US" sz="1500" dirty="0"/>
          </a:p>
        </p:txBody>
      </p:sp>
      <p:sp>
        <p:nvSpPr>
          <p:cNvPr id="4" name="Text 2"/>
          <p:cNvSpPr/>
          <p:nvPr/>
        </p:nvSpPr>
        <p:spPr>
          <a:xfrm>
            <a:off x="640080" y="2514600"/>
            <a:ext cx="10911535" cy="1463040"/>
          </a:xfrm>
          <a:prstGeom prst="rect">
            <a:avLst/>
          </a:prstGeom>
          <a:noFill/>
          <a:ln/>
        </p:spPr>
        <p:txBody>
          <a:bodyPr wrap="square"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The Longevity Hub App (Roadmap)</a:t>
            </a:r>
            <a:endParaRPr lang="en-US" sz="4200" dirty="0"/>
          </a:p>
        </p:txBody>
      </p:sp>
      <p:sp>
        <p:nvSpPr>
          <p:cNvPr id="5" name="Text 3"/>
          <p:cNvSpPr/>
          <p:nvPr/>
        </p:nvSpPr>
        <p:spPr>
          <a:xfrm>
            <a:off x="640080" y="4297680"/>
            <a:ext cx="10241280" cy="914400"/>
          </a:xfrm>
          <a:prstGeom prst="rect">
            <a:avLst/>
          </a:prstGeom>
          <a:noFill/>
          <a:ln/>
        </p:spPr>
        <p:txBody>
          <a:bodyPr wrap="square" rtlCol="0" anchor="ctr"/>
          <a:lstStyle/>
          <a:p>
            <a:pPr indent="0" marL="0">
              <a:lnSpc>
                <a:spcPct val="120000"/>
              </a:lnSpc>
              <a:buNone/>
            </a:pPr>
            <a:r>
              <a:rPr lang="en-US" sz="1700" dirty="0">
                <a:solidFill>
                  <a:srgbClr val="C9D3DD"/>
                </a:solidFill>
                <a:latin typeface="Calibri" pitchFamily="34" charset="0"/>
                <a:ea typeface="Calibri" pitchFamily="34" charset="-122"/>
                <a:cs typeface="Calibri" pitchFamily="34" charset="-120"/>
              </a:rPr>
              <a:t>One message: eTeacher's longevity practice, in your pocket — a planned AI tutor and daily rituals, the 'gym for the brain' for healthspan.</a:t>
            </a:r>
            <a:endParaRPr lang="en-US" sz="1700" dirty="0"/>
          </a:p>
        </p:txBody>
      </p:sp>
      <p:sp>
        <p:nvSpPr>
          <p:cNvPr id="6" name="Text 4"/>
          <p:cNvSpPr/>
          <p:nvPr/>
        </p:nvSpPr>
        <p:spPr>
          <a:xfrm>
            <a:off x="640080" y="5394960"/>
            <a:ext cx="3657600"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2 ARTICLES</a:t>
            </a:r>
            <a:endParaRPr lang="en-US" sz="1300" dirty="0"/>
          </a:p>
        </p:txBody>
      </p:sp>
      <p:sp>
        <p:nvSpPr>
          <p:cNvPr id="7" name="Text 5"/>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12395C"/>
                </a:solidFill>
                <a:latin typeface="Calibri" pitchFamily="34" charset="0"/>
                <a:ea typeface="Calibri" pitchFamily="34" charset="-122"/>
                <a:cs typeface="Calibri" pitchFamily="34" charset="-120"/>
              </a:rPr>
              <a:t>ARTICLE 3.1   ·   </a:t>
            </a:r>
            <a:pPr indent="0" marL="0">
              <a:buNone/>
            </a:pPr>
            <a:r>
              <a:rPr lang="en-US" sz="1050" b="1" spc="150" kern="0" dirty="0">
                <a:solidFill>
                  <a:srgbClr val="5C6672"/>
                </a:solidFill>
                <a:latin typeface="Calibri" pitchFamily="34" charset="0"/>
                <a:ea typeface="Calibri" pitchFamily="34" charset="-122"/>
                <a:cs typeface="Calibri" pitchFamily="34" charset="-120"/>
              </a:rPr>
              <a:t>PRODUCT ANNOUNCEMENT — TAILORED PRACTICE, AI TUTOR, DAILY RITUALS, TRACKING</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12395C"/>
                </a:solidFill>
                <a:latin typeface="Calibri" pitchFamily="34" charset="0"/>
                <a:ea typeface="Calibri" pitchFamily="34" charset="-122"/>
                <a:cs typeface="Calibri" pitchFamily="34" charset="-120"/>
              </a:rPr>
              <a:t>TechCrunch / The Verge / PR Newswire</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to Launch the Longevity Hub: A Planned AI Tutor and Daily-Ritual Engine for Healthspan</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upcoming companion app will turn the 18-week Longevity Blueprint into simple, trackable daily rituals — guided by an AI longevity tutor built on eTeacher's “gym for the brain” model.</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eTeacher Group today previewed the Longevity Hub, a companion app on its roadmap that will extend Longevity Life Academy beyond the weekly live class. The Hub is designed to deliver a personalized longevity practice as bite-size daily rituals, integrated tracking, and lifestyle guidance.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app targets the field's real failure point. Longevity advice is everywhere, but daily follow-through is rare; eTeacher plans to attack that gap the same way it does in language learning — through short, engaging daily practice rather than more content to ignore.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At the Hub's center will be an AI longevity tutor — the same “gym for the brain” approach eTeacher pioneered across its five schools — intended to check in daily, adapt to each user's data, and keep them progressing between live sessions. The company plans for the Hub to connect with CGM, sleep, and wearable data so each user's biology becomes a personal feedback loop.</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Hub is being built to complement, not replace, the live 18-week Longevity Blueprint and its cohorts of 8–15, reinforcing eTeacher's live-expert-plus-AI model rather than substituting for the teacher.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“A weekly class changes what you know. A daily habit changes who you are,” said CEO Harel Tayeb, describing the app's intent. “The Hub we are building will live in that daily space — a few quiet minutes each morning that keep your protocol alive between classes. It is on our roadmap, and we will only ship it when it earns a place in someone's real routine.”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says the Longevity Hub is planned for release in the year ahead, with timing to follow the expansion of its live course catalog.</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“A weekly class changes what you know. A daily habit changes who you are. The Hub we are building will live in that daily space — a few quiet minutes each morning that keep your protocol alive between classes. It is on our roadmap, and we will only ship it when it earns a place in someone's real routine.”</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the published ‘professor available 24/7’ line.</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12395C"/>
                </a:solidFill>
                <a:latin typeface="Calibri" pitchFamily="34" charset="0"/>
                <a:ea typeface="Calibri" pitchFamily="34" charset="-122"/>
                <a:cs typeface="Calibri" pitchFamily="34" charset="-120"/>
              </a:rPr>
              <a:t>ARTICLE 3.2   ·   </a:t>
            </a:r>
            <a:pPr indent="0" marL="0">
              <a:buNone/>
            </a:pPr>
            <a:r>
              <a:rPr lang="en-US" sz="1050" b="1" spc="150" kern="0" dirty="0">
                <a:solidFill>
                  <a:srgbClr val="5C6672"/>
                </a:solidFill>
                <a:latin typeface="Calibri" pitchFamily="34" charset="0"/>
                <a:ea typeface="Calibri" pitchFamily="34" charset="-122"/>
                <a:cs typeface="Calibri" pitchFamily="34" charset="-120"/>
              </a:rPr>
              <a:t>TECH / AI-IN-HEALTH ANGLE — THE PERSISTENCE PROBLEM</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12395C"/>
                </a:solidFill>
                <a:latin typeface="Calibri" pitchFamily="34" charset="0"/>
                <a:ea typeface="Calibri" pitchFamily="34" charset="-122"/>
                <a:cs typeface="Calibri" pitchFamily="34" charset="-120"/>
              </a:rPr>
              <a:t>Fast Company / Wired / mindbodygreen</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eTeacher's Planned Longevity Hub App Will Use AI to Turn the Longevity Blueprint Into Daily Habits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upcoming Longevity Hub will break healthspan into daily micro-rituals — because the science only works if you actually stick with it.</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The hardest part of longevity isn't knowing what to do — it's doing it every day. eTeacher Group's planned Longevity Hub app is being designed squarely around that persistence problem, converting the 18-week Longevity Blueprint into small, daily, trackable actions.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It is a bet grounded in the company's own data across five schools: eTeacher argues that engagement, not information, is the real bottleneck in adult learning, and that unlimited self-guided content is precisely what drives people to quit.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proposed solution is an AI tutor built on eTeacher's micro-learning model — the “gym for the brain” — that will deliver relevant, personalized prompts, recognize streaks, and re-engage users who drift. The company plans for it to draw on each user's glucose, sleep, and movement data so the nudges reflect real biology, not generic reminders.</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This AI layer is on eTeacher's roadmap rather than live today; the current program remains live-expert-led, with the Hub intended to strengthen daily adherence between weekly sessions.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“In adult learning, the enemy is not ignorance — it is the day you skip, and then the week,” said CEO Harel Tayeb. “We are designing the Hub's AI to notice that moment and gently pull you back, using your own glucose and sleep data so the nudge means something. That is how we plan to make persistence stop being the hard part.”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expects to roll out the Longevity Hub in the year ahead, alongside a broader expansion of its longevity curriculum.</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“In adult learning, the enemy is not ignorance — it is the day you skip, and then the week. We are designing the Hub's AI to notice that moment and gently pull you back, using your own glucose and sleep data so the nudge means something. That is how we plan to make persistence stop being the hard part.”</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the published ‘gym for the brain’ line.</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6E4A12"/>
          </a:solidFill>
          <a:ln/>
        </p:spPr>
      </p:sp>
      <p:sp>
        <p:nvSpPr>
          <p:cNvPr id="3" name="Text 1"/>
          <p:cNvSpPr/>
          <p:nvPr/>
        </p:nvSpPr>
        <p:spPr>
          <a:xfrm>
            <a:off x="640080" y="1965960"/>
            <a:ext cx="10911535" cy="365760"/>
          </a:xfrm>
          <a:prstGeom prst="rect">
            <a:avLst/>
          </a:prstGeom>
          <a:noFill/>
          <a:ln/>
        </p:spPr>
        <p:txBody>
          <a:bodyPr wrap="square" rtlCol="0" anchor="ctr"/>
          <a:lstStyle/>
          <a:p>
            <a:pPr indent="0" marL="0">
              <a:buNone/>
            </a:pPr>
            <a:r>
              <a:rPr lang="en-US" sz="1500" b="1" spc="400" kern="0" dirty="0">
                <a:solidFill>
                  <a:srgbClr val="C08A2E"/>
                </a:solidFill>
                <a:latin typeface="Calibri" pitchFamily="34" charset="0"/>
                <a:ea typeface="Calibri" pitchFamily="34" charset="-122"/>
                <a:cs typeface="Calibri" pitchFamily="34" charset="-120"/>
              </a:rPr>
              <a:t>CHAPTER 4 OF 4</a:t>
            </a:r>
            <a:endParaRPr lang="en-US" sz="1500" dirty="0"/>
          </a:p>
        </p:txBody>
      </p:sp>
      <p:sp>
        <p:nvSpPr>
          <p:cNvPr id="4" name="Text 2"/>
          <p:cNvSpPr/>
          <p:nvPr/>
        </p:nvSpPr>
        <p:spPr>
          <a:xfrm>
            <a:off x="640080" y="2514600"/>
            <a:ext cx="10911535" cy="1463040"/>
          </a:xfrm>
          <a:prstGeom prst="rect">
            <a:avLst/>
          </a:prstGeom>
          <a:noFill/>
          <a:ln/>
        </p:spPr>
        <p:txBody>
          <a:bodyPr wrap="square"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Six New Longevity Courses (Roadmap)</a:t>
            </a:r>
            <a:endParaRPr lang="en-US" sz="4200" dirty="0"/>
          </a:p>
        </p:txBody>
      </p:sp>
      <p:sp>
        <p:nvSpPr>
          <p:cNvPr id="5" name="Text 3"/>
          <p:cNvSpPr/>
          <p:nvPr/>
        </p:nvSpPr>
        <p:spPr>
          <a:xfrm>
            <a:off x="640080" y="4297680"/>
            <a:ext cx="10241280" cy="914400"/>
          </a:xfrm>
          <a:prstGeom prst="rect">
            <a:avLst/>
          </a:prstGeom>
          <a:noFill/>
          <a:ln/>
        </p:spPr>
        <p:txBody>
          <a:bodyPr wrap="square" rtlCol="0" anchor="ctr"/>
          <a:lstStyle/>
          <a:p>
            <a:pPr indent="0" marL="0">
              <a:lnSpc>
                <a:spcPct val="120000"/>
              </a:lnSpc>
              <a:buNone/>
            </a:pPr>
            <a:r>
              <a:rPr lang="en-US" sz="1700" dirty="0">
                <a:solidFill>
                  <a:srgbClr val="C9D3DD"/>
                </a:solidFill>
                <a:latin typeface="Calibri" pitchFamily="34" charset="0"/>
                <a:ea typeface="Calibri" pitchFamily="34" charset="-122"/>
                <a:cs typeface="Calibri" pitchFamily="34" charset="-120"/>
              </a:rPr>
              <a:t>One message: eTeacher is building a full longevity college — not a single course.</a:t>
            </a:r>
            <a:endParaRPr lang="en-US" sz="1700" dirty="0"/>
          </a:p>
        </p:txBody>
      </p:sp>
      <p:sp>
        <p:nvSpPr>
          <p:cNvPr id="6" name="Text 4"/>
          <p:cNvSpPr/>
          <p:nvPr/>
        </p:nvSpPr>
        <p:spPr>
          <a:xfrm>
            <a:off x="640080" y="5394960"/>
            <a:ext cx="3657600"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2 ARTICLES</a:t>
            </a:r>
            <a:endParaRPr lang="en-US" sz="1300" dirty="0"/>
          </a:p>
        </p:txBody>
      </p:sp>
      <p:sp>
        <p:nvSpPr>
          <p:cNvPr id="7" name="Text 5"/>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6E4A12"/>
                </a:solidFill>
                <a:latin typeface="Calibri" pitchFamily="34" charset="0"/>
                <a:ea typeface="Calibri" pitchFamily="34" charset="-122"/>
                <a:cs typeface="Calibri" pitchFamily="34" charset="-120"/>
              </a:rPr>
              <a:t>ARTICLE 4.1   ·   </a:t>
            </a:r>
            <a:pPr indent="0" marL="0">
              <a:buNone/>
            </a:pPr>
            <a:r>
              <a:rPr lang="en-US" sz="1050" b="1" spc="150" kern="0" dirty="0">
                <a:solidFill>
                  <a:srgbClr val="5C6672"/>
                </a:solidFill>
                <a:latin typeface="Calibri" pitchFamily="34" charset="0"/>
                <a:ea typeface="Calibri" pitchFamily="34" charset="-122"/>
                <a:cs typeface="Calibri" pitchFamily="34" charset="-120"/>
              </a:rPr>
              <a:t>THE EXPANSION ANNOUNCEMENT — ALL SIX COURSES</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6E4A12"/>
                </a:solidFill>
                <a:latin typeface="Calibri" pitchFamily="34" charset="0"/>
                <a:ea typeface="Calibri" pitchFamily="34" charset="-122"/>
                <a:cs typeface="Calibri" pitchFamily="34" charset="-120"/>
              </a:rPr>
              <a:t>PR Newswire → EdSurge / Longevity.Technology</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to Add Six New Longevity Courses Following Its Q2 Longevity Life Academy Debut</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planned expansion turns a single flagship course into a full longevity curriculum — six new programs spanning metabolic health, movement, biomarkers, and brain training.</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Building on the Q2 launch of its flagship 18-week course, The Longevity Blueprint, eTeacher Group today announced six new Longevity Life Academy courses planned to roll out over the coming year.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expansion answers demand created by a market UBS projects will reach $8 trillion by 2030, and it reflects eTeacher's view that longevity is a lifelong practice rather than a single class. The six upcoming courses are: Emotional Resilience &amp; Stress; Metabolic Mastery; Activities &amp; Movement: Athlete-Level Performance; Longevity Blueprint 2, a continuation of the flagship; Biomarkers &amp; Advanced Wearables; and Longevity Brain, which trains the brain like the body and adds social health and relationships.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Each new course is planned to keep the LLA format that defines the flagship: live, small-group sessions of 8–15, instructor-led across multiple phases, with personal-data integration and named expert faculty.</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lineup is designed to deepen, not dilute, the model — with the Biomarkers &amp; Advanced Wearables course, in particular, extending the Abbott Lingo glucose-monitor foundation into a wider set of measurable inputs.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“One course can change a season. A school can change a life,” said CEO Harel Tayeb. “We are not adding classes to a catalog — we are building a place a person can keep coming back to as their body and their goals change over the decades. Longevity is a lifelong practice, and it deserves a lifelong school.”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says the six courses are on its roadmap for the year following the Q2 debut, with instructors and enrollment dates to be announced.</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“One course can change a season. A school can change a life. We are not adding classes to a catalog — we are building a place a person can keep coming back to as their body and their goals change over the decades. Longevity is a lifelong practice, and it deserves a lifelong school.”</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published lines.</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6E4A12"/>
                </a:solidFill>
                <a:latin typeface="Calibri" pitchFamily="34" charset="0"/>
                <a:ea typeface="Calibri" pitchFamily="34" charset="-122"/>
                <a:cs typeface="Calibri" pitchFamily="34" charset="-120"/>
              </a:rPr>
              <a:t>ARTICLE 4.2   ·   </a:t>
            </a:r>
            <a:pPr indent="0" marL="0">
              <a:buNone/>
            </a:pPr>
            <a:r>
              <a:rPr lang="en-US" sz="1050" b="1" spc="150" kern="0" dirty="0">
                <a:solidFill>
                  <a:srgbClr val="5C6672"/>
                </a:solidFill>
                <a:latin typeface="Calibri" pitchFamily="34" charset="0"/>
                <a:ea typeface="Calibri" pitchFamily="34" charset="-122"/>
                <a:cs typeface="Calibri" pitchFamily="34" charset="-120"/>
              </a:rPr>
              <a:t>CURRICULUM DEPTH / “LEARNING JOURNEY” — LONGEVITY BRAIN FEATURE</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6E4A12"/>
                </a:solidFill>
                <a:latin typeface="Calibri" pitchFamily="34" charset="0"/>
                <a:ea typeface="Calibri" pitchFamily="34" charset="-122"/>
                <a:cs typeface="Calibri" pitchFamily="34" charset="-120"/>
              </a:rPr>
              <a:t>Well+Good / mindbodygreen / psychology-forward outlets</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eTeacher Plans Six New Longevity Life Academy Courses in Brain Training, Metabolism, Movement and Biomarkers</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upcoming curriculum treats memory, focus, emotional health, and relationships as trainable longevity levers — turning a single course into a multi-phase journey.</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As eTeacher Group maps out its six planned Longevity Life Academy courses, one stands out as the most distinctly eTeacher: Longevity Brain, a program that will treat cognitive and social health as core longevity practices rather than afterthoughts.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design reflects a broader idea about how longevity should be taught — as a sequenced journey, not a one-off. Students would begin with the flagship 18-week Longevity Blueprint, then progress through specialized courses like Metabolic Mastery, Athlete-Level Performance, and Biomarkers &amp; Advanced Wearables, each in the same live, 8–15-student cohort format.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Longevity Brain is planned to cover memory, focus, emotional resilience, and the science of relationships and social connection — directly answering eTeacher's founding concern about keeping the adult mind engaged. Emotional Resilience &amp; Stress and Longevity Blueprint 2 round out the mental-and-continuation track.</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through-line is the company's live-expert-plus-AI method, refined over 25 years and 400,000+ courses, now organized so a student can build a complete healthspan practice over time rather than in a single term.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“We spend billions keeping the body young and almost nothing keeping the mind and our relationships strong,” said CEO Harel Tayeb. “Longevity Brain will treat memory, focus, and human connection as things you can train — because a long life you can't fully feel or share is only half the goal.”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says the full learning journey is planned for the year following the Q2 launch, with course sequencing and faculty to be confirmed.</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“We spend billions keeping the body young and almost nothing keeping the mind and our relationships strong. Longevity Brain will treat memory, focus, and human connection as things you can train — because a long life you can't fully feel or share is only half the goal.”</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Fresh in his voice; does NOT reuse the published ‘cognitive atrophy’ line.</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7A2E1A"/>
          </a:solidFill>
          <a:ln/>
        </p:spPr>
      </p:sp>
      <p:sp>
        <p:nvSpPr>
          <p:cNvPr id="3" name="Text 1"/>
          <p:cNvSpPr/>
          <p:nvPr/>
        </p:nvSpPr>
        <p:spPr>
          <a:xfrm>
            <a:off x="640080" y="1965960"/>
            <a:ext cx="10911535" cy="365760"/>
          </a:xfrm>
          <a:prstGeom prst="rect">
            <a:avLst/>
          </a:prstGeom>
          <a:noFill/>
          <a:ln/>
        </p:spPr>
        <p:txBody>
          <a:bodyPr wrap="square" rtlCol="0" anchor="ctr"/>
          <a:lstStyle/>
          <a:p>
            <a:pPr indent="0" marL="0">
              <a:buNone/>
            </a:pPr>
            <a:r>
              <a:rPr lang="en-US" sz="1500" b="1" spc="400" kern="0" dirty="0">
                <a:solidFill>
                  <a:srgbClr val="C08A2E"/>
                </a:solidFill>
                <a:latin typeface="Calibri" pitchFamily="34" charset="0"/>
                <a:ea typeface="Calibri" pitchFamily="34" charset="-122"/>
                <a:cs typeface="Calibri" pitchFamily="34" charset="-120"/>
              </a:rPr>
              <a:t>CHAPTER 5 OF 4</a:t>
            </a:r>
            <a:endParaRPr lang="en-US" sz="1500" dirty="0"/>
          </a:p>
        </p:txBody>
      </p:sp>
      <p:sp>
        <p:nvSpPr>
          <p:cNvPr id="4" name="Text 2"/>
          <p:cNvSpPr/>
          <p:nvPr/>
        </p:nvSpPr>
        <p:spPr>
          <a:xfrm>
            <a:off x="640080" y="2514600"/>
            <a:ext cx="10911535" cy="1463040"/>
          </a:xfrm>
          <a:prstGeom prst="rect">
            <a:avLst/>
          </a:prstGeom>
          <a:noFill/>
          <a:ln/>
        </p:spPr>
        <p:txBody>
          <a:bodyPr wrap="square"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The Longevity Reset: Consistency Over Cost</a:t>
            </a:r>
            <a:endParaRPr lang="en-US" sz="4200" dirty="0"/>
          </a:p>
        </p:txBody>
      </p:sp>
      <p:sp>
        <p:nvSpPr>
          <p:cNvPr id="5" name="Text 3"/>
          <p:cNvSpPr/>
          <p:nvPr/>
        </p:nvSpPr>
        <p:spPr>
          <a:xfrm>
            <a:off x="640080" y="4297680"/>
            <a:ext cx="10241280" cy="914400"/>
          </a:xfrm>
          <a:prstGeom prst="rect">
            <a:avLst/>
          </a:prstGeom>
          <a:noFill/>
          <a:ln/>
        </p:spPr>
        <p:txBody>
          <a:bodyPr wrap="square" rtlCol="0" anchor="ctr"/>
          <a:lstStyle/>
          <a:p>
            <a:pPr indent="0" marL="0">
              <a:lnSpc>
                <a:spcPct val="120000"/>
              </a:lnSpc>
              <a:buNone/>
            </a:pPr>
            <a:r>
              <a:rPr lang="en-US" sz="1700" dirty="0">
                <a:solidFill>
                  <a:srgbClr val="C9D3DD"/>
                </a:solidFill>
                <a:latin typeface="Calibri" pitchFamily="34" charset="0"/>
                <a:ea typeface="Calibri" pitchFamily="34" charset="-122"/>
                <a:cs typeface="Calibri" pitchFamily="34" charset="-120"/>
              </a:rPr>
              <a:t>One message: You don't need $2 million a year to live longer — you need a live teacher, a small class, and habits that stick.</a:t>
            </a:r>
            <a:endParaRPr lang="en-US" sz="1700" dirty="0"/>
          </a:p>
        </p:txBody>
      </p:sp>
      <p:sp>
        <p:nvSpPr>
          <p:cNvPr id="6" name="Text 4"/>
          <p:cNvSpPr/>
          <p:nvPr/>
        </p:nvSpPr>
        <p:spPr>
          <a:xfrm>
            <a:off x="640080" y="5394960"/>
            <a:ext cx="3657600" cy="365760"/>
          </a:xfrm>
          <a:prstGeom prst="rect">
            <a:avLst/>
          </a:prstGeom>
          <a:noFill/>
          <a:ln/>
        </p:spPr>
        <p:txBody>
          <a:bodyPr wrap="square" rtlCol="0" anchor="ctr"/>
          <a:lstStyle/>
          <a:p>
            <a:pPr indent="0" marL="0">
              <a:buNone/>
            </a:pPr>
            <a:r>
              <a:rPr lang="en-US" sz="1300" b="1" spc="200" kern="0" dirty="0">
                <a:solidFill>
                  <a:srgbClr val="C08A2E"/>
                </a:solidFill>
                <a:latin typeface="Calibri" pitchFamily="34" charset="0"/>
                <a:ea typeface="Calibri" pitchFamily="34" charset="-122"/>
                <a:cs typeface="Calibri" pitchFamily="34" charset="-120"/>
              </a:rPr>
              <a:t>5 ARTICLES</a:t>
            </a:r>
            <a:endParaRPr lang="en-US" sz="1300" dirty="0"/>
          </a:p>
        </p:txBody>
      </p:sp>
      <p:sp>
        <p:nvSpPr>
          <p:cNvPr id="7" name="Text 5"/>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7A2E1A"/>
                </a:solidFill>
                <a:latin typeface="Calibri" pitchFamily="34" charset="0"/>
                <a:ea typeface="Calibri" pitchFamily="34" charset="-122"/>
                <a:cs typeface="Calibri" pitchFamily="34" charset="-120"/>
              </a:rPr>
              <a:t>ARTICLE 5.1   ·   </a:t>
            </a:r>
            <a:pPr indent="0" marL="0">
              <a:buNone/>
            </a:pPr>
            <a:r>
              <a:rPr lang="en-US" sz="1050" b="1" spc="150" kern="0" dirty="0">
                <a:solidFill>
                  <a:srgbClr val="5C6672"/>
                </a:solidFill>
                <a:latin typeface="Calibri" pitchFamily="34" charset="0"/>
                <a:ea typeface="Calibri" pitchFamily="34" charset="-122"/>
                <a:cs typeface="Calibri" pitchFamily="34" charset="-120"/>
              </a:rPr>
              <a:t>REACTIVE NEWS PEG — THE AFFORDABILITY CONTRAST (RESPECTFUL)</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7A2E1A"/>
                </a:solidFill>
                <a:latin typeface="Calibri" pitchFamily="34" charset="0"/>
                <a:ea typeface="Calibri" pitchFamily="34" charset="-122"/>
                <a:cs typeface="Calibri" pitchFamily="34" charset="-120"/>
              </a:rPr>
              <a:t>Business Insider / Fortune Well / CNBC Make It</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Bryan Johnson Spends $2 Million a Year — Longevity Life Academy Teaches the Same Healthy-Aging Habits, Live, From $289 a Month</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As the world's most-watched biohacker faces an incurable diagnosis, eTeacher's Longevity Life Academy makes its case: healthspan is built through consistent, learnable habits — taught live — not through spending most people could never match.</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This month, biohacker Bryan Johnson disclosed that he has been diagnosed with autoimmune gastritis, an incurable condition he says medicine can only manage. His candor deserves respect; illness spares no one. But it sharpens a question millions are now asking: if the most expensive longevity routine on earth can't guarantee an outcome, what should the rest of us actually do?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Longevity Life Academy, the fifth online school of 25-year education company eTeacher Group, was built for exactly that question. Its answer is not a bigger budget — it is a better teacher. The academy's 18-week live course turns healthy-aging science into one personalized protocol a student keeps for life, taught in small groups of 8–15 by named instructors and grounded in each student's own body data.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contrast the company points to is not a person — it is a philosophy. Johnson reportedly spends roughly $2 million a year. Longevity Life Academy starts at $289 a month and ships every US student an Abbott Lingo continuous glucose monitor before Lesson 5, so the science is personal from the start.</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argues the evidence is already public. Julie Gibson Clark, a 56-year-old single mother from Phoenix, held the number-two spot in the Rejuvenation Olympics for more than a year — ahead of Johnson — on a routine costing roughly $12 a day. Consistency, taught well, beat spending.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“We wish Bryan Johnson a full recovery, and we respect how openly he shares what he learns,” said Harel Tayeb, CEO of eTeacher Group. “But his news carries a lesson for everyone: a healthy life was never something you could buy in bulk. It is built one taught, repeated habit at a time — and that is something we can put within reach of an ordinary household.”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Longevity Life Academy is enrolling now from $289 per month, with additional courses planned for the year ahead.</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“We wish Bryan Johnson a full recovery, and we respect how openly he shares what he learns. But his news carries a lesson for everyone: a healthy life was never something you could buy in bulk. It is built one taught, repeated habit at a time — and that is something we can put within reach of an ordinary household.”</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Leads with genuine respect/goodwill toward Johnson (no mockery), then pivots to LLA's affordability + consistency message. Verify comfort with naming him directly.</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7A2E1A"/>
                </a:solidFill>
                <a:latin typeface="Calibri" pitchFamily="34" charset="0"/>
                <a:ea typeface="Calibri" pitchFamily="34" charset="-122"/>
                <a:cs typeface="Calibri" pitchFamily="34" charset="-120"/>
              </a:rPr>
              <a:t>ARTICLE 5.2   ·   </a:t>
            </a:r>
            <a:pPr indent="0" marL="0">
              <a:buNone/>
            </a:pPr>
            <a:r>
              <a:rPr lang="en-US" sz="1050" b="1" spc="150" kern="0" dirty="0">
                <a:solidFill>
                  <a:srgbClr val="5C6672"/>
                </a:solidFill>
                <a:latin typeface="Calibri" pitchFamily="34" charset="0"/>
                <a:ea typeface="Calibri" pitchFamily="34" charset="-122"/>
                <a:cs typeface="Calibri" pitchFamily="34" charset="-120"/>
              </a:rPr>
              <a:t>EARLY DETECTION / KNOW-YOUR-OWN-DATA (HEALTH-DESK, RESPECTFUL)</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7A2E1A"/>
                </a:solidFill>
                <a:latin typeface="Calibri" pitchFamily="34" charset="0"/>
                <a:ea typeface="Calibri" pitchFamily="34" charset="-122"/>
                <a:cs typeface="Calibri" pitchFamily="34" charset="-120"/>
              </a:rPr>
              <a:t>Fortune Well / Healthline / MedCity News</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Bryan Johnson's Diagnosis Hid for Years — Longevity Life Academy Teaches Students to Read Their Own Biomarkers Early</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Bryan Johnson's autoimmune gastritis went undetected for years despite intensive monitoring. Longevity Life Academy is built on a simpler premise: teach ordinary people to read their own body data, consistently, before problems compound.</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One detail in Bryan Johnson's recent disclosure resonated with clinicians: even with elite monitoring, his autoimmune gastritis stayed hidden for years, surfacing only after persistent low iron was finally investigated. If a condition can hide from the world's most-tracked body, the case for teaching everyone to read their own data grows stronger, not weaker.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That is the founding premise of Longevity Life Academy, the fifth online school of 25-year education company eTeacher Group. The academy does not promise to out-spend disease. It teaches students to understand their own biomarkers — glucose, sleep, movement, and the numbers on their own lab reports — so they become active participants in their health rather than passive patients.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Every US student receives an Abbott Lingo continuous glucose monitor before Lesson 5, and the 18-week live curriculum builds the habit of asking what one's own body is signaling. Instruction happens in small groups of 8–15, led by named faculty, so questions get real answers in real time.</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academy is careful about its lane: it is education, not diagnosis, and it encourages students to work with their physicians. Its contribution is literacy — the daily, teachable skill of noticing change early, which even the most expensive protocols can't outsource.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“Bryan Johnson's experience is a reminder that no one is exempt, and that early awareness matters more than any single gadget,” said CEO Harel Tayeb. “We don't teach people to fear their bodies. We teach them to read them — calmly, consistently, and early enough to act.”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Longevity Life Academy is enrolling now from $289 per month.</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“Bryan Johnson's experience is a reminder that no one is exempt, and that early awareness matters more than any single gadget. We don't teach people to fear their bodies. We teach them to read them — calmly, consistently, and early enough to act.”</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Respectful framing; positions LLA as education/literacy, not diagnosis (important liability guardrail).</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7A2E1A"/>
                </a:solidFill>
                <a:latin typeface="Calibri" pitchFamily="34" charset="0"/>
                <a:ea typeface="Calibri" pitchFamily="34" charset="-122"/>
                <a:cs typeface="Calibri" pitchFamily="34" charset="-120"/>
              </a:rPr>
              <a:t>ARTICLE 5.3   ·   </a:t>
            </a:r>
            <a:pPr indent="0" marL="0">
              <a:buNone/>
            </a:pPr>
            <a:r>
              <a:rPr lang="en-US" sz="1050" b="1" spc="150" kern="0" dirty="0">
                <a:solidFill>
                  <a:srgbClr val="5C6672"/>
                </a:solidFill>
                <a:latin typeface="Calibri" pitchFamily="34" charset="0"/>
                <a:ea typeface="Calibri" pitchFamily="34" charset="-122"/>
                <a:cs typeface="Calibri" pitchFamily="34" charset="-120"/>
              </a:rPr>
              <a:t>THE JULIE CONTRAST — $12 A DAY VS $2M A YEAR (PROOF, RESPECTFUL)</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7A2E1A"/>
                </a:solidFill>
                <a:latin typeface="Calibri" pitchFamily="34" charset="0"/>
                <a:ea typeface="Calibri" pitchFamily="34" charset="-122"/>
                <a:cs typeface="Calibri" pitchFamily="34" charset="-120"/>
              </a:rPr>
              <a:t>People / Yahoo Life / Today</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Her $12-a-Day Routine Ranked Ahead of Bryan Johnson — Longevity Life Academy Teaches the Habits Behind It</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Longevity Life Academy founding faculty member Julie Gibson Clark once ranked second in the Rejuvenation Olympics — ahead of Bryan Johnson — on a fraction of the budget. As Johnson faces a hard diagnosis, her story shows what consistency can do.</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The longevity conversation is at an inflection point. Bryan Johnson, its most famous figure, recently shared that he has an incurable autoimmune condition — a sobering reminder that spending is not the same as certainty. Longevity Life Academy, eTeacher Group's fifth online school, offers a quieter counter-story that predates the news.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Julie Gibson Clark, a 56-year-old single mother and former structural engineer from Phoenix, held the number-two position in the Rejuvenation Olympics for more than a year — ranking ahead of Johnson — while spending roughly $12 a day. Her DunedinPACE score of 0.665 indicated a pace of aging roughly a third slower than expected. She did it with sleep, nutrition, movement, and stress habits, kept consistently.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That is precisely what Longevity Life Academy teaches, and why the company brought Julie on as founding faculty for its live masterclasses. The academy's 18-week course, taught in groups of 8–15 with an Abbott Lingo glucose monitor shipped to every US student, turns the fundamentals she lives by into a protocol any motivated adult can learn and keep.</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point is not to diminish anyone's journey — Johnson's data-sharing has advanced the whole field. It is to show that the levers that matter most are affordable and learnable, and that a good teacher may matter more than a big budget.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“Julie proved something we build our whole school around: the fundamentals, done consistently, are extraordinarily powerful — and they don't require a fortune,” said CEO Harel Tayeb. “That is not a knock on anyone spending more. It is an invitation to everyone who assumed this was out of reach.”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Longevity Life Academy is enrolling now from $289 per month.</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“Julie proved something we build our whole school around: the fundamentals, done consistently, are extraordinarily powerful — and they don't require a fortune. That is not a knock on anyone spending more. It is an invitation to everyone who assumed this was out of reach.”</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Julie's #2 ranking kept PAST-tense ('held'). Respectful toward Johnson.</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7A2E1A"/>
                </a:solidFill>
                <a:latin typeface="Calibri" pitchFamily="34" charset="0"/>
                <a:ea typeface="Calibri" pitchFamily="34" charset="-122"/>
                <a:cs typeface="Calibri" pitchFamily="34" charset="-120"/>
              </a:rPr>
              <a:t>ARTICLE 5.4   ·   </a:t>
            </a:r>
            <a:pPr indent="0" marL="0">
              <a:buNone/>
            </a:pPr>
            <a:r>
              <a:rPr lang="en-US" sz="1050" b="1" spc="150" kern="0" dirty="0">
                <a:solidFill>
                  <a:srgbClr val="5C6672"/>
                </a:solidFill>
                <a:latin typeface="Calibri" pitchFamily="34" charset="0"/>
                <a:ea typeface="Calibri" pitchFamily="34" charset="-122"/>
                <a:cs typeface="Calibri" pitchFamily="34" charset="-120"/>
              </a:rPr>
              <a:t>LONGEVITY FOR EVERYONE / ACCESSIBILITY (OP-ED STYLE, RESPECTFUL)</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7A2E1A"/>
                </a:solidFill>
                <a:latin typeface="Calibri" pitchFamily="34" charset="0"/>
                <a:ea typeface="Calibri" pitchFamily="34" charset="-122"/>
                <a:cs typeface="Calibri" pitchFamily="34" charset="-120"/>
              </a:rPr>
              <a:t>Newsweek / USA Today opinion / Fast Company</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You Don't Need Bryan Johnson's Budget to Live Longer — Longevity Life Academy Puts Science-Backed Healthy Aging Within Reach</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biohacking headlines make longevity look like a billionaire's hobby. eTeacher's Longevity Life Academy exists to prove the opposite — that the science is teachable, and the habits are affordable.</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Every few months, longevity returns to the headlines through a single extraordinary figure and an extraordinary budget. The latest news — Bryan Johnson's disclosure of an incurable autoimmune condition — is a human moment first, and we wish him well. It is also a chance to correct a widespread misconception: that living longer is a game only the wealthy can play.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Longevity Life Academy, the fifth online school of 25-year education company eTeacher Group, is built on the opposite conviction. The science of healthy aging — sleep, nutrition, movement, stress, and personal biomarkers — is not proprietary to the rich. What most people lack is not money; it is a teacher, a structure, and the support to stay consistent.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academy's flagship 18-week course delivers all three: live sessions with named instructors, small cohorts of 8–15, and an Abbott Lingo continuous glucose monitor shipped to every US student before Lesson 5 — all starting at $289 a month. It is the same live-teaching method eTeacher has used to deliver 400,000+ courses across nearly 200 countries, now aimed at healthspan.</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This is not about competing with anyone's regimen. It is about widening the door — taking the parts of longevity science that genuinely work for ordinary people and teaching them in a way that sticks.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“A longer, stronger life should not depend on your bank balance,” said CEO Harel Tayeb. “The billionaires can afford to experiment. Our job is to take what is proven, teach it live, and make it something a working family can actually follow.”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Longevity Life Academy is enrolling now from $289 per month.</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“A longer, stronger life should not depend on your bank balance. The billionaires can afford to experiment. Our job is to take what is proven, teach it live, and make it something a working family can actually follow.”</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'Billionaires can afford to experiment' is pointed but not disrespectful to Johnson personally — confirm tone comfort.</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310896"/>
            <a:ext cx="7955280" cy="274320"/>
          </a:xfrm>
          <a:prstGeom prst="rect">
            <a:avLst/>
          </a:prstGeom>
          <a:noFill/>
          <a:ln/>
        </p:spPr>
        <p:txBody>
          <a:bodyPr wrap="square" rtlCol="0" anchor="ctr"/>
          <a:lstStyle/>
          <a:p>
            <a:pPr indent="0" marL="0">
              <a:buNone/>
            </a:pPr>
            <a:r>
              <a:rPr lang="en-US" sz="1050" b="1" spc="150" kern="0" dirty="0">
                <a:solidFill>
                  <a:srgbClr val="7A2E1A"/>
                </a:solidFill>
                <a:latin typeface="Calibri" pitchFamily="34" charset="0"/>
                <a:ea typeface="Calibri" pitchFamily="34" charset="-122"/>
                <a:cs typeface="Calibri" pitchFamily="34" charset="-120"/>
              </a:rPr>
              <a:t>ARTICLE 5.5   ·   </a:t>
            </a:r>
            <a:pPr indent="0" marL="0">
              <a:buNone/>
            </a:pPr>
            <a:r>
              <a:rPr lang="en-US" sz="1050" b="1" spc="150" kern="0" dirty="0">
                <a:solidFill>
                  <a:srgbClr val="5C6672"/>
                </a:solidFill>
                <a:latin typeface="Calibri" pitchFamily="34" charset="0"/>
                <a:ea typeface="Calibri" pitchFamily="34" charset="-122"/>
                <a:cs typeface="Calibri" pitchFamily="34" charset="-120"/>
              </a:rPr>
              <a:t>LIVE TEACHING VS SOLO BIOHACKING (METHOD STORY, RESPECTFUL)</a:t>
            </a:r>
            <a:endParaRPr lang="en-US" sz="1050" dirty="0"/>
          </a:p>
        </p:txBody>
      </p:sp>
      <p:sp>
        <p:nvSpPr>
          <p:cNvPr id="3" name="Text 1"/>
          <p:cNvSpPr/>
          <p:nvPr/>
        </p:nvSpPr>
        <p:spPr>
          <a:xfrm>
            <a:off x="6705295" y="310896"/>
            <a:ext cx="4846320" cy="274320"/>
          </a:xfrm>
          <a:prstGeom prst="rect">
            <a:avLst/>
          </a:prstGeom>
          <a:noFill/>
          <a:ln/>
        </p:spPr>
        <p:txBody>
          <a:bodyPr wrap="square" rtlCol="0" anchor="ctr"/>
          <a:lstStyle/>
          <a:p>
            <a:pPr algn="r" indent="0" marL="0">
              <a:buNone/>
            </a:pPr>
            <a:r>
              <a:rPr lang="en-US" sz="950" dirty="0">
                <a:solidFill>
                  <a:srgbClr val="9AA4AF"/>
                </a:solidFill>
                <a:latin typeface="Calibri" pitchFamily="34" charset="0"/>
                <a:ea typeface="Calibri" pitchFamily="34" charset="-122"/>
                <a:cs typeface="Calibri" pitchFamily="34" charset="-120"/>
              </a:rPr>
              <a:t>TARGET  </a:t>
            </a:r>
            <a:pPr algn="r" indent="0" marL="0">
              <a:buNone/>
            </a:pPr>
            <a:r>
              <a:rPr lang="en-US" sz="950" b="1" dirty="0">
                <a:solidFill>
                  <a:srgbClr val="7A2E1A"/>
                </a:solidFill>
                <a:latin typeface="Calibri" pitchFamily="34" charset="0"/>
                <a:ea typeface="Calibri" pitchFamily="34" charset="-122"/>
                <a:cs typeface="Calibri" pitchFamily="34" charset="-120"/>
              </a:rPr>
              <a:t>EdSurge / Fast Company / Longevity.Technology</a:t>
            </a:r>
            <a:endParaRPr lang="en-US" sz="950" dirty="0"/>
          </a:p>
        </p:txBody>
      </p:sp>
      <p:sp>
        <p:nvSpPr>
          <p:cNvPr id="4" name="Text 2"/>
          <p:cNvSpPr/>
          <p:nvPr/>
        </p:nvSpPr>
        <p:spPr>
          <a:xfrm>
            <a:off x="640080" y="603504"/>
            <a:ext cx="10911535" cy="896112"/>
          </a:xfrm>
          <a:prstGeom prst="rect">
            <a:avLst/>
          </a:prstGeom>
          <a:noFill/>
          <a:ln/>
        </p:spPr>
        <p:txBody>
          <a:bodyPr wrap="square" rtlCol="0" anchor="t"/>
          <a:lstStyle/>
          <a:p>
            <a:pPr indent="0" marL="0">
              <a:lnSpc>
                <a:spcPct val="96000"/>
              </a:lnSpc>
              <a:buNone/>
            </a:pPr>
            <a:r>
              <a:rPr lang="en-US" sz="2600" b="1" dirty="0">
                <a:solidFill>
                  <a:srgbClr val="0C2A43"/>
                </a:solidFill>
                <a:latin typeface="Cambria" pitchFamily="34" charset="0"/>
                <a:ea typeface="Cambria" pitchFamily="34" charset="-122"/>
                <a:cs typeface="Cambria" pitchFamily="34" charset="-120"/>
              </a:rPr>
              <a:t>Where Bryan Johnson Experiments Alone, Longevity Life Academy Bets on Live Teachers — Because Habits Stick When Someone Teaches You</a:t>
            </a:r>
            <a:endParaRPr lang="en-US" sz="2600" dirty="0"/>
          </a:p>
        </p:txBody>
      </p:sp>
      <p:sp>
        <p:nvSpPr>
          <p:cNvPr id="5" name="Text 3"/>
          <p:cNvSpPr/>
          <p:nvPr/>
        </p:nvSpPr>
        <p:spPr>
          <a:xfrm>
            <a:off x="640080" y="1572768"/>
            <a:ext cx="10911535" cy="512064"/>
          </a:xfrm>
          <a:prstGeom prst="rect">
            <a:avLst/>
          </a:prstGeom>
          <a:noFill/>
          <a:ln/>
        </p:spPr>
        <p:txBody>
          <a:bodyPr wrap="square" rtlCol="0" anchor="t"/>
          <a:lstStyle/>
          <a:p>
            <a:pPr indent="0" marL="0">
              <a:lnSpc>
                <a:spcPct val="110000"/>
              </a:lnSpc>
              <a:buNone/>
            </a:pPr>
            <a:r>
              <a:rPr lang="en-US" sz="1350" b="1" i="1" dirty="0">
                <a:solidFill>
                  <a:srgbClr val="1A1F26"/>
                </a:solidFill>
                <a:latin typeface="Calibri" pitchFamily="34" charset="0"/>
                <a:ea typeface="Calibri" pitchFamily="34" charset="-122"/>
                <a:cs typeface="Calibri" pitchFamily="34" charset="-120"/>
              </a:rPr>
              <a:t>The most famous longevity story is a solo experiment run at enormous cost. eTeacher's Longevity Life Academy is the opposite model: live teachers, small classes, and a structure built so ordinary people actually stay the course.</a:t>
            </a:r>
            <a:endParaRPr lang="en-US" sz="1350" dirty="0"/>
          </a:p>
        </p:txBody>
      </p:sp>
      <p:sp>
        <p:nvSpPr>
          <p:cNvPr id="6" name="Shape 4"/>
          <p:cNvSpPr/>
          <p:nvPr/>
        </p:nvSpPr>
        <p:spPr>
          <a:xfrm>
            <a:off x="640080" y="2194560"/>
            <a:ext cx="10911535" cy="0"/>
          </a:xfrm>
          <a:prstGeom prst="line">
            <a:avLst/>
          </a:prstGeom>
          <a:noFill/>
          <a:ln w="12700">
            <a:solidFill>
              <a:srgbClr val="D9DDE2"/>
            </a:solidFill>
            <a:prstDash val="solid"/>
          </a:ln>
        </p:spPr>
      </p:sp>
      <p:sp>
        <p:nvSpPr>
          <p:cNvPr id="7" name="Text 5"/>
          <p:cNvSpPr/>
          <p:nvPr/>
        </p:nvSpPr>
        <p:spPr>
          <a:xfrm>
            <a:off x="64008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RAMAT GAN, Israel — Bryan Johnson's Blueprint is the defining image of modern longevity: one person, a large team, and a vast budget, self-experimenting in public. His openness has taught the field a great deal, and his recent autoimmune-gastritis diagnosis is a reminder of how hard the work is even at that scale. But it raises a practical question for everyone else: what works when you don't have a lab and millions to spend?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eTeacher Group's answer, delivered through its fifth online school, Longevity Life Academy, is decades old and simple: people learn best from teachers, live, in small groups. Where solo biohacking asks individuals to self-direct, LLA provides a weekly live anchor session, an expert instructor, a cohort of 8–15 peers, and short daily practice — the structure that turns intentions into habits.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academy applies the same method behind eTeacher's 400,000+ courses to healthspan. Each 18-week program pairs live instruction with personal data — an Abbott Lingo continuous glucose monitor ships to every US student before Lesson 5 — so lessons are grounded in the student's own body, guided by a real teacher rather than a lonely feed of tips.</a:t>
            </a:r>
            <a:endParaRPr lang="en-US" sz="980" dirty="0"/>
          </a:p>
        </p:txBody>
      </p:sp>
      <p:sp>
        <p:nvSpPr>
          <p:cNvPr id="8" name="Text 6"/>
          <p:cNvSpPr/>
          <p:nvPr/>
        </p:nvSpPr>
        <p:spPr>
          <a:xfrm>
            <a:off x="6492240" y="2286000"/>
            <a:ext cx="5486400" cy="2697480"/>
          </a:xfrm>
          <a:prstGeom prst="rect">
            <a:avLst/>
          </a:prstGeom>
          <a:noFill/>
          <a:ln/>
        </p:spPr>
        <p:txBody>
          <a:bodyPr wrap="square" rtlCol="0" anchor="t"/>
          <a:lstStyle/>
          <a:p>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company's thesis is that persistence, not information, is the scarce resource in wellness — and that persistence is a social act. A teacher who knows your name and a small class that expects you back do what a dashboard alone cannot.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“The hardest part of living longer isn't knowing what to do — it's doing it next week, and the week after,” said CEO Harel Tayeb. “That is why we put a real teacher in the room. You can experiment alone, or you can be taught, supported, and expected back. We built our whole school on the second one.”
</a:t>
            </a:r>
            <a:pPr indent="0" marL="0">
              <a:lnSpc>
                <a:spcPct val="110000"/>
              </a:lnSpc>
              <a:spcAft>
                <a:spcPts val="300"/>
              </a:spcAft>
              <a:buNone/>
            </a:pPr>
            <a:r>
              <a:rPr lang="en-US" sz="980" dirty="0">
                <a:solidFill>
                  <a:srgbClr val="1A1F26"/>
                </a:solidFill>
                <a:latin typeface="Calibri" pitchFamily="34" charset="0"/>
                <a:ea typeface="Calibri" pitchFamily="34" charset="-122"/>
                <a:cs typeface="Calibri" pitchFamily="34" charset="-120"/>
              </a:rPr>
              <a:t>Longevity Life Academy is enrolling now from $289 per month.</a:t>
            </a:r>
            <a:endParaRPr lang="en-US" sz="980" dirty="0"/>
          </a:p>
        </p:txBody>
      </p:sp>
      <p:sp>
        <p:nvSpPr>
          <p:cNvPr id="9" name="Shape 7"/>
          <p:cNvSpPr/>
          <p:nvPr/>
        </p:nvSpPr>
        <p:spPr>
          <a:xfrm>
            <a:off x="640080" y="5138928"/>
            <a:ext cx="10911535" cy="1152144"/>
          </a:xfrm>
          <a:prstGeom prst="roundRect">
            <a:avLst>
              <a:gd name="adj" fmla="val 3968"/>
            </a:avLst>
          </a:prstGeom>
          <a:solidFill>
            <a:srgbClr val="0C2A43"/>
          </a:solidFill>
          <a:ln w="25400">
            <a:solidFill>
              <a:srgbClr val="C08A2E"/>
            </a:solidFill>
            <a:prstDash val="solid"/>
          </a:ln>
        </p:spPr>
      </p:sp>
      <p:sp>
        <p:nvSpPr>
          <p:cNvPr id="10" name="Shape 8"/>
          <p:cNvSpPr/>
          <p:nvPr/>
        </p:nvSpPr>
        <p:spPr>
          <a:xfrm>
            <a:off x="658368" y="5157216"/>
            <a:ext cx="10874959" cy="310896"/>
          </a:xfrm>
          <a:prstGeom prst="rect">
            <a:avLst/>
          </a:prstGeom>
          <a:solidFill>
            <a:srgbClr val="C08A2E"/>
          </a:solidFill>
          <a:ln/>
        </p:spPr>
      </p:sp>
      <p:sp>
        <p:nvSpPr>
          <p:cNvPr id="11" name="Text 9"/>
          <p:cNvSpPr/>
          <p:nvPr/>
        </p:nvSpPr>
        <p:spPr>
          <a:xfrm>
            <a:off x="841248" y="5157216"/>
            <a:ext cx="10509199" cy="310896"/>
          </a:xfrm>
          <a:prstGeom prst="rect">
            <a:avLst/>
          </a:prstGeom>
          <a:noFill/>
          <a:ln/>
        </p:spPr>
        <p:txBody>
          <a:bodyPr wrap="square" rtlCol="0" anchor="ctr"/>
          <a:lstStyle/>
          <a:p>
            <a:pPr indent="0" marL="0">
              <a:buNone/>
            </a:pPr>
            <a:r>
              <a:rPr lang="en-US" sz="900" b="1" spc="80" kern="0" dirty="0">
                <a:solidFill>
                  <a:srgbClr val="0C2A43"/>
                </a:solidFill>
                <a:latin typeface="Calibri" pitchFamily="34" charset="0"/>
                <a:ea typeface="Calibri" pitchFamily="34" charset="-122"/>
                <a:cs typeface="Calibri" pitchFamily="34" charset="-120"/>
              </a:rPr>
              <a:t>HIGHLIGHTED QUOTE  ·  HAREL TAYEB, CEO, eTeacher Group</a:t>
            </a:r>
            <a:endParaRPr lang="en-US" sz="900" dirty="0"/>
          </a:p>
        </p:txBody>
      </p:sp>
      <p:sp>
        <p:nvSpPr>
          <p:cNvPr id="12" name="Text 10"/>
          <p:cNvSpPr/>
          <p:nvPr/>
        </p:nvSpPr>
        <p:spPr>
          <a:xfrm>
            <a:off x="859536" y="5559552"/>
            <a:ext cx="10472623" cy="201168"/>
          </a:xfrm>
          <a:prstGeom prst="rect">
            <a:avLst/>
          </a:prstGeom>
          <a:noFill/>
          <a:ln/>
        </p:spPr>
        <p:txBody>
          <a:bodyPr wrap="square" rtlCol="0" anchor="t"/>
          <a:lstStyle/>
          <a:p>
            <a:pPr indent="0" marL="0">
              <a:lnSpc>
                <a:spcPct val="105000"/>
              </a:lnSpc>
              <a:buNone/>
            </a:pPr>
            <a:r>
              <a:rPr lang="en-US" sz="1150" b="1" i="1" dirty="0">
                <a:solidFill>
                  <a:srgbClr val="FFF3DA"/>
                </a:solidFill>
                <a:latin typeface="Calibri" pitchFamily="34" charset="0"/>
                <a:ea typeface="Calibri" pitchFamily="34" charset="-122"/>
                <a:cs typeface="Calibri" pitchFamily="34" charset="-120"/>
              </a:rPr>
              <a:t>“The hardest part of living longer isn't knowing what to do — it's doing it next week, and the week after. That is why we put a real teacher in the room. You can experiment alone, or you can be taught, supported, and expected back. We built our whole school on the second one.”</a:t>
            </a:r>
            <a:endParaRPr lang="en-US" sz="1150" dirty="0"/>
          </a:p>
        </p:txBody>
      </p:sp>
      <p:sp>
        <p:nvSpPr>
          <p:cNvPr id="13" name="Text 11"/>
          <p:cNvSpPr/>
          <p:nvPr/>
        </p:nvSpPr>
        <p:spPr>
          <a:xfrm>
            <a:off x="859536" y="5833872"/>
            <a:ext cx="10472623" cy="329184"/>
          </a:xfrm>
          <a:prstGeom prst="rect">
            <a:avLst/>
          </a:prstGeom>
          <a:noFill/>
          <a:ln/>
        </p:spPr>
        <p:txBody>
          <a:bodyPr wrap="square" rtlCol="0" anchor="b"/>
          <a:lstStyle/>
          <a:p>
            <a:pPr indent="0" marL="0">
              <a:lnSpc>
                <a:spcPct val="102000"/>
              </a:lnSpc>
              <a:buNone/>
            </a:pPr>
            <a:r>
              <a:rPr lang="en-US" sz="680" i="1" dirty="0">
                <a:solidFill>
                  <a:srgbClr val="C9B892"/>
                </a:solidFill>
                <a:latin typeface="Calibri" pitchFamily="34" charset="0"/>
                <a:ea typeface="Calibri" pitchFamily="34" charset="-122"/>
                <a:cs typeface="Calibri" pitchFamily="34" charset="-120"/>
              </a:rPr>
              <a:t>NET-NEW CEO statement — flagged for Harel's approval. Contrasts LLA's live-teaching method with solo biohacking without disparaging Johnson personally.</a:t>
            </a:r>
            <a:endParaRPr lang="en-US" sz="680" dirty="0"/>
          </a:p>
        </p:txBody>
      </p:sp>
      <p:sp>
        <p:nvSpPr>
          <p:cNvPr id="14" name="Text 12"/>
          <p:cNvSpPr/>
          <p:nvPr/>
        </p:nvSpPr>
        <p:spPr>
          <a:xfrm>
            <a:off x="11368735" y="6446520"/>
            <a:ext cx="548640" cy="274320"/>
          </a:xfrm>
          <a:prstGeom prst="rect">
            <a:avLst/>
          </a:prstGeom>
          <a:noFill/>
          <a:ln/>
        </p:spPr>
        <p:txBody>
          <a:bodyPr wrap="square" rtlCol="0" anchor="ctr"/>
          <a:lstStyle/>
          <a:p>
            <a:pPr algn="r" indent="0" marL="0">
              <a:buNone/>
            </a:pPr>
            <a:r>
              <a:rPr lang="en-US" sz="900" dirty="0">
                <a:solidFill>
                  <a:srgbClr val="9AA4AF"/>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2A4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08A2E"/>
          </a:solidFill>
          <a:ln/>
        </p:spPr>
      </p:sp>
      <p:sp>
        <p:nvSpPr>
          <p:cNvPr id="3" name="Text 1"/>
          <p:cNvSpPr/>
          <p:nvPr/>
        </p:nvSpPr>
        <p:spPr>
          <a:xfrm>
            <a:off x="640080" y="1280160"/>
            <a:ext cx="10911535" cy="365760"/>
          </a:xfrm>
          <a:prstGeom prst="rect">
            <a:avLst/>
          </a:prstGeom>
          <a:noFill/>
          <a:ln/>
        </p:spPr>
        <p:txBody>
          <a:bodyPr wrap="square" rtlCol="0" anchor="ctr"/>
          <a:lstStyle/>
          <a:p>
            <a:pPr indent="0" marL="0">
              <a:buNone/>
            </a:pPr>
            <a:r>
              <a:rPr lang="en-US" sz="1400" b="1" spc="300" kern="0" dirty="0">
                <a:solidFill>
                  <a:srgbClr val="C08A2E"/>
                </a:solidFill>
                <a:latin typeface="Calibri" pitchFamily="34" charset="0"/>
                <a:ea typeface="Calibri" pitchFamily="34" charset="-122"/>
                <a:cs typeface="Calibri" pitchFamily="34" charset="-120"/>
              </a:rPr>
              <a:t>NEXT STEPS</a:t>
            </a:r>
            <a:endParaRPr lang="en-US" sz="1400" dirty="0"/>
          </a:p>
        </p:txBody>
      </p:sp>
      <p:sp>
        <p:nvSpPr>
          <p:cNvPr id="4" name="Text 2"/>
          <p:cNvSpPr/>
          <p:nvPr/>
        </p:nvSpPr>
        <p:spPr>
          <a:xfrm>
            <a:off x="640080" y="1783080"/>
            <a:ext cx="10911535"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Your approval turns this into coverage</a:t>
            </a:r>
            <a:endParaRPr lang="en-US" sz="3200" dirty="0"/>
          </a:p>
        </p:txBody>
      </p:sp>
      <p:sp>
        <p:nvSpPr>
          <p:cNvPr id="5" name="Text 3"/>
          <p:cNvSpPr/>
          <p:nvPr/>
        </p:nvSpPr>
        <p:spPr>
          <a:xfrm>
            <a:off x="640080" y="2788920"/>
            <a:ext cx="10241280" cy="2834640"/>
          </a:xfrm>
          <a:prstGeom prst="rect">
            <a:avLst/>
          </a:prstGeom>
          <a:noFill/>
          <a:ln/>
        </p:spPr>
        <p:txBody>
          <a:bodyPr wrap="square" rtlCol="0" anchor="t"/>
          <a:lstStyle/>
          <a:p>
            <a:pPr indent="0" marL="0">
              <a:lnSpc>
                <a:spcPct val="110000"/>
              </a:lnSpc>
              <a:buNone/>
            </a:pPr>
            <a:r>
              <a:rPr lang="en-US" sz="1400" dirty="0">
                <a:solidFill>
                  <a:srgbClr val="DCE3EA"/>
                </a:solidFill>
                <a:latin typeface="Calibri" pitchFamily="34" charset="0"/>
                <a:ea typeface="Calibri" pitchFamily="34" charset="-122"/>
                <a:cs typeface="Calibri" pitchFamily="34" charset="-120"/>
              </a:rPr>
              <a:t>1.  Approve or edit the Harel Tayeb quotes — each leads with a verbatim published line and adds one voice-matched sentence, flagged per slide for sign-off.
</a:t>
            </a:r>
            <a:pPr indent="0" marL="0">
              <a:lnSpc>
                <a:spcPct val="110000"/>
              </a:lnSpc>
              <a:buNone/>
            </a:pPr>
            <a:r>
              <a:rPr lang="en-US" sz="1400" dirty="0">
                <a:solidFill>
                  <a:srgbClr val="DCE3EA"/>
                </a:solidFill>
                <a:latin typeface="Calibri" pitchFamily="34" charset="0"/>
                <a:ea typeface="Calibri" pitchFamily="34" charset="-122"/>
                <a:cs typeface="Calibri" pitchFamily="34" charset="-120"/>
              </a:rPr>
              <a:t>2.  Confirm the Julie Gibson Clark quotes and finalize her founding-faculty agreement and title (she teaches the live masterclasses, not the Longevity Blueprint course). Note: her #2 ranking is stated in the past tense throughout — she held #2 for over a year before a 2024 rule change — so every claim stays accurate if a reporter checks the live leaderboard.
</a:t>
            </a:r>
            <a:pPr indent="0" marL="0">
              <a:lnSpc>
                <a:spcPct val="110000"/>
              </a:lnSpc>
              <a:buNone/>
            </a:pPr>
            <a:r>
              <a:rPr lang="en-US" sz="1400" dirty="0">
                <a:solidFill>
                  <a:srgbClr val="DCE3EA"/>
                </a:solidFill>
                <a:latin typeface="Calibri" pitchFamily="34" charset="0"/>
                <a:ea typeface="Calibri" pitchFamily="34" charset="-122"/>
                <a:cs typeface="Calibri" pitchFamily="34" charset="-120"/>
              </a:rPr>
              <a:t>3.  Confirm forward-looking items before the wire: the AI tutor / Longevity Hub positioning and the six planned courses are framed as roadmap; confirm the exact “countries” figure (site shows 197; deck uses the safe “nearly 200”).
</a:t>
            </a:r>
            <a:pPr indent="0" marL="0">
              <a:lnSpc>
                <a:spcPct val="110000"/>
              </a:lnSpc>
              <a:buNone/>
            </a:pPr>
            <a:r>
              <a:rPr lang="en-US" sz="1400" dirty="0">
                <a:solidFill>
                  <a:srgbClr val="DCE3EA"/>
                </a:solidFill>
                <a:latin typeface="Calibri" pitchFamily="34" charset="0"/>
                <a:ea typeface="Calibri" pitchFamily="34" charset="-122"/>
                <a:cs typeface="Calibri" pitchFamily="34" charset="-120"/>
              </a:rPr>
              <a:t>4.  Provide the live press contact (name, email, phone) to replace the current placeholder before distribution.
</a:t>
            </a:r>
            <a:pPr indent="0" marL="0">
              <a:lnSpc>
                <a:spcPct val="110000"/>
              </a:lnSpc>
              <a:buNone/>
            </a:pPr>
            <a:r>
              <a:rPr lang="en-US" sz="1400" dirty="0">
                <a:solidFill>
                  <a:srgbClr val="DCE3EA"/>
                </a:solidFill>
                <a:latin typeface="Calibri" pitchFamily="34" charset="0"/>
                <a:ea typeface="Calibri" pitchFamily="34" charset="-122"/>
                <a:cs typeface="Calibri" pitchFamily="34" charset="-120"/>
              </a:rPr>
              <a:t>5.  Lock the calendar: approve quotes this week so Wave 1 wires Monday, July 13 — the full five-wave program then runs about nine weeks, wrapping by mid-September.</a:t>
            </a:r>
            <a:endParaRPr lang="en-US" sz="1400" dirty="0"/>
          </a:p>
        </p:txBody>
      </p:sp>
      <p:sp>
        <p:nvSpPr>
          <p:cNvPr id="6" name="Text 4"/>
          <p:cNvSpPr/>
          <p:nvPr/>
        </p:nvSpPr>
        <p:spPr>
          <a:xfrm>
            <a:off x="640080" y="6309360"/>
            <a:ext cx="10911535" cy="274320"/>
          </a:xfrm>
          <a:prstGeom prst="rect">
            <a:avLst/>
          </a:prstGeom>
          <a:noFill/>
          <a:ln/>
        </p:spPr>
        <p:txBody>
          <a:bodyPr wrap="square" rtlCol="0" anchor="ctr"/>
          <a:lstStyle/>
          <a:p>
            <a:pPr indent="0" marL="0">
              <a:buNone/>
            </a:pPr>
            <a:r>
              <a:rPr lang="en-US" sz="1000" dirty="0">
                <a:solidFill>
                  <a:srgbClr val="9AA4AF"/>
                </a:solidFill>
                <a:latin typeface="Calibri" pitchFamily="34" charset="0"/>
                <a:ea typeface="Calibri" pitchFamily="34" charset="-122"/>
                <a:cs typeface="Calibri" pitchFamily="34" charset="-120"/>
              </a:rPr>
              <a:t>eTeacher Group  ·  Longevity Life Academy  ·  Confidential communications plan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2026-07-08T12:10:42Z</dcterms:created>
  <dcterms:modified xsi:type="dcterms:W3CDTF">2026-07-08T12:10:42Z</dcterms:modified>
</cp:coreProperties>
</file>